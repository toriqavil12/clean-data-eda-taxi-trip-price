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Montserrat Ultra-Bold" charset="1" panose="00000900000000000000"/>
      <p:regular r:id="rId28"/>
    </p:embeddedFont>
    <p:embeddedFont>
      <p:font typeface="Montserrat" charset="1" panose="00000500000000000000"/>
      <p:regular r:id="rId29"/>
    </p:embeddedFont>
    <p:embeddedFont>
      <p:font typeface="Amsterdam Four" charset="1" panose="02000500000000000000"/>
      <p:regular r:id="rId30"/>
    </p:embeddedFont>
    <p:embeddedFont>
      <p:font typeface="Times New Roman MT Condensed" charset="1" panose="02030506070405020303"/>
      <p:regular r:id="rId31"/>
    </p:embeddedFont>
    <p:embeddedFont>
      <p:font typeface="Times New Roman" charset="1" panose="02020603050405020304"/>
      <p:regular r:id="rId32"/>
    </p:embeddedFont>
    <p:embeddedFont>
      <p:font typeface="Times New Roman MT Condensed Bold" charset="1" panose="02030806070405020303"/>
      <p:regular r:id="rId33"/>
    </p:embeddedFont>
    <p:embeddedFont>
      <p:font typeface="HK Modular" charset="1" panose="00000800000000000000"/>
      <p:regular r:id="rId34"/>
    </p:embeddedFont>
    <p:embeddedFont>
      <p:font typeface="Times New Roman MT Condensed Italics" charset="1" panose="02030506070405090303"/>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TextBox 2" id="2"/>
          <p:cNvSpPr txBox="true"/>
          <p:nvPr/>
        </p:nvSpPr>
        <p:spPr>
          <a:xfrm rot="0">
            <a:off x="711623" y="2959502"/>
            <a:ext cx="16230600" cy="3936490"/>
          </a:xfrm>
          <a:prstGeom prst="rect">
            <a:avLst/>
          </a:prstGeom>
        </p:spPr>
        <p:txBody>
          <a:bodyPr anchor="t" rtlCol="false" tIns="0" lIns="0" bIns="0" rIns="0">
            <a:spAutoFit/>
          </a:bodyPr>
          <a:lstStyle/>
          <a:p>
            <a:pPr algn="ctr">
              <a:lnSpc>
                <a:spcPts val="27521"/>
              </a:lnSpc>
            </a:pPr>
            <a:r>
              <a:rPr lang="en-US" b="true" sz="34401" spc="-3440">
                <a:solidFill>
                  <a:srgbClr val="1E1E1E"/>
                </a:solidFill>
                <a:latin typeface="Montserrat Ultra-Bold"/>
                <a:ea typeface="Montserrat Ultra-Bold"/>
                <a:cs typeface="Montserrat Ultra-Bold"/>
                <a:sym typeface="Montserrat Ultra-Bold"/>
              </a:rPr>
              <a:t>portfolio</a:t>
            </a:r>
          </a:p>
        </p:txBody>
      </p:sp>
      <p:sp>
        <p:nvSpPr>
          <p:cNvPr name="Freeform 3" id="3"/>
          <p:cNvSpPr/>
          <p:nvPr/>
        </p:nvSpPr>
        <p:spPr>
          <a:xfrm flipH="false" flipV="false" rot="0">
            <a:off x="232525" y="152745"/>
            <a:ext cx="2365069" cy="1576712"/>
          </a:xfrm>
          <a:custGeom>
            <a:avLst/>
            <a:gdLst/>
            <a:ahLst/>
            <a:cxnLst/>
            <a:rect r="r" b="b" t="t" l="l"/>
            <a:pathLst>
              <a:path h="1576712" w="2365069">
                <a:moveTo>
                  <a:pt x="0" y="0"/>
                </a:moveTo>
                <a:lnTo>
                  <a:pt x="2365069" y="0"/>
                </a:lnTo>
                <a:lnTo>
                  <a:pt x="2365069" y="1576713"/>
                </a:lnTo>
                <a:lnTo>
                  <a:pt x="0" y="1576713"/>
                </a:lnTo>
                <a:lnTo>
                  <a:pt x="0" y="0"/>
                </a:lnTo>
                <a:close/>
              </a:path>
            </a:pathLst>
          </a:custGeom>
          <a:blipFill>
            <a:blip r:embed="rId2"/>
            <a:stretch>
              <a:fillRect l="0" t="0" r="0" b="0"/>
            </a:stretch>
          </a:blipFill>
        </p:spPr>
      </p:sp>
      <p:sp>
        <p:nvSpPr>
          <p:cNvPr name="TextBox 4" id="4"/>
          <p:cNvSpPr txBox="true"/>
          <p:nvPr/>
        </p:nvSpPr>
        <p:spPr>
          <a:xfrm rot="0">
            <a:off x="14889053" y="1066800"/>
            <a:ext cx="1768402" cy="202565"/>
          </a:xfrm>
          <a:prstGeom prst="rect">
            <a:avLst/>
          </a:prstGeom>
        </p:spPr>
        <p:txBody>
          <a:bodyPr anchor="t" rtlCol="false" tIns="0" lIns="0" bIns="0" rIns="0">
            <a:spAutoFit/>
          </a:bodyPr>
          <a:lstStyle/>
          <a:p>
            <a:pPr algn="r">
              <a:lnSpc>
                <a:spcPts val="1599"/>
              </a:lnSpc>
            </a:pPr>
            <a:r>
              <a:rPr lang="en-US" sz="1599" spc="-95">
                <a:solidFill>
                  <a:srgbClr val="1E1E1E"/>
                </a:solidFill>
                <a:latin typeface="Montserrat"/>
                <a:ea typeface="Montserrat"/>
                <a:cs typeface="Montserrat"/>
                <a:sym typeface="Montserrat"/>
              </a:rPr>
              <a:t>19 February 2026</a:t>
            </a:r>
          </a:p>
        </p:txBody>
      </p:sp>
      <p:sp>
        <p:nvSpPr>
          <p:cNvPr name="TextBox 5" id="5"/>
          <p:cNvSpPr txBox="true"/>
          <p:nvPr/>
        </p:nvSpPr>
        <p:spPr>
          <a:xfrm rot="-263831">
            <a:off x="2924908" y="6752543"/>
            <a:ext cx="12243792" cy="1226820"/>
          </a:xfrm>
          <a:prstGeom prst="rect">
            <a:avLst/>
          </a:prstGeom>
        </p:spPr>
        <p:txBody>
          <a:bodyPr anchor="t" rtlCol="false" tIns="0" lIns="0" bIns="0" rIns="0">
            <a:spAutoFit/>
          </a:bodyPr>
          <a:lstStyle/>
          <a:p>
            <a:pPr algn="ctr">
              <a:lnSpc>
                <a:spcPts val="10080"/>
              </a:lnSpc>
            </a:pPr>
            <a:r>
              <a:rPr lang="en-US" sz="7200" spc="-144">
                <a:solidFill>
                  <a:srgbClr val="FF3131"/>
                </a:solidFill>
                <a:latin typeface="Amsterdam Four"/>
                <a:ea typeface="Amsterdam Four"/>
                <a:cs typeface="Amsterdam Four"/>
                <a:sym typeface="Amsterdam Four"/>
              </a:rPr>
              <a:t>Toriq Avilsyah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232525" y="152745"/>
            <a:ext cx="2365069" cy="1576712"/>
          </a:xfrm>
          <a:custGeom>
            <a:avLst/>
            <a:gdLst/>
            <a:ahLst/>
            <a:cxnLst/>
            <a:rect r="r" b="b" t="t" l="l"/>
            <a:pathLst>
              <a:path h="1576712" w="2365069">
                <a:moveTo>
                  <a:pt x="0" y="0"/>
                </a:moveTo>
                <a:lnTo>
                  <a:pt x="2365069" y="0"/>
                </a:lnTo>
                <a:lnTo>
                  <a:pt x="2365069" y="1576713"/>
                </a:lnTo>
                <a:lnTo>
                  <a:pt x="0" y="1576713"/>
                </a:lnTo>
                <a:lnTo>
                  <a:pt x="0" y="0"/>
                </a:lnTo>
                <a:close/>
              </a:path>
            </a:pathLst>
          </a:custGeom>
          <a:blipFill>
            <a:blip r:embed="rId2"/>
            <a:stretch>
              <a:fillRect l="0" t="0" r="0" b="0"/>
            </a:stretch>
          </a:blipFill>
        </p:spPr>
      </p:sp>
      <p:sp>
        <p:nvSpPr>
          <p:cNvPr name="Freeform 3" id="3"/>
          <p:cNvSpPr/>
          <p:nvPr/>
        </p:nvSpPr>
        <p:spPr>
          <a:xfrm flipH="false" flipV="false" rot="0">
            <a:off x="232525" y="1413743"/>
            <a:ext cx="3096894" cy="8634573"/>
          </a:xfrm>
          <a:custGeom>
            <a:avLst/>
            <a:gdLst/>
            <a:ahLst/>
            <a:cxnLst/>
            <a:rect r="r" b="b" t="t" l="l"/>
            <a:pathLst>
              <a:path h="8634573" w="3096894">
                <a:moveTo>
                  <a:pt x="0" y="0"/>
                </a:moveTo>
                <a:lnTo>
                  <a:pt x="3096894" y="0"/>
                </a:lnTo>
                <a:lnTo>
                  <a:pt x="3096894" y="8634573"/>
                </a:lnTo>
                <a:lnTo>
                  <a:pt x="0" y="8634573"/>
                </a:lnTo>
                <a:lnTo>
                  <a:pt x="0" y="0"/>
                </a:lnTo>
                <a:close/>
              </a:path>
            </a:pathLst>
          </a:custGeom>
          <a:blipFill>
            <a:blip r:embed="rId3"/>
            <a:stretch>
              <a:fillRect l="-20290" t="-1814" r="-16677" b="0"/>
            </a:stretch>
          </a:blipFill>
        </p:spPr>
      </p:sp>
      <p:sp>
        <p:nvSpPr>
          <p:cNvPr name="Freeform 4" id="4"/>
          <p:cNvSpPr/>
          <p:nvPr/>
        </p:nvSpPr>
        <p:spPr>
          <a:xfrm flipH="false" flipV="false" rot="0">
            <a:off x="6598556" y="5477726"/>
            <a:ext cx="934290" cy="930786"/>
          </a:xfrm>
          <a:custGeom>
            <a:avLst/>
            <a:gdLst/>
            <a:ahLst/>
            <a:cxnLst/>
            <a:rect r="r" b="b" t="t" l="l"/>
            <a:pathLst>
              <a:path h="930786" w="934290">
                <a:moveTo>
                  <a:pt x="0" y="0"/>
                </a:moveTo>
                <a:lnTo>
                  <a:pt x="934290" y="0"/>
                </a:lnTo>
                <a:lnTo>
                  <a:pt x="934290" y="930786"/>
                </a:lnTo>
                <a:lnTo>
                  <a:pt x="0" y="9307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648744" y="6690175"/>
            <a:ext cx="934290" cy="881736"/>
          </a:xfrm>
          <a:custGeom>
            <a:avLst/>
            <a:gdLst/>
            <a:ahLst/>
            <a:cxnLst/>
            <a:rect r="r" b="b" t="t" l="l"/>
            <a:pathLst>
              <a:path h="881736" w="934290">
                <a:moveTo>
                  <a:pt x="0" y="0"/>
                </a:moveTo>
                <a:lnTo>
                  <a:pt x="934289" y="0"/>
                </a:lnTo>
                <a:lnTo>
                  <a:pt x="934289" y="881736"/>
                </a:lnTo>
                <a:lnTo>
                  <a:pt x="0" y="8817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4889053" y="1019175"/>
            <a:ext cx="1768402" cy="307975"/>
          </a:xfrm>
          <a:prstGeom prst="rect">
            <a:avLst/>
          </a:prstGeom>
        </p:spPr>
        <p:txBody>
          <a:bodyPr anchor="t" rtlCol="false" tIns="0" lIns="0" bIns="0" rIns="0">
            <a:spAutoFit/>
          </a:bodyPr>
          <a:lstStyle/>
          <a:p>
            <a:pPr algn="r">
              <a:lnSpc>
                <a:spcPts val="2000"/>
              </a:lnSpc>
            </a:pPr>
            <a:r>
              <a:rPr lang="en-US" sz="2000" spc="-120">
                <a:solidFill>
                  <a:srgbClr val="1E1E1E"/>
                </a:solidFill>
                <a:latin typeface="Times New Roman MT Condensed"/>
                <a:ea typeface="Times New Roman MT Condensed"/>
                <a:cs typeface="Times New Roman MT Condensed"/>
                <a:sym typeface="Times New Roman MT Condensed"/>
              </a:rPr>
              <a:t>19 February 2026</a:t>
            </a:r>
          </a:p>
        </p:txBody>
      </p:sp>
      <p:sp>
        <p:nvSpPr>
          <p:cNvPr name="TextBox 7" id="7"/>
          <p:cNvSpPr txBox="true"/>
          <p:nvPr/>
        </p:nvSpPr>
        <p:spPr>
          <a:xfrm rot="0">
            <a:off x="3972744" y="1099418"/>
            <a:ext cx="6004545" cy="1530350"/>
          </a:xfrm>
          <a:prstGeom prst="rect">
            <a:avLst/>
          </a:prstGeom>
        </p:spPr>
        <p:txBody>
          <a:bodyPr anchor="t" rtlCol="false" tIns="0" lIns="0" bIns="0" rIns="0">
            <a:spAutoFit/>
          </a:bodyPr>
          <a:lstStyle/>
          <a:p>
            <a:pPr algn="ctr">
              <a:lnSpc>
                <a:spcPts val="11200"/>
              </a:lnSpc>
            </a:pPr>
            <a:r>
              <a:rPr lang="en-US" sz="8000">
                <a:solidFill>
                  <a:srgbClr val="1E1E1E"/>
                </a:solidFill>
                <a:latin typeface="Times New Roman MT Condensed"/>
                <a:ea typeface="Times New Roman MT Condensed"/>
                <a:cs typeface="Times New Roman MT Condensed"/>
                <a:sym typeface="Times New Roman MT Condensed"/>
              </a:rPr>
              <a:t>ABOUT ME</a:t>
            </a:r>
          </a:p>
        </p:txBody>
      </p:sp>
      <p:sp>
        <p:nvSpPr>
          <p:cNvPr name="TextBox 8" id="8"/>
          <p:cNvSpPr txBox="true"/>
          <p:nvPr/>
        </p:nvSpPr>
        <p:spPr>
          <a:xfrm rot="0">
            <a:off x="4752535" y="2572618"/>
            <a:ext cx="12092049" cy="1749768"/>
          </a:xfrm>
          <a:prstGeom prst="rect">
            <a:avLst/>
          </a:prstGeom>
        </p:spPr>
        <p:txBody>
          <a:bodyPr anchor="t" rtlCol="false" tIns="0" lIns="0" bIns="0" rIns="0">
            <a:spAutoFit/>
          </a:bodyPr>
          <a:lstStyle/>
          <a:p>
            <a:pPr algn="just">
              <a:lnSpc>
                <a:spcPts val="2769"/>
              </a:lnSpc>
            </a:pPr>
            <a:r>
              <a:rPr lang="en-US" sz="1978">
                <a:solidFill>
                  <a:srgbClr val="1E1E1E"/>
                </a:solidFill>
                <a:latin typeface="Times New Roman"/>
                <a:ea typeface="Times New Roman"/>
                <a:cs typeface="Times New Roman"/>
                <a:sym typeface="Times New Roman"/>
              </a:rPr>
              <a:t>Saya merupakan lulusan Teknik Elektro dengan minat yang kuat di bidang Data Analytics. Saya memiliki ketertarikan besar dalam mengolah data menjadi insight yang bermakna untuk mendukung pengambilan keputusan strategis. Tujuan karier saya adalah berkembang dan berkontribusi sebagai Data Analytics Manager di perusahaan berskala besar, dengan memanfaatkan kemampuan analitis, keahlian teknis, serta kepemimpinan untuk mendorong keberhasilan berbasis data.</a:t>
            </a:r>
          </a:p>
          <a:p>
            <a:pPr algn="just">
              <a:lnSpc>
                <a:spcPts val="2769"/>
              </a:lnSpc>
            </a:pPr>
          </a:p>
        </p:txBody>
      </p:sp>
      <p:sp>
        <p:nvSpPr>
          <p:cNvPr name="TextBox 9" id="9"/>
          <p:cNvSpPr txBox="true"/>
          <p:nvPr/>
        </p:nvSpPr>
        <p:spPr>
          <a:xfrm rot="0">
            <a:off x="3728198" y="4084745"/>
            <a:ext cx="5676780" cy="1478831"/>
          </a:xfrm>
          <a:prstGeom prst="rect">
            <a:avLst/>
          </a:prstGeom>
        </p:spPr>
        <p:txBody>
          <a:bodyPr anchor="t" rtlCol="false" tIns="0" lIns="0" bIns="0" rIns="0">
            <a:spAutoFit/>
          </a:bodyPr>
          <a:lstStyle/>
          <a:p>
            <a:pPr algn="ctr">
              <a:lnSpc>
                <a:spcPts val="10889"/>
              </a:lnSpc>
            </a:pPr>
            <a:r>
              <a:rPr lang="en-US" sz="7778">
                <a:solidFill>
                  <a:srgbClr val="1E1E1E"/>
                </a:solidFill>
                <a:latin typeface="Times New Roman MT Condensed"/>
                <a:ea typeface="Times New Roman MT Condensed"/>
                <a:cs typeface="Times New Roman MT Condensed"/>
                <a:sym typeface="Times New Roman MT Condensed"/>
              </a:rPr>
              <a:t>JOURNEY</a:t>
            </a:r>
          </a:p>
        </p:txBody>
      </p:sp>
      <p:sp>
        <p:nvSpPr>
          <p:cNvPr name="TextBox 10" id="10"/>
          <p:cNvSpPr txBox="true"/>
          <p:nvPr/>
        </p:nvSpPr>
        <p:spPr>
          <a:xfrm rot="0">
            <a:off x="4291068" y="5675854"/>
            <a:ext cx="2357676" cy="479355"/>
          </a:xfrm>
          <a:prstGeom prst="rect">
            <a:avLst/>
          </a:prstGeom>
        </p:spPr>
        <p:txBody>
          <a:bodyPr anchor="t" rtlCol="false" tIns="0" lIns="0" bIns="0" rIns="0">
            <a:spAutoFit/>
          </a:bodyPr>
          <a:lstStyle/>
          <a:p>
            <a:pPr algn="ctr">
              <a:lnSpc>
                <a:spcPts val="3549"/>
              </a:lnSpc>
            </a:pPr>
            <a:r>
              <a:rPr lang="en-US" sz="2535">
                <a:solidFill>
                  <a:srgbClr val="1E1E1E"/>
                </a:solidFill>
                <a:latin typeface="Times New Roman MT Condensed"/>
                <a:ea typeface="Times New Roman MT Condensed"/>
                <a:cs typeface="Times New Roman MT Condensed"/>
                <a:sym typeface="Times New Roman MT Condensed"/>
              </a:rPr>
              <a:t>2018-2023</a:t>
            </a:r>
          </a:p>
        </p:txBody>
      </p:sp>
      <p:sp>
        <p:nvSpPr>
          <p:cNvPr name="TextBox 11" id="11"/>
          <p:cNvSpPr txBox="true"/>
          <p:nvPr/>
        </p:nvSpPr>
        <p:spPr>
          <a:xfrm rot="0">
            <a:off x="4291068" y="6575875"/>
            <a:ext cx="2111693" cy="538480"/>
          </a:xfrm>
          <a:prstGeom prst="rect">
            <a:avLst/>
          </a:prstGeom>
        </p:spPr>
        <p:txBody>
          <a:bodyPr anchor="t" rtlCol="false" tIns="0" lIns="0" bIns="0" rIns="0">
            <a:spAutoFit/>
          </a:bodyPr>
          <a:lstStyle/>
          <a:p>
            <a:pPr algn="ctr">
              <a:lnSpc>
                <a:spcPts val="3919"/>
              </a:lnSpc>
            </a:pPr>
            <a:r>
              <a:rPr lang="en-US" sz="2799">
                <a:solidFill>
                  <a:srgbClr val="1E1E1E"/>
                </a:solidFill>
                <a:latin typeface="Times New Roman MT Condensed"/>
                <a:ea typeface="Times New Roman MT Condensed"/>
                <a:cs typeface="Times New Roman MT Condensed"/>
                <a:sym typeface="Times New Roman MT Condensed"/>
              </a:rPr>
              <a:t>2025-PRESENT</a:t>
            </a:r>
          </a:p>
        </p:txBody>
      </p:sp>
      <p:sp>
        <p:nvSpPr>
          <p:cNvPr name="TextBox 12" id="12"/>
          <p:cNvSpPr txBox="true"/>
          <p:nvPr/>
        </p:nvSpPr>
        <p:spPr>
          <a:xfrm rot="0">
            <a:off x="6402761" y="5607204"/>
            <a:ext cx="8037235" cy="581025"/>
          </a:xfrm>
          <a:prstGeom prst="rect">
            <a:avLst/>
          </a:prstGeom>
        </p:spPr>
        <p:txBody>
          <a:bodyPr anchor="t" rtlCol="false" tIns="0" lIns="0" bIns="0" rIns="0">
            <a:spAutoFit/>
          </a:bodyPr>
          <a:lstStyle/>
          <a:p>
            <a:pPr algn="ctr">
              <a:lnSpc>
                <a:spcPts val="4200"/>
              </a:lnSpc>
            </a:pPr>
            <a:r>
              <a:rPr lang="en-US" sz="3000" b="true">
                <a:solidFill>
                  <a:srgbClr val="1E1E1E"/>
                </a:solidFill>
                <a:latin typeface="Times New Roman MT Condensed Bold"/>
                <a:ea typeface="Times New Roman MT Condensed Bold"/>
                <a:cs typeface="Times New Roman MT Condensed Bold"/>
                <a:sym typeface="Times New Roman MT Condensed Bold"/>
              </a:rPr>
              <a:t>S1 Teknik Elektro - Telkom University</a:t>
            </a:r>
          </a:p>
        </p:txBody>
      </p:sp>
      <p:sp>
        <p:nvSpPr>
          <p:cNvPr name="TextBox 13" id="13"/>
          <p:cNvSpPr txBox="true"/>
          <p:nvPr/>
        </p:nvSpPr>
        <p:spPr>
          <a:xfrm rot="0">
            <a:off x="6833436" y="6566350"/>
            <a:ext cx="6969844" cy="581025"/>
          </a:xfrm>
          <a:prstGeom prst="rect">
            <a:avLst/>
          </a:prstGeom>
        </p:spPr>
        <p:txBody>
          <a:bodyPr anchor="t" rtlCol="false" tIns="0" lIns="0" bIns="0" rIns="0">
            <a:spAutoFit/>
          </a:bodyPr>
          <a:lstStyle/>
          <a:p>
            <a:pPr algn="ctr">
              <a:lnSpc>
                <a:spcPts val="4200"/>
              </a:lnSpc>
            </a:pPr>
            <a:r>
              <a:rPr lang="en-US" sz="3000" b="true">
                <a:solidFill>
                  <a:srgbClr val="1E1E1E"/>
                </a:solidFill>
                <a:latin typeface="Times New Roman MT Condensed Bold"/>
                <a:ea typeface="Times New Roman MT Condensed Bold"/>
                <a:cs typeface="Times New Roman MT Condensed Bold"/>
                <a:sym typeface="Times New Roman MT Condensed Bold"/>
              </a:rPr>
              <a:t>Bootcamp Data Analyst - Dibimbing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350436" y="189527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148970" y="2345976"/>
            <a:ext cx="2841202" cy="885304"/>
            <a:chOff x="0" y="0"/>
            <a:chExt cx="1345016" cy="419100"/>
          </a:xfrm>
        </p:grpSpPr>
        <p:sp>
          <p:nvSpPr>
            <p:cNvPr name="Freeform 5" id="5"/>
            <p:cNvSpPr/>
            <p:nvPr/>
          </p:nvSpPr>
          <p:spPr>
            <a:xfrm flipH="false" flipV="false" rot="0">
              <a:off x="0" y="0"/>
              <a:ext cx="1345016" cy="419100"/>
            </a:xfrm>
            <a:custGeom>
              <a:avLst/>
              <a:gdLst/>
              <a:ahLst/>
              <a:cxnLst/>
              <a:rect r="r" b="b" t="t" l="l"/>
              <a:pathLst>
                <a:path h="419100" w="1345016">
                  <a:moveTo>
                    <a:pt x="129857" y="0"/>
                  </a:moveTo>
                  <a:lnTo>
                    <a:pt x="1215159" y="0"/>
                  </a:lnTo>
                  <a:cubicBezTo>
                    <a:pt x="1249599" y="0"/>
                    <a:pt x="1282629" y="13681"/>
                    <a:pt x="1306982" y="38034"/>
                  </a:cubicBezTo>
                  <a:cubicBezTo>
                    <a:pt x="1331335" y="62387"/>
                    <a:pt x="1345016" y="95417"/>
                    <a:pt x="1345016" y="129857"/>
                  </a:cubicBezTo>
                  <a:lnTo>
                    <a:pt x="1345016" y="289243"/>
                  </a:lnTo>
                  <a:cubicBezTo>
                    <a:pt x="1345016" y="360961"/>
                    <a:pt x="1286877" y="419100"/>
                    <a:pt x="1215159" y="419100"/>
                  </a:cubicBezTo>
                  <a:lnTo>
                    <a:pt x="129857" y="419100"/>
                  </a:lnTo>
                  <a:cubicBezTo>
                    <a:pt x="58139" y="419100"/>
                    <a:pt x="0" y="360961"/>
                    <a:pt x="0" y="289243"/>
                  </a:cubicBezTo>
                  <a:lnTo>
                    <a:pt x="0" y="129857"/>
                  </a:lnTo>
                  <a:cubicBezTo>
                    <a:pt x="0" y="58139"/>
                    <a:pt x="58139" y="0"/>
                    <a:pt x="129857"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1345016"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JUDUL PROYEK</a:t>
              </a:r>
            </a:p>
          </p:txBody>
        </p:sp>
      </p:grpSp>
      <p:sp>
        <p:nvSpPr>
          <p:cNvPr name="TextBox 7" id="7"/>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8" id="8"/>
          <p:cNvSpPr txBox="true"/>
          <p:nvPr/>
        </p:nvSpPr>
        <p:spPr>
          <a:xfrm rot="0">
            <a:off x="4959393" y="738958"/>
            <a:ext cx="8369213"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OVERVIEW PROJECT</a:t>
            </a:r>
          </a:p>
        </p:txBody>
      </p:sp>
      <p:sp>
        <p:nvSpPr>
          <p:cNvPr name="AutoShape 9" id="9"/>
          <p:cNvSpPr/>
          <p:nvPr/>
        </p:nvSpPr>
        <p:spPr>
          <a:xfrm flipV="true">
            <a:off x="2990172" y="2788628"/>
            <a:ext cx="3025072" cy="0"/>
          </a:xfrm>
          <a:prstGeom prst="line">
            <a:avLst/>
          </a:prstGeom>
          <a:ln cap="flat" w="38100">
            <a:solidFill>
              <a:srgbClr val="000000"/>
            </a:solidFill>
            <a:prstDash val="solid"/>
            <a:headEnd type="none" len="sm" w="sm"/>
            <a:tailEnd type="none" len="sm" w="sm"/>
          </a:ln>
        </p:spPr>
      </p:sp>
      <p:grpSp>
        <p:nvGrpSpPr>
          <p:cNvPr name="Group 10" id="10"/>
          <p:cNvGrpSpPr/>
          <p:nvPr/>
        </p:nvGrpSpPr>
        <p:grpSpPr>
          <a:xfrm rot="0">
            <a:off x="6117414" y="2345976"/>
            <a:ext cx="2841202" cy="885304"/>
            <a:chOff x="0" y="0"/>
            <a:chExt cx="1345016" cy="419100"/>
          </a:xfrm>
        </p:grpSpPr>
        <p:sp>
          <p:nvSpPr>
            <p:cNvPr name="Freeform 11" id="11"/>
            <p:cNvSpPr/>
            <p:nvPr/>
          </p:nvSpPr>
          <p:spPr>
            <a:xfrm flipH="false" flipV="false" rot="0">
              <a:off x="0" y="0"/>
              <a:ext cx="1345016" cy="419100"/>
            </a:xfrm>
            <a:custGeom>
              <a:avLst/>
              <a:gdLst/>
              <a:ahLst/>
              <a:cxnLst/>
              <a:rect r="r" b="b" t="t" l="l"/>
              <a:pathLst>
                <a:path h="419100" w="1345016">
                  <a:moveTo>
                    <a:pt x="129857" y="0"/>
                  </a:moveTo>
                  <a:lnTo>
                    <a:pt x="1215159" y="0"/>
                  </a:lnTo>
                  <a:cubicBezTo>
                    <a:pt x="1249599" y="0"/>
                    <a:pt x="1282629" y="13681"/>
                    <a:pt x="1306982" y="38034"/>
                  </a:cubicBezTo>
                  <a:cubicBezTo>
                    <a:pt x="1331335" y="62387"/>
                    <a:pt x="1345016" y="95417"/>
                    <a:pt x="1345016" y="129857"/>
                  </a:cubicBezTo>
                  <a:lnTo>
                    <a:pt x="1345016" y="289243"/>
                  </a:lnTo>
                  <a:cubicBezTo>
                    <a:pt x="1345016" y="360961"/>
                    <a:pt x="1286877" y="419100"/>
                    <a:pt x="1215159" y="419100"/>
                  </a:cubicBezTo>
                  <a:lnTo>
                    <a:pt x="129857" y="419100"/>
                  </a:lnTo>
                  <a:cubicBezTo>
                    <a:pt x="58139" y="419100"/>
                    <a:pt x="0" y="360961"/>
                    <a:pt x="0" y="289243"/>
                  </a:cubicBezTo>
                  <a:lnTo>
                    <a:pt x="0" y="129857"/>
                  </a:lnTo>
                  <a:cubicBezTo>
                    <a:pt x="0" y="58139"/>
                    <a:pt x="58139" y="0"/>
                    <a:pt x="129857" y="0"/>
                  </a:cubicBezTo>
                  <a:close/>
                </a:path>
              </a:pathLst>
            </a:custGeom>
            <a:solidFill>
              <a:srgbClr val="E8E7E7"/>
            </a:solidFill>
            <a:ln w="38100" cap="rnd">
              <a:solidFill>
                <a:srgbClr val="000000"/>
              </a:solidFill>
              <a:prstDash val="solid"/>
              <a:round/>
            </a:ln>
          </p:spPr>
        </p:sp>
        <p:sp>
          <p:nvSpPr>
            <p:cNvPr name="TextBox 12" id="12"/>
            <p:cNvSpPr txBox="true"/>
            <p:nvPr/>
          </p:nvSpPr>
          <p:spPr>
            <a:xfrm>
              <a:off x="0" y="-9525"/>
              <a:ext cx="1345016"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Taxi Trip Price Analysis</a:t>
              </a:r>
            </a:p>
          </p:txBody>
        </p:sp>
      </p:grpSp>
      <p:grpSp>
        <p:nvGrpSpPr>
          <p:cNvPr name="Group 13" id="13"/>
          <p:cNvGrpSpPr/>
          <p:nvPr/>
        </p:nvGrpSpPr>
        <p:grpSpPr>
          <a:xfrm rot="0">
            <a:off x="148970" y="3468800"/>
            <a:ext cx="3233246" cy="705504"/>
            <a:chOff x="0" y="0"/>
            <a:chExt cx="1120760" cy="244553"/>
          </a:xfrm>
        </p:grpSpPr>
        <p:sp>
          <p:nvSpPr>
            <p:cNvPr name="Freeform 14" id="14"/>
            <p:cNvSpPr/>
            <p:nvPr/>
          </p:nvSpPr>
          <p:spPr>
            <a:xfrm flipH="false" flipV="false" rot="0">
              <a:off x="0" y="0"/>
              <a:ext cx="1120760" cy="244553"/>
            </a:xfrm>
            <a:custGeom>
              <a:avLst/>
              <a:gdLst/>
              <a:ahLst/>
              <a:cxnLst/>
              <a:rect r="r" b="b" t="t" l="l"/>
              <a:pathLst>
                <a:path h="244553" w="1120760">
                  <a:moveTo>
                    <a:pt x="114112" y="0"/>
                  </a:moveTo>
                  <a:lnTo>
                    <a:pt x="1006649" y="0"/>
                  </a:lnTo>
                  <a:cubicBezTo>
                    <a:pt x="1069671" y="0"/>
                    <a:pt x="1120760" y="51090"/>
                    <a:pt x="1120760" y="114112"/>
                  </a:cubicBezTo>
                  <a:lnTo>
                    <a:pt x="1120760" y="130442"/>
                  </a:lnTo>
                  <a:cubicBezTo>
                    <a:pt x="1120760" y="193464"/>
                    <a:pt x="1069671" y="244553"/>
                    <a:pt x="1006649" y="244553"/>
                  </a:cubicBezTo>
                  <a:lnTo>
                    <a:pt x="114112" y="244553"/>
                  </a:lnTo>
                  <a:cubicBezTo>
                    <a:pt x="51090" y="244553"/>
                    <a:pt x="0" y="193464"/>
                    <a:pt x="0" y="130442"/>
                  </a:cubicBezTo>
                  <a:lnTo>
                    <a:pt x="0" y="114112"/>
                  </a:lnTo>
                  <a:cubicBezTo>
                    <a:pt x="0" y="51090"/>
                    <a:pt x="51090" y="0"/>
                    <a:pt x="114112" y="0"/>
                  </a:cubicBezTo>
                  <a:close/>
                </a:path>
              </a:pathLst>
            </a:custGeom>
            <a:solidFill>
              <a:srgbClr val="E8E7E7"/>
            </a:solidFill>
            <a:ln w="38100" cap="rnd">
              <a:solidFill>
                <a:srgbClr val="000000"/>
              </a:solidFill>
              <a:prstDash val="solid"/>
              <a:round/>
            </a:ln>
          </p:spPr>
        </p:sp>
        <p:sp>
          <p:nvSpPr>
            <p:cNvPr name="TextBox 15" id="15"/>
            <p:cNvSpPr txBox="true"/>
            <p:nvPr/>
          </p:nvSpPr>
          <p:spPr>
            <a:xfrm>
              <a:off x="0" y="-9525"/>
              <a:ext cx="1120760" cy="254078"/>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DESKRIPSI SINGKAT </a:t>
              </a:r>
            </a:p>
          </p:txBody>
        </p:sp>
      </p:grpSp>
      <p:sp>
        <p:nvSpPr>
          <p:cNvPr name="AutoShape 16" id="16"/>
          <p:cNvSpPr/>
          <p:nvPr/>
        </p:nvSpPr>
        <p:spPr>
          <a:xfrm>
            <a:off x="3382216" y="3821552"/>
            <a:ext cx="3090498" cy="918"/>
          </a:xfrm>
          <a:prstGeom prst="line">
            <a:avLst/>
          </a:prstGeom>
          <a:ln cap="flat" w="38100">
            <a:solidFill>
              <a:srgbClr val="000000"/>
            </a:solidFill>
            <a:prstDash val="solid"/>
            <a:headEnd type="none" len="sm" w="sm"/>
            <a:tailEnd type="none" len="sm" w="sm"/>
          </a:ln>
        </p:spPr>
      </p:sp>
      <p:grpSp>
        <p:nvGrpSpPr>
          <p:cNvPr name="Group 17" id="17"/>
          <p:cNvGrpSpPr/>
          <p:nvPr/>
        </p:nvGrpSpPr>
        <p:grpSpPr>
          <a:xfrm rot="0">
            <a:off x="6466316" y="3327961"/>
            <a:ext cx="8699336" cy="1815539"/>
            <a:chOff x="0" y="0"/>
            <a:chExt cx="4204036" cy="877376"/>
          </a:xfrm>
        </p:grpSpPr>
        <p:sp>
          <p:nvSpPr>
            <p:cNvPr name="Freeform 18" id="18"/>
            <p:cNvSpPr/>
            <p:nvPr/>
          </p:nvSpPr>
          <p:spPr>
            <a:xfrm flipH="false" flipV="false" rot="0">
              <a:off x="0" y="0"/>
              <a:ext cx="4204036" cy="877376"/>
            </a:xfrm>
            <a:custGeom>
              <a:avLst/>
              <a:gdLst/>
              <a:ahLst/>
              <a:cxnLst/>
              <a:rect r="r" b="b" t="t" l="l"/>
              <a:pathLst>
                <a:path h="877376" w="4204036">
                  <a:moveTo>
                    <a:pt x="42411" y="0"/>
                  </a:moveTo>
                  <a:lnTo>
                    <a:pt x="4161624" y="0"/>
                  </a:lnTo>
                  <a:cubicBezTo>
                    <a:pt x="4185047" y="0"/>
                    <a:pt x="4204036" y="18988"/>
                    <a:pt x="4204036" y="42411"/>
                  </a:cubicBezTo>
                  <a:lnTo>
                    <a:pt x="4204036" y="834965"/>
                  </a:lnTo>
                  <a:cubicBezTo>
                    <a:pt x="4204036" y="858388"/>
                    <a:pt x="4185047" y="877376"/>
                    <a:pt x="4161624" y="877376"/>
                  </a:cubicBezTo>
                  <a:lnTo>
                    <a:pt x="42411" y="877376"/>
                  </a:lnTo>
                  <a:cubicBezTo>
                    <a:pt x="18988" y="877376"/>
                    <a:pt x="0" y="858388"/>
                    <a:pt x="0" y="834965"/>
                  </a:cubicBezTo>
                  <a:lnTo>
                    <a:pt x="0" y="42411"/>
                  </a:lnTo>
                  <a:cubicBezTo>
                    <a:pt x="0" y="18988"/>
                    <a:pt x="18988" y="0"/>
                    <a:pt x="42411" y="0"/>
                  </a:cubicBezTo>
                  <a:close/>
                </a:path>
              </a:pathLst>
            </a:custGeom>
            <a:solidFill>
              <a:srgbClr val="E8E7E7"/>
            </a:solidFill>
            <a:ln w="38100" cap="rnd">
              <a:solidFill>
                <a:srgbClr val="000000"/>
              </a:solidFill>
              <a:prstDash val="solid"/>
              <a:round/>
            </a:ln>
          </p:spPr>
        </p:sp>
        <p:sp>
          <p:nvSpPr>
            <p:cNvPr name="TextBox 19" id="19"/>
            <p:cNvSpPr txBox="true"/>
            <p:nvPr/>
          </p:nvSpPr>
          <p:spPr>
            <a:xfrm>
              <a:off x="0" y="-9525"/>
              <a:ext cx="4204036" cy="886901"/>
            </a:xfrm>
            <a:prstGeom prst="rect">
              <a:avLst/>
            </a:prstGeom>
          </p:spPr>
          <p:txBody>
            <a:bodyPr anchor="ctr" rtlCol="false" tIns="50800" lIns="50800" bIns="50800" rIns="50800"/>
            <a:lstStyle/>
            <a:p>
              <a:pPr algn="l">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  Proyek ini bertujuan untuk menganalisis faktor-faktor utama yang   memengaruhi harga perjalanan (Trip Price) pada layanan transportasi berbasis data.</a:t>
              </a:r>
            </a:p>
          </p:txBody>
        </p:sp>
      </p:grpSp>
      <p:sp>
        <p:nvSpPr>
          <p:cNvPr name="AutoShape 20" id="20"/>
          <p:cNvSpPr/>
          <p:nvPr/>
        </p:nvSpPr>
        <p:spPr>
          <a:xfrm>
            <a:off x="1672832" y="4261014"/>
            <a:ext cx="4632274" cy="2417131"/>
          </a:xfrm>
          <a:prstGeom prst="line">
            <a:avLst/>
          </a:prstGeom>
          <a:ln cap="flat" w="38100">
            <a:solidFill>
              <a:srgbClr val="000000"/>
            </a:solidFill>
            <a:prstDash val="solid"/>
            <a:headEnd type="none" len="sm" w="sm"/>
            <a:tailEnd type="none" len="sm" w="sm"/>
          </a:ln>
        </p:spPr>
      </p:sp>
      <p:grpSp>
        <p:nvGrpSpPr>
          <p:cNvPr name="Group 21" id="21"/>
          <p:cNvGrpSpPr/>
          <p:nvPr/>
        </p:nvGrpSpPr>
        <p:grpSpPr>
          <a:xfrm rot="0">
            <a:off x="5995904" y="5647180"/>
            <a:ext cx="7226126" cy="1584971"/>
            <a:chOff x="0" y="0"/>
            <a:chExt cx="4000094" cy="877376"/>
          </a:xfrm>
        </p:grpSpPr>
        <p:sp>
          <p:nvSpPr>
            <p:cNvPr name="Freeform 22" id="22"/>
            <p:cNvSpPr/>
            <p:nvPr/>
          </p:nvSpPr>
          <p:spPr>
            <a:xfrm flipH="false" flipV="false" rot="0">
              <a:off x="0" y="0"/>
              <a:ext cx="4000093" cy="877376"/>
            </a:xfrm>
            <a:custGeom>
              <a:avLst/>
              <a:gdLst/>
              <a:ahLst/>
              <a:cxnLst/>
              <a:rect r="r" b="b" t="t" l="l"/>
              <a:pathLst>
                <a:path h="877376" w="4000093">
                  <a:moveTo>
                    <a:pt x="51058" y="0"/>
                  </a:moveTo>
                  <a:lnTo>
                    <a:pt x="3949036" y="0"/>
                  </a:lnTo>
                  <a:cubicBezTo>
                    <a:pt x="3962577" y="0"/>
                    <a:pt x="3975564" y="5379"/>
                    <a:pt x="3985139" y="14955"/>
                  </a:cubicBezTo>
                  <a:cubicBezTo>
                    <a:pt x="3994714" y="24530"/>
                    <a:pt x="4000093" y="37517"/>
                    <a:pt x="4000093" y="51058"/>
                  </a:cubicBezTo>
                  <a:lnTo>
                    <a:pt x="4000093" y="826319"/>
                  </a:lnTo>
                  <a:cubicBezTo>
                    <a:pt x="4000093" y="854517"/>
                    <a:pt x="3977234" y="877376"/>
                    <a:pt x="3949036" y="877376"/>
                  </a:cubicBezTo>
                  <a:lnTo>
                    <a:pt x="51058" y="877376"/>
                  </a:lnTo>
                  <a:cubicBezTo>
                    <a:pt x="37517" y="877376"/>
                    <a:pt x="24530" y="871997"/>
                    <a:pt x="14955" y="862422"/>
                  </a:cubicBezTo>
                  <a:cubicBezTo>
                    <a:pt x="5379" y="852847"/>
                    <a:pt x="0" y="839860"/>
                    <a:pt x="0" y="826319"/>
                  </a:cubicBezTo>
                  <a:lnTo>
                    <a:pt x="0" y="51058"/>
                  </a:lnTo>
                  <a:cubicBezTo>
                    <a:pt x="0" y="37517"/>
                    <a:pt x="5379" y="24530"/>
                    <a:pt x="14955" y="14955"/>
                  </a:cubicBezTo>
                  <a:cubicBezTo>
                    <a:pt x="24530" y="5379"/>
                    <a:pt x="37517" y="0"/>
                    <a:pt x="51058" y="0"/>
                  </a:cubicBezTo>
                  <a:close/>
                </a:path>
              </a:pathLst>
            </a:custGeom>
            <a:solidFill>
              <a:srgbClr val="E8E7E7"/>
            </a:solidFill>
            <a:ln w="38100" cap="rnd">
              <a:solidFill>
                <a:srgbClr val="000000"/>
              </a:solidFill>
              <a:prstDash val="solid"/>
              <a:round/>
            </a:ln>
          </p:spPr>
        </p:sp>
        <p:sp>
          <p:nvSpPr>
            <p:cNvPr name="TextBox 23" id="23"/>
            <p:cNvSpPr txBox="true"/>
            <p:nvPr/>
          </p:nvSpPr>
          <p:spPr>
            <a:xfrm>
              <a:off x="0" y="-9525"/>
              <a:ext cx="4000094" cy="886901"/>
            </a:xfrm>
            <a:prstGeom prst="rect">
              <a:avLst/>
            </a:prstGeom>
          </p:spPr>
          <p:txBody>
            <a:bodyPr anchor="ctr" rtlCol="false" tIns="50800" lIns="50800" bIns="50800" rIns="50800"/>
            <a:lstStyle/>
            <a:p>
              <a:pPr algn="just">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      Tools &amp; Technology :</a:t>
              </a:r>
            </a:p>
            <a:p>
              <a:pPr algn="just" marL="647700" indent="-323850" lvl="1">
                <a:lnSpc>
                  <a:spcPts val="3000"/>
                </a:lnSpc>
                <a:buFont typeface="Arial"/>
                <a:buChar char="•"/>
              </a:pPr>
              <a:r>
                <a:rPr lang="en-US" sz="3000" spc="-179">
                  <a:solidFill>
                    <a:srgbClr val="000000"/>
                  </a:solidFill>
                  <a:latin typeface="Times New Roman MT Condensed"/>
                  <a:ea typeface="Times New Roman MT Condensed"/>
                  <a:cs typeface="Times New Roman MT Condensed"/>
                  <a:sym typeface="Times New Roman MT Condensed"/>
                </a:rPr>
                <a:t>Jupyter Notebook (Cleaning)</a:t>
              </a:r>
            </a:p>
            <a:p>
              <a:pPr algn="just" marL="647700" indent="-323850" lvl="1">
                <a:lnSpc>
                  <a:spcPts val="3000"/>
                </a:lnSpc>
                <a:buFont typeface="Arial"/>
                <a:buChar char="•"/>
              </a:pPr>
              <a:r>
                <a:rPr lang="en-US" sz="3000" spc="-179">
                  <a:solidFill>
                    <a:srgbClr val="000000"/>
                  </a:solidFill>
                  <a:latin typeface="Times New Roman MT Condensed"/>
                  <a:ea typeface="Times New Roman MT Condensed"/>
                  <a:cs typeface="Times New Roman MT Condensed"/>
                  <a:sym typeface="Times New Roman MT Condensed"/>
                </a:rPr>
                <a:t>Power BI (Visualization)</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350436" y="189527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7150388" y="2128062"/>
            <a:ext cx="3555542" cy="885304"/>
            <a:chOff x="0" y="0"/>
            <a:chExt cx="1683183" cy="419100"/>
          </a:xfrm>
        </p:grpSpPr>
        <p:sp>
          <p:nvSpPr>
            <p:cNvPr name="Freeform 5" id="5"/>
            <p:cNvSpPr/>
            <p:nvPr/>
          </p:nvSpPr>
          <p:spPr>
            <a:xfrm flipH="false" flipV="false" rot="0">
              <a:off x="0" y="0"/>
              <a:ext cx="1683183" cy="419100"/>
            </a:xfrm>
            <a:custGeom>
              <a:avLst/>
              <a:gdLst/>
              <a:ahLst/>
              <a:cxnLst/>
              <a:rect r="r" b="b" t="t" l="l"/>
              <a:pathLst>
                <a:path h="419100" w="1683183">
                  <a:moveTo>
                    <a:pt x="103768" y="0"/>
                  </a:moveTo>
                  <a:lnTo>
                    <a:pt x="1579415" y="0"/>
                  </a:lnTo>
                  <a:cubicBezTo>
                    <a:pt x="1606936" y="0"/>
                    <a:pt x="1633330" y="10933"/>
                    <a:pt x="1652790" y="30393"/>
                  </a:cubicBezTo>
                  <a:cubicBezTo>
                    <a:pt x="1672250" y="49853"/>
                    <a:pt x="1683183" y="76247"/>
                    <a:pt x="1683183" y="103768"/>
                  </a:cubicBezTo>
                  <a:lnTo>
                    <a:pt x="1683183" y="315332"/>
                  </a:lnTo>
                  <a:cubicBezTo>
                    <a:pt x="1683183" y="372642"/>
                    <a:pt x="1636724" y="419100"/>
                    <a:pt x="1579415" y="419100"/>
                  </a:cubicBezTo>
                  <a:lnTo>
                    <a:pt x="103768" y="419100"/>
                  </a:lnTo>
                  <a:cubicBezTo>
                    <a:pt x="46458" y="419100"/>
                    <a:pt x="0" y="372642"/>
                    <a:pt x="0" y="315332"/>
                  </a:cubicBezTo>
                  <a:lnTo>
                    <a:pt x="0" y="103768"/>
                  </a:lnTo>
                  <a:cubicBezTo>
                    <a:pt x="0" y="46458"/>
                    <a:pt x="46458" y="0"/>
                    <a:pt x="103768"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1683183"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PROBLEM STATEMENT</a:t>
              </a:r>
            </a:p>
          </p:txBody>
        </p:sp>
      </p:grpSp>
      <p:sp>
        <p:nvSpPr>
          <p:cNvPr name="TextBox 7" id="7"/>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8" id="8"/>
          <p:cNvSpPr txBox="true"/>
          <p:nvPr/>
        </p:nvSpPr>
        <p:spPr>
          <a:xfrm rot="0">
            <a:off x="6039277" y="738958"/>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grpSp>
        <p:nvGrpSpPr>
          <p:cNvPr name="Group 9" id="9"/>
          <p:cNvGrpSpPr/>
          <p:nvPr/>
        </p:nvGrpSpPr>
        <p:grpSpPr>
          <a:xfrm rot="0">
            <a:off x="7507558" y="4163725"/>
            <a:ext cx="2841202" cy="885304"/>
            <a:chOff x="0" y="0"/>
            <a:chExt cx="1345016" cy="419100"/>
          </a:xfrm>
        </p:grpSpPr>
        <p:sp>
          <p:nvSpPr>
            <p:cNvPr name="Freeform 10" id="10"/>
            <p:cNvSpPr/>
            <p:nvPr/>
          </p:nvSpPr>
          <p:spPr>
            <a:xfrm flipH="false" flipV="false" rot="0">
              <a:off x="0" y="0"/>
              <a:ext cx="1345016" cy="419100"/>
            </a:xfrm>
            <a:custGeom>
              <a:avLst/>
              <a:gdLst/>
              <a:ahLst/>
              <a:cxnLst/>
              <a:rect r="r" b="b" t="t" l="l"/>
              <a:pathLst>
                <a:path h="419100" w="1345016">
                  <a:moveTo>
                    <a:pt x="129857" y="0"/>
                  </a:moveTo>
                  <a:lnTo>
                    <a:pt x="1215159" y="0"/>
                  </a:lnTo>
                  <a:cubicBezTo>
                    <a:pt x="1249599" y="0"/>
                    <a:pt x="1282629" y="13681"/>
                    <a:pt x="1306982" y="38034"/>
                  </a:cubicBezTo>
                  <a:cubicBezTo>
                    <a:pt x="1331335" y="62387"/>
                    <a:pt x="1345016" y="95417"/>
                    <a:pt x="1345016" y="129857"/>
                  </a:cubicBezTo>
                  <a:lnTo>
                    <a:pt x="1345016" y="289243"/>
                  </a:lnTo>
                  <a:cubicBezTo>
                    <a:pt x="1345016" y="360961"/>
                    <a:pt x="1286877" y="419100"/>
                    <a:pt x="1215159" y="419100"/>
                  </a:cubicBezTo>
                  <a:lnTo>
                    <a:pt x="129857" y="419100"/>
                  </a:lnTo>
                  <a:cubicBezTo>
                    <a:pt x="58139" y="419100"/>
                    <a:pt x="0" y="360961"/>
                    <a:pt x="0" y="289243"/>
                  </a:cubicBezTo>
                  <a:lnTo>
                    <a:pt x="0" y="129857"/>
                  </a:lnTo>
                  <a:cubicBezTo>
                    <a:pt x="0" y="58139"/>
                    <a:pt x="58139" y="0"/>
                    <a:pt x="129857" y="0"/>
                  </a:cubicBezTo>
                  <a:close/>
                </a:path>
              </a:pathLst>
            </a:custGeom>
            <a:solidFill>
              <a:srgbClr val="E8E7E7"/>
            </a:solidFill>
            <a:ln w="38100" cap="rnd">
              <a:solidFill>
                <a:srgbClr val="000000"/>
              </a:solidFill>
              <a:prstDash val="solid"/>
              <a:round/>
            </a:ln>
          </p:spPr>
        </p:sp>
        <p:sp>
          <p:nvSpPr>
            <p:cNvPr name="TextBox 11" id="11"/>
            <p:cNvSpPr txBox="true"/>
            <p:nvPr/>
          </p:nvSpPr>
          <p:spPr>
            <a:xfrm>
              <a:off x="0" y="-9525"/>
              <a:ext cx="1345016"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CONSIST OF:</a:t>
              </a:r>
            </a:p>
          </p:txBody>
        </p:sp>
      </p:grpSp>
      <p:grpSp>
        <p:nvGrpSpPr>
          <p:cNvPr name="Group 12" id="12"/>
          <p:cNvGrpSpPr/>
          <p:nvPr/>
        </p:nvGrpSpPr>
        <p:grpSpPr>
          <a:xfrm rot="0">
            <a:off x="7400882" y="6063441"/>
            <a:ext cx="3092652" cy="691686"/>
            <a:chOff x="0" y="0"/>
            <a:chExt cx="3922907" cy="877376"/>
          </a:xfrm>
        </p:grpSpPr>
        <p:sp>
          <p:nvSpPr>
            <p:cNvPr name="Freeform 13" id="13"/>
            <p:cNvSpPr/>
            <p:nvPr/>
          </p:nvSpPr>
          <p:spPr>
            <a:xfrm flipH="false" flipV="false" rot="0">
              <a:off x="0" y="0"/>
              <a:ext cx="3922907" cy="877376"/>
            </a:xfrm>
            <a:custGeom>
              <a:avLst/>
              <a:gdLst/>
              <a:ahLst/>
              <a:cxnLst/>
              <a:rect r="r" b="b" t="t" l="l"/>
              <a:pathLst>
                <a:path h="877376" w="3922907">
                  <a:moveTo>
                    <a:pt x="119299" y="0"/>
                  </a:moveTo>
                  <a:lnTo>
                    <a:pt x="3803608" y="0"/>
                  </a:lnTo>
                  <a:cubicBezTo>
                    <a:pt x="3869495" y="0"/>
                    <a:pt x="3922907" y="53412"/>
                    <a:pt x="3922907" y="119299"/>
                  </a:cubicBezTo>
                  <a:lnTo>
                    <a:pt x="3922907" y="758077"/>
                  </a:lnTo>
                  <a:cubicBezTo>
                    <a:pt x="3922907" y="823964"/>
                    <a:pt x="3869495" y="877376"/>
                    <a:pt x="3803608" y="877376"/>
                  </a:cubicBezTo>
                  <a:lnTo>
                    <a:pt x="119299" y="877376"/>
                  </a:lnTo>
                  <a:cubicBezTo>
                    <a:pt x="53412" y="877376"/>
                    <a:pt x="0" y="823964"/>
                    <a:pt x="0" y="758077"/>
                  </a:cubicBezTo>
                  <a:lnTo>
                    <a:pt x="0" y="119299"/>
                  </a:lnTo>
                  <a:cubicBezTo>
                    <a:pt x="0" y="53412"/>
                    <a:pt x="53412" y="0"/>
                    <a:pt x="119299" y="0"/>
                  </a:cubicBezTo>
                  <a:close/>
                </a:path>
              </a:pathLst>
            </a:custGeom>
            <a:solidFill>
              <a:srgbClr val="E8E7E7"/>
            </a:solidFill>
            <a:ln w="38100" cap="rnd">
              <a:solidFill>
                <a:srgbClr val="000000"/>
              </a:solidFill>
              <a:prstDash val="solid"/>
              <a:round/>
            </a:ln>
          </p:spPr>
        </p:sp>
        <p:sp>
          <p:nvSpPr>
            <p:cNvPr name="TextBox 14" id="14"/>
            <p:cNvSpPr txBox="true"/>
            <p:nvPr/>
          </p:nvSpPr>
          <p:spPr>
            <a:xfrm>
              <a:off x="0" y="-9525"/>
              <a:ext cx="3922907" cy="886901"/>
            </a:xfrm>
            <a:prstGeom prst="rect">
              <a:avLst/>
            </a:prstGeom>
          </p:spPr>
          <p:txBody>
            <a:bodyPr anchor="ctr" rtlCol="false" tIns="50800" lIns="50800" bIns="50800" rIns="50800"/>
            <a:lstStyle/>
            <a:p>
              <a:pPr algn="just">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  BUSINESS CONTEXT</a:t>
              </a:r>
            </a:p>
          </p:txBody>
        </p:sp>
      </p:grpSp>
      <p:sp>
        <p:nvSpPr>
          <p:cNvPr name="AutoShape 15" id="15"/>
          <p:cNvSpPr/>
          <p:nvPr/>
        </p:nvSpPr>
        <p:spPr>
          <a:xfrm flipH="true" flipV="true">
            <a:off x="8928159" y="3013365"/>
            <a:ext cx="0" cy="1150360"/>
          </a:xfrm>
          <a:prstGeom prst="line">
            <a:avLst/>
          </a:prstGeom>
          <a:ln cap="flat" w="38100">
            <a:solidFill>
              <a:srgbClr val="000000"/>
            </a:solidFill>
            <a:prstDash val="solid"/>
            <a:headEnd type="none" len="sm" w="sm"/>
            <a:tailEnd type="none" len="sm" w="sm"/>
          </a:ln>
        </p:spPr>
      </p:sp>
      <p:sp>
        <p:nvSpPr>
          <p:cNvPr name="AutoShape 16" id="16"/>
          <p:cNvSpPr/>
          <p:nvPr/>
        </p:nvSpPr>
        <p:spPr>
          <a:xfrm flipV="true">
            <a:off x="8947209" y="5049029"/>
            <a:ext cx="0" cy="1014413"/>
          </a:xfrm>
          <a:prstGeom prst="line">
            <a:avLst/>
          </a:prstGeom>
          <a:ln cap="flat" w="38100">
            <a:solidFill>
              <a:srgbClr val="000000"/>
            </a:solidFill>
            <a:prstDash val="solid"/>
            <a:headEnd type="none" len="sm" w="sm"/>
            <a:tailEnd type="none" len="sm" w="sm"/>
          </a:ln>
        </p:spPr>
      </p:sp>
      <p:sp>
        <p:nvSpPr>
          <p:cNvPr name="TextBox 17" id="17"/>
          <p:cNvSpPr txBox="true"/>
          <p:nvPr/>
        </p:nvSpPr>
        <p:spPr>
          <a:xfrm rot="0">
            <a:off x="7507558" y="6850378"/>
            <a:ext cx="10282433" cy="2753605"/>
          </a:xfrm>
          <a:prstGeom prst="rect">
            <a:avLst/>
          </a:prstGeom>
        </p:spPr>
        <p:txBody>
          <a:bodyPr anchor="t" rtlCol="false" tIns="0" lIns="0" bIns="0" rIns="0">
            <a:spAutoFit/>
          </a:bodyPr>
          <a:lstStyle/>
          <a:p>
            <a:pPr algn="just">
              <a:lnSpc>
                <a:spcPts val="2401"/>
              </a:lnSpc>
            </a:pPr>
            <a:r>
              <a:rPr lang="en-US" sz="1569" spc="-94">
                <a:solidFill>
                  <a:srgbClr val="000000"/>
                </a:solidFill>
                <a:latin typeface="Times New Roman"/>
                <a:ea typeface="Times New Roman"/>
                <a:cs typeface="Times New Roman"/>
                <a:sym typeface="Times New Roman"/>
              </a:rPr>
              <a:t>Perusahaan transportasi perlu memastikan bahwa  sistem penetapan harga (Trip Price) sudah adil, konsisten, dan optimal.</a:t>
            </a:r>
          </a:p>
          <a:p>
            <a:pPr algn="just">
              <a:lnSpc>
                <a:spcPts val="2401"/>
              </a:lnSpc>
            </a:pPr>
            <a:r>
              <a:rPr lang="en-US" sz="1569" spc="-94">
                <a:solidFill>
                  <a:srgbClr val="000000"/>
                </a:solidFill>
                <a:latin typeface="Times New Roman"/>
                <a:ea typeface="Times New Roman"/>
                <a:cs typeface="Times New Roman"/>
                <a:sym typeface="Times New Roman"/>
              </a:rPr>
              <a:t>Namun, belum diketahui secara jelas:</a:t>
            </a:r>
          </a:p>
          <a:p>
            <a:pPr algn="just" marL="338941" indent="-169471" lvl="1">
              <a:lnSpc>
                <a:spcPts val="2401"/>
              </a:lnSpc>
              <a:buFont typeface="Arial"/>
              <a:buChar char="•"/>
            </a:pPr>
            <a:r>
              <a:rPr lang="en-US" sz="1569" spc="-94">
                <a:solidFill>
                  <a:srgbClr val="000000"/>
                </a:solidFill>
                <a:latin typeface="Times New Roman"/>
                <a:ea typeface="Times New Roman"/>
                <a:cs typeface="Times New Roman"/>
                <a:sym typeface="Times New Roman"/>
              </a:rPr>
              <a:t>Faktor apa yang paling mempengaruhi harga perjalanan</a:t>
            </a:r>
          </a:p>
          <a:p>
            <a:pPr algn="just" marL="338941" indent="-169471" lvl="1">
              <a:lnSpc>
                <a:spcPts val="2401"/>
              </a:lnSpc>
              <a:buFont typeface="Arial"/>
              <a:buChar char="•"/>
            </a:pPr>
            <a:r>
              <a:rPr lang="en-US" sz="1569" spc="-94">
                <a:solidFill>
                  <a:srgbClr val="000000"/>
                </a:solidFill>
                <a:latin typeface="Times New Roman"/>
                <a:ea typeface="Times New Roman"/>
                <a:cs typeface="Times New Roman"/>
                <a:sym typeface="Times New Roman"/>
              </a:rPr>
              <a:t>Apakah harga lebih dipengaruhi oleh jarak, durasi, atau faktor eksternal seperti waktu dan kondisi lalu lintas</a:t>
            </a:r>
          </a:p>
          <a:p>
            <a:pPr algn="just" marL="338941" indent="-169471" lvl="1">
              <a:lnSpc>
                <a:spcPts val="2401"/>
              </a:lnSpc>
              <a:buFont typeface="Arial"/>
              <a:buChar char="•"/>
            </a:pPr>
            <a:r>
              <a:rPr lang="en-US" sz="1569" spc="-94">
                <a:solidFill>
                  <a:srgbClr val="000000"/>
                </a:solidFill>
                <a:latin typeface="Times New Roman"/>
                <a:ea typeface="Times New Roman"/>
                <a:cs typeface="Times New Roman"/>
                <a:sym typeface="Times New Roman"/>
              </a:rPr>
              <a:t>Segmen perjalanan mana yang paling berkontribusi terhadap total revenue.</a:t>
            </a:r>
          </a:p>
          <a:p>
            <a:pPr algn="just">
              <a:lnSpc>
                <a:spcPts val="2401"/>
              </a:lnSpc>
            </a:pPr>
            <a:r>
              <a:rPr lang="en-US" sz="1569" spc="-94">
                <a:solidFill>
                  <a:srgbClr val="000000"/>
                </a:solidFill>
                <a:latin typeface="Times New Roman"/>
                <a:ea typeface="Times New Roman"/>
                <a:cs typeface="Times New Roman"/>
                <a:sym typeface="Times New Roman"/>
              </a:rPr>
              <a:t>Tanpa pemahaman ini, perusahaan berisiko:</a:t>
            </a:r>
          </a:p>
          <a:p>
            <a:pPr algn="just" marL="338941" indent="-169471" lvl="1">
              <a:lnSpc>
                <a:spcPts val="2401"/>
              </a:lnSpc>
              <a:buFont typeface="Arial"/>
              <a:buChar char="•"/>
            </a:pPr>
            <a:r>
              <a:rPr lang="en-US" sz="1569" spc="-94">
                <a:solidFill>
                  <a:srgbClr val="000000"/>
                </a:solidFill>
                <a:latin typeface="Times New Roman"/>
                <a:ea typeface="Times New Roman"/>
                <a:cs typeface="Times New Roman"/>
                <a:sym typeface="Times New Roman"/>
              </a:rPr>
              <a:t>Salah menetapkan strategi pricing</a:t>
            </a:r>
          </a:p>
          <a:p>
            <a:pPr algn="just" marL="338941" indent="-169471" lvl="1">
              <a:lnSpc>
                <a:spcPts val="2401"/>
              </a:lnSpc>
              <a:buFont typeface="Arial"/>
              <a:buChar char="•"/>
            </a:pPr>
            <a:r>
              <a:rPr lang="en-US" sz="1569" spc="-94">
                <a:solidFill>
                  <a:srgbClr val="000000"/>
                </a:solidFill>
                <a:latin typeface="Times New Roman"/>
                <a:ea typeface="Times New Roman"/>
                <a:cs typeface="Times New Roman"/>
                <a:sym typeface="Times New Roman"/>
              </a:rPr>
              <a:t>Kehilangan potensi revenue</a:t>
            </a:r>
          </a:p>
          <a:p>
            <a:pPr algn="just" marL="338941" indent="-169471" lvl="1">
              <a:lnSpc>
                <a:spcPts val="2401"/>
              </a:lnSpc>
              <a:buFont typeface="Arial"/>
              <a:buChar char="•"/>
            </a:pPr>
            <a:r>
              <a:rPr lang="en-US" sz="1569" spc="-94">
                <a:solidFill>
                  <a:srgbClr val="000000"/>
                </a:solidFill>
                <a:latin typeface="Times New Roman"/>
                <a:ea typeface="Times New Roman"/>
                <a:cs typeface="Times New Roman"/>
                <a:sym typeface="Times New Roman"/>
              </a:rPr>
              <a:t>Tidak mampu mengidentifikasi segmen perjalanan paling menguntungkan.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350436" y="189527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6961694" y="2074149"/>
            <a:ext cx="3555542" cy="885304"/>
            <a:chOff x="0" y="0"/>
            <a:chExt cx="1683183" cy="419100"/>
          </a:xfrm>
        </p:grpSpPr>
        <p:sp>
          <p:nvSpPr>
            <p:cNvPr name="Freeform 5" id="5"/>
            <p:cNvSpPr/>
            <p:nvPr/>
          </p:nvSpPr>
          <p:spPr>
            <a:xfrm flipH="false" flipV="false" rot="0">
              <a:off x="0" y="0"/>
              <a:ext cx="1683183" cy="419100"/>
            </a:xfrm>
            <a:custGeom>
              <a:avLst/>
              <a:gdLst/>
              <a:ahLst/>
              <a:cxnLst/>
              <a:rect r="r" b="b" t="t" l="l"/>
              <a:pathLst>
                <a:path h="419100" w="1683183">
                  <a:moveTo>
                    <a:pt x="103768" y="0"/>
                  </a:moveTo>
                  <a:lnTo>
                    <a:pt x="1579415" y="0"/>
                  </a:lnTo>
                  <a:cubicBezTo>
                    <a:pt x="1606936" y="0"/>
                    <a:pt x="1633330" y="10933"/>
                    <a:pt x="1652790" y="30393"/>
                  </a:cubicBezTo>
                  <a:cubicBezTo>
                    <a:pt x="1672250" y="49853"/>
                    <a:pt x="1683183" y="76247"/>
                    <a:pt x="1683183" y="103768"/>
                  </a:cubicBezTo>
                  <a:lnTo>
                    <a:pt x="1683183" y="315332"/>
                  </a:lnTo>
                  <a:cubicBezTo>
                    <a:pt x="1683183" y="372642"/>
                    <a:pt x="1636724" y="419100"/>
                    <a:pt x="1579415" y="419100"/>
                  </a:cubicBezTo>
                  <a:lnTo>
                    <a:pt x="103768" y="419100"/>
                  </a:lnTo>
                  <a:cubicBezTo>
                    <a:pt x="46458" y="419100"/>
                    <a:pt x="0" y="372642"/>
                    <a:pt x="0" y="315332"/>
                  </a:cubicBezTo>
                  <a:lnTo>
                    <a:pt x="0" y="103768"/>
                  </a:lnTo>
                  <a:cubicBezTo>
                    <a:pt x="0" y="46458"/>
                    <a:pt x="46458" y="0"/>
                    <a:pt x="103768"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1683183"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PROBLEM STATEMENT</a:t>
              </a:r>
            </a:p>
          </p:txBody>
        </p:sp>
      </p:grpSp>
      <p:sp>
        <p:nvSpPr>
          <p:cNvPr name="TextBox 7" id="7"/>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8" id="8"/>
          <p:cNvSpPr txBox="true"/>
          <p:nvPr/>
        </p:nvSpPr>
        <p:spPr>
          <a:xfrm rot="0">
            <a:off x="6039277" y="738958"/>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grpSp>
        <p:nvGrpSpPr>
          <p:cNvPr name="Group 9" id="9"/>
          <p:cNvGrpSpPr/>
          <p:nvPr/>
        </p:nvGrpSpPr>
        <p:grpSpPr>
          <a:xfrm rot="0">
            <a:off x="7318864" y="3770509"/>
            <a:ext cx="2841202" cy="885304"/>
            <a:chOff x="0" y="0"/>
            <a:chExt cx="1345016" cy="419100"/>
          </a:xfrm>
        </p:grpSpPr>
        <p:sp>
          <p:nvSpPr>
            <p:cNvPr name="Freeform 10" id="10"/>
            <p:cNvSpPr/>
            <p:nvPr/>
          </p:nvSpPr>
          <p:spPr>
            <a:xfrm flipH="false" flipV="false" rot="0">
              <a:off x="0" y="0"/>
              <a:ext cx="1345016" cy="419100"/>
            </a:xfrm>
            <a:custGeom>
              <a:avLst/>
              <a:gdLst/>
              <a:ahLst/>
              <a:cxnLst/>
              <a:rect r="r" b="b" t="t" l="l"/>
              <a:pathLst>
                <a:path h="419100" w="1345016">
                  <a:moveTo>
                    <a:pt x="129857" y="0"/>
                  </a:moveTo>
                  <a:lnTo>
                    <a:pt x="1215159" y="0"/>
                  </a:lnTo>
                  <a:cubicBezTo>
                    <a:pt x="1249599" y="0"/>
                    <a:pt x="1282629" y="13681"/>
                    <a:pt x="1306982" y="38034"/>
                  </a:cubicBezTo>
                  <a:cubicBezTo>
                    <a:pt x="1331335" y="62387"/>
                    <a:pt x="1345016" y="95417"/>
                    <a:pt x="1345016" y="129857"/>
                  </a:cubicBezTo>
                  <a:lnTo>
                    <a:pt x="1345016" y="289243"/>
                  </a:lnTo>
                  <a:cubicBezTo>
                    <a:pt x="1345016" y="360961"/>
                    <a:pt x="1286877" y="419100"/>
                    <a:pt x="1215159" y="419100"/>
                  </a:cubicBezTo>
                  <a:lnTo>
                    <a:pt x="129857" y="419100"/>
                  </a:lnTo>
                  <a:cubicBezTo>
                    <a:pt x="58139" y="419100"/>
                    <a:pt x="0" y="360961"/>
                    <a:pt x="0" y="289243"/>
                  </a:cubicBezTo>
                  <a:lnTo>
                    <a:pt x="0" y="129857"/>
                  </a:lnTo>
                  <a:cubicBezTo>
                    <a:pt x="0" y="58139"/>
                    <a:pt x="58139" y="0"/>
                    <a:pt x="129857" y="0"/>
                  </a:cubicBezTo>
                  <a:close/>
                </a:path>
              </a:pathLst>
            </a:custGeom>
            <a:solidFill>
              <a:srgbClr val="E8E7E7"/>
            </a:solidFill>
            <a:ln w="38100" cap="rnd">
              <a:solidFill>
                <a:srgbClr val="000000"/>
              </a:solidFill>
              <a:prstDash val="solid"/>
              <a:round/>
            </a:ln>
          </p:spPr>
        </p:sp>
        <p:sp>
          <p:nvSpPr>
            <p:cNvPr name="TextBox 11" id="11"/>
            <p:cNvSpPr txBox="true"/>
            <p:nvPr/>
          </p:nvSpPr>
          <p:spPr>
            <a:xfrm>
              <a:off x="0" y="-9525"/>
              <a:ext cx="1345016"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CONSIST OF:</a:t>
              </a:r>
            </a:p>
          </p:txBody>
        </p:sp>
      </p:grpSp>
      <p:sp>
        <p:nvSpPr>
          <p:cNvPr name="AutoShape 12" id="12"/>
          <p:cNvSpPr/>
          <p:nvPr/>
        </p:nvSpPr>
        <p:spPr>
          <a:xfrm flipH="true" flipV="true">
            <a:off x="8739465" y="2959453"/>
            <a:ext cx="0" cy="811056"/>
          </a:xfrm>
          <a:prstGeom prst="line">
            <a:avLst/>
          </a:prstGeom>
          <a:ln cap="flat" w="38100">
            <a:solidFill>
              <a:srgbClr val="000000"/>
            </a:solidFill>
            <a:prstDash val="solid"/>
            <a:headEnd type="none" len="sm" w="sm"/>
            <a:tailEnd type="none" len="sm" w="sm"/>
          </a:ln>
        </p:spPr>
      </p:sp>
      <p:sp>
        <p:nvSpPr>
          <p:cNvPr name="AutoShape 13" id="13"/>
          <p:cNvSpPr/>
          <p:nvPr/>
        </p:nvSpPr>
        <p:spPr>
          <a:xfrm flipH="true" flipV="true">
            <a:off x="8758515" y="4655812"/>
            <a:ext cx="0" cy="676275"/>
          </a:xfrm>
          <a:prstGeom prst="line">
            <a:avLst/>
          </a:prstGeom>
          <a:ln cap="flat" w="38100">
            <a:solidFill>
              <a:srgbClr val="000000"/>
            </a:solidFill>
            <a:prstDash val="solid"/>
            <a:headEnd type="none" len="sm" w="sm"/>
            <a:tailEnd type="none" len="sm" w="sm"/>
          </a:ln>
        </p:spPr>
      </p:sp>
      <p:grpSp>
        <p:nvGrpSpPr>
          <p:cNvPr name="Group 14" id="14"/>
          <p:cNvGrpSpPr/>
          <p:nvPr/>
        </p:nvGrpSpPr>
        <p:grpSpPr>
          <a:xfrm rot="0">
            <a:off x="7212189" y="5332087"/>
            <a:ext cx="3092652" cy="691686"/>
            <a:chOff x="0" y="0"/>
            <a:chExt cx="3922907" cy="877376"/>
          </a:xfrm>
        </p:grpSpPr>
        <p:sp>
          <p:nvSpPr>
            <p:cNvPr name="Freeform 15" id="15"/>
            <p:cNvSpPr/>
            <p:nvPr/>
          </p:nvSpPr>
          <p:spPr>
            <a:xfrm flipH="false" flipV="false" rot="0">
              <a:off x="0" y="0"/>
              <a:ext cx="3922907" cy="877376"/>
            </a:xfrm>
            <a:custGeom>
              <a:avLst/>
              <a:gdLst/>
              <a:ahLst/>
              <a:cxnLst/>
              <a:rect r="r" b="b" t="t" l="l"/>
              <a:pathLst>
                <a:path h="877376" w="3922907">
                  <a:moveTo>
                    <a:pt x="119299" y="0"/>
                  </a:moveTo>
                  <a:lnTo>
                    <a:pt x="3803608" y="0"/>
                  </a:lnTo>
                  <a:cubicBezTo>
                    <a:pt x="3869495" y="0"/>
                    <a:pt x="3922907" y="53412"/>
                    <a:pt x="3922907" y="119299"/>
                  </a:cubicBezTo>
                  <a:lnTo>
                    <a:pt x="3922907" y="758077"/>
                  </a:lnTo>
                  <a:cubicBezTo>
                    <a:pt x="3922907" y="823964"/>
                    <a:pt x="3869495" y="877376"/>
                    <a:pt x="3803608" y="877376"/>
                  </a:cubicBezTo>
                  <a:lnTo>
                    <a:pt x="119299" y="877376"/>
                  </a:lnTo>
                  <a:cubicBezTo>
                    <a:pt x="53412" y="877376"/>
                    <a:pt x="0" y="823964"/>
                    <a:pt x="0" y="758077"/>
                  </a:cubicBezTo>
                  <a:lnTo>
                    <a:pt x="0" y="119299"/>
                  </a:lnTo>
                  <a:cubicBezTo>
                    <a:pt x="0" y="53412"/>
                    <a:pt x="53412" y="0"/>
                    <a:pt x="119299" y="0"/>
                  </a:cubicBezTo>
                  <a:close/>
                </a:path>
              </a:pathLst>
            </a:custGeom>
            <a:solidFill>
              <a:srgbClr val="E8E7E7"/>
            </a:solidFill>
            <a:ln w="38100" cap="rnd">
              <a:solidFill>
                <a:srgbClr val="000000"/>
              </a:solidFill>
              <a:prstDash val="solid"/>
              <a:round/>
            </a:ln>
          </p:spPr>
        </p:sp>
        <p:sp>
          <p:nvSpPr>
            <p:cNvPr name="TextBox 16" id="16"/>
            <p:cNvSpPr txBox="true"/>
            <p:nvPr/>
          </p:nvSpPr>
          <p:spPr>
            <a:xfrm>
              <a:off x="0" y="-9525"/>
              <a:ext cx="3922907" cy="886901"/>
            </a:xfrm>
            <a:prstGeom prst="rect">
              <a:avLst/>
            </a:prstGeom>
          </p:spPr>
          <p:txBody>
            <a:bodyPr anchor="ctr" rtlCol="false" tIns="50800" lIns="50800" bIns="50800" rIns="50800"/>
            <a:lstStyle/>
            <a:p>
              <a:pPr algn="just">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ANALYST PURPOSE</a:t>
              </a:r>
            </a:p>
          </p:txBody>
        </p:sp>
      </p:grpSp>
      <p:sp>
        <p:nvSpPr>
          <p:cNvPr name="TextBox 17" id="17"/>
          <p:cNvSpPr txBox="true"/>
          <p:nvPr/>
        </p:nvSpPr>
        <p:spPr>
          <a:xfrm rot="0">
            <a:off x="7318864" y="6252373"/>
            <a:ext cx="6392863" cy="2060448"/>
          </a:xfrm>
          <a:prstGeom prst="rect">
            <a:avLst/>
          </a:prstGeom>
        </p:spPr>
        <p:txBody>
          <a:bodyPr anchor="t" rtlCol="false" tIns="0" lIns="0" bIns="0" rIns="0">
            <a:spAutoFit/>
          </a:bodyPr>
          <a:lstStyle/>
          <a:p>
            <a:pPr algn="just">
              <a:lnSpc>
                <a:spcPts val="2736"/>
              </a:lnSpc>
            </a:pPr>
            <a:r>
              <a:rPr lang="en-US" sz="1800" spc="-107">
                <a:solidFill>
                  <a:srgbClr val="1E1E1E"/>
                </a:solidFill>
                <a:latin typeface="Times New Roman"/>
                <a:ea typeface="Times New Roman"/>
                <a:cs typeface="Times New Roman"/>
                <a:sym typeface="Times New Roman"/>
              </a:rPr>
              <a:t>Analisis ini bertujuan untuk :</a:t>
            </a:r>
          </a:p>
          <a:p>
            <a:pPr algn="just" marL="388620" indent="-194310" lvl="1">
              <a:lnSpc>
                <a:spcPts val="2736"/>
              </a:lnSpc>
              <a:buFont typeface="Arial"/>
              <a:buChar char="•"/>
            </a:pPr>
            <a:r>
              <a:rPr lang="en-US" sz="1800" spc="-107">
                <a:solidFill>
                  <a:srgbClr val="1E1E1E"/>
                </a:solidFill>
                <a:latin typeface="Times New Roman"/>
                <a:ea typeface="Times New Roman"/>
                <a:cs typeface="Times New Roman"/>
                <a:sym typeface="Times New Roman"/>
              </a:rPr>
              <a:t>Mengidentifikasi faktor utama yang mempengaruhi Trip Price</a:t>
            </a:r>
          </a:p>
          <a:p>
            <a:pPr algn="just" marL="388620" indent="-194310" lvl="1">
              <a:lnSpc>
                <a:spcPts val="2736"/>
              </a:lnSpc>
              <a:buFont typeface="Arial"/>
              <a:buChar char="•"/>
            </a:pPr>
            <a:r>
              <a:rPr lang="en-US" sz="1800" spc="-107">
                <a:solidFill>
                  <a:srgbClr val="1E1E1E"/>
                </a:solidFill>
                <a:latin typeface="Times New Roman"/>
                <a:ea typeface="Times New Roman"/>
                <a:cs typeface="Times New Roman"/>
                <a:sym typeface="Times New Roman"/>
              </a:rPr>
              <a:t>Mengukur kekuatan hubungan antara variabel numerik dan harga perjalanan</a:t>
            </a:r>
          </a:p>
          <a:p>
            <a:pPr algn="just" marL="388620" indent="-194310" lvl="1">
              <a:lnSpc>
                <a:spcPts val="2736"/>
              </a:lnSpc>
              <a:buFont typeface="Arial"/>
              <a:buChar char="•"/>
            </a:pPr>
            <a:r>
              <a:rPr lang="en-US" sz="1800" spc="-107">
                <a:solidFill>
                  <a:srgbClr val="1E1E1E"/>
                </a:solidFill>
                <a:latin typeface="Times New Roman"/>
                <a:ea typeface="Times New Roman"/>
                <a:cs typeface="Times New Roman"/>
                <a:sym typeface="Times New Roman"/>
              </a:rPr>
              <a:t>Menganalisis dampak variabel kategorikal terhadap harga</a:t>
            </a:r>
          </a:p>
          <a:p>
            <a:pPr algn="just" marL="388620" indent="-194310" lvl="1">
              <a:lnSpc>
                <a:spcPts val="2736"/>
              </a:lnSpc>
              <a:buFont typeface="Arial"/>
              <a:buChar char="•"/>
            </a:pPr>
            <a:r>
              <a:rPr lang="en-US" sz="1800" spc="-107">
                <a:solidFill>
                  <a:srgbClr val="1E1E1E"/>
                </a:solidFill>
                <a:latin typeface="Times New Roman"/>
                <a:ea typeface="Times New Roman"/>
                <a:cs typeface="Times New Roman"/>
                <a:sym typeface="Times New Roman"/>
              </a:rPr>
              <a:t>Mengidentifikasi segmen perjalanan dengan kontribusi revenue terbesar</a:t>
            </a:r>
          </a:p>
          <a:p>
            <a:pPr algn="just" marL="388620" indent="-194310" lvl="1">
              <a:lnSpc>
                <a:spcPts val="2736"/>
              </a:lnSpc>
              <a:buFont typeface="Arial"/>
              <a:buChar char="•"/>
            </a:pPr>
            <a:r>
              <a:rPr lang="en-US" sz="1800" spc="-107">
                <a:solidFill>
                  <a:srgbClr val="1E1E1E"/>
                </a:solidFill>
                <a:latin typeface="Times New Roman"/>
                <a:ea typeface="Times New Roman"/>
                <a:cs typeface="Times New Roman"/>
                <a:sym typeface="Times New Roman"/>
              </a:rPr>
              <a:t>Memberikan insight strategis untuk optimalisasi sistem pricing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350436" y="189527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6961694" y="2074149"/>
            <a:ext cx="3555542" cy="885304"/>
            <a:chOff x="0" y="0"/>
            <a:chExt cx="1683183" cy="419100"/>
          </a:xfrm>
        </p:grpSpPr>
        <p:sp>
          <p:nvSpPr>
            <p:cNvPr name="Freeform 5" id="5"/>
            <p:cNvSpPr/>
            <p:nvPr/>
          </p:nvSpPr>
          <p:spPr>
            <a:xfrm flipH="false" flipV="false" rot="0">
              <a:off x="0" y="0"/>
              <a:ext cx="1683183" cy="419100"/>
            </a:xfrm>
            <a:custGeom>
              <a:avLst/>
              <a:gdLst/>
              <a:ahLst/>
              <a:cxnLst/>
              <a:rect r="r" b="b" t="t" l="l"/>
              <a:pathLst>
                <a:path h="419100" w="1683183">
                  <a:moveTo>
                    <a:pt x="103768" y="0"/>
                  </a:moveTo>
                  <a:lnTo>
                    <a:pt x="1579415" y="0"/>
                  </a:lnTo>
                  <a:cubicBezTo>
                    <a:pt x="1606936" y="0"/>
                    <a:pt x="1633330" y="10933"/>
                    <a:pt x="1652790" y="30393"/>
                  </a:cubicBezTo>
                  <a:cubicBezTo>
                    <a:pt x="1672250" y="49853"/>
                    <a:pt x="1683183" y="76247"/>
                    <a:pt x="1683183" y="103768"/>
                  </a:cubicBezTo>
                  <a:lnTo>
                    <a:pt x="1683183" y="315332"/>
                  </a:lnTo>
                  <a:cubicBezTo>
                    <a:pt x="1683183" y="372642"/>
                    <a:pt x="1636724" y="419100"/>
                    <a:pt x="1579415" y="419100"/>
                  </a:cubicBezTo>
                  <a:lnTo>
                    <a:pt x="103768" y="419100"/>
                  </a:lnTo>
                  <a:cubicBezTo>
                    <a:pt x="46458" y="419100"/>
                    <a:pt x="0" y="372642"/>
                    <a:pt x="0" y="315332"/>
                  </a:cubicBezTo>
                  <a:lnTo>
                    <a:pt x="0" y="103768"/>
                  </a:lnTo>
                  <a:cubicBezTo>
                    <a:pt x="0" y="46458"/>
                    <a:pt x="46458" y="0"/>
                    <a:pt x="103768"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1683183"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PROBLEM STATEMENT</a:t>
              </a:r>
            </a:p>
          </p:txBody>
        </p:sp>
      </p:grpSp>
      <p:sp>
        <p:nvSpPr>
          <p:cNvPr name="TextBox 7" id="7"/>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8" id="8"/>
          <p:cNvSpPr txBox="true"/>
          <p:nvPr/>
        </p:nvSpPr>
        <p:spPr>
          <a:xfrm rot="0">
            <a:off x="6039277" y="738958"/>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grpSp>
        <p:nvGrpSpPr>
          <p:cNvPr name="Group 9" id="9"/>
          <p:cNvGrpSpPr/>
          <p:nvPr/>
        </p:nvGrpSpPr>
        <p:grpSpPr>
          <a:xfrm rot="0">
            <a:off x="7318864" y="3770509"/>
            <a:ext cx="2841202" cy="885304"/>
            <a:chOff x="0" y="0"/>
            <a:chExt cx="1345016" cy="419100"/>
          </a:xfrm>
        </p:grpSpPr>
        <p:sp>
          <p:nvSpPr>
            <p:cNvPr name="Freeform 10" id="10"/>
            <p:cNvSpPr/>
            <p:nvPr/>
          </p:nvSpPr>
          <p:spPr>
            <a:xfrm flipH="false" flipV="false" rot="0">
              <a:off x="0" y="0"/>
              <a:ext cx="1345016" cy="419100"/>
            </a:xfrm>
            <a:custGeom>
              <a:avLst/>
              <a:gdLst/>
              <a:ahLst/>
              <a:cxnLst/>
              <a:rect r="r" b="b" t="t" l="l"/>
              <a:pathLst>
                <a:path h="419100" w="1345016">
                  <a:moveTo>
                    <a:pt x="129857" y="0"/>
                  </a:moveTo>
                  <a:lnTo>
                    <a:pt x="1215159" y="0"/>
                  </a:lnTo>
                  <a:cubicBezTo>
                    <a:pt x="1249599" y="0"/>
                    <a:pt x="1282629" y="13681"/>
                    <a:pt x="1306982" y="38034"/>
                  </a:cubicBezTo>
                  <a:cubicBezTo>
                    <a:pt x="1331335" y="62387"/>
                    <a:pt x="1345016" y="95417"/>
                    <a:pt x="1345016" y="129857"/>
                  </a:cubicBezTo>
                  <a:lnTo>
                    <a:pt x="1345016" y="289243"/>
                  </a:lnTo>
                  <a:cubicBezTo>
                    <a:pt x="1345016" y="360961"/>
                    <a:pt x="1286877" y="419100"/>
                    <a:pt x="1215159" y="419100"/>
                  </a:cubicBezTo>
                  <a:lnTo>
                    <a:pt x="129857" y="419100"/>
                  </a:lnTo>
                  <a:cubicBezTo>
                    <a:pt x="58139" y="419100"/>
                    <a:pt x="0" y="360961"/>
                    <a:pt x="0" y="289243"/>
                  </a:cubicBezTo>
                  <a:lnTo>
                    <a:pt x="0" y="129857"/>
                  </a:lnTo>
                  <a:cubicBezTo>
                    <a:pt x="0" y="58139"/>
                    <a:pt x="58139" y="0"/>
                    <a:pt x="129857" y="0"/>
                  </a:cubicBezTo>
                  <a:close/>
                </a:path>
              </a:pathLst>
            </a:custGeom>
            <a:solidFill>
              <a:srgbClr val="E8E7E7"/>
            </a:solidFill>
            <a:ln w="38100" cap="rnd">
              <a:solidFill>
                <a:srgbClr val="000000"/>
              </a:solidFill>
              <a:prstDash val="solid"/>
              <a:round/>
            </a:ln>
          </p:spPr>
        </p:sp>
        <p:sp>
          <p:nvSpPr>
            <p:cNvPr name="TextBox 11" id="11"/>
            <p:cNvSpPr txBox="true"/>
            <p:nvPr/>
          </p:nvSpPr>
          <p:spPr>
            <a:xfrm>
              <a:off x="0" y="-9525"/>
              <a:ext cx="1345016"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CONSIST OF:</a:t>
              </a:r>
            </a:p>
          </p:txBody>
        </p:sp>
      </p:grpSp>
      <p:sp>
        <p:nvSpPr>
          <p:cNvPr name="AutoShape 12" id="12"/>
          <p:cNvSpPr/>
          <p:nvPr/>
        </p:nvSpPr>
        <p:spPr>
          <a:xfrm flipH="true" flipV="true">
            <a:off x="8739465" y="2959453"/>
            <a:ext cx="0" cy="811056"/>
          </a:xfrm>
          <a:prstGeom prst="line">
            <a:avLst/>
          </a:prstGeom>
          <a:ln cap="flat" w="38100">
            <a:solidFill>
              <a:srgbClr val="000000"/>
            </a:solidFill>
            <a:prstDash val="solid"/>
            <a:headEnd type="none" len="sm" w="sm"/>
            <a:tailEnd type="none" len="sm" w="sm"/>
          </a:ln>
        </p:spPr>
      </p:sp>
      <p:sp>
        <p:nvSpPr>
          <p:cNvPr name="AutoShape 13" id="13"/>
          <p:cNvSpPr/>
          <p:nvPr/>
        </p:nvSpPr>
        <p:spPr>
          <a:xfrm flipH="true" flipV="true">
            <a:off x="8758515" y="4655812"/>
            <a:ext cx="0" cy="676275"/>
          </a:xfrm>
          <a:prstGeom prst="line">
            <a:avLst/>
          </a:prstGeom>
          <a:ln cap="flat" w="38100">
            <a:solidFill>
              <a:srgbClr val="000000"/>
            </a:solidFill>
            <a:prstDash val="solid"/>
            <a:headEnd type="none" len="sm" w="sm"/>
            <a:tailEnd type="none" len="sm" w="sm"/>
          </a:ln>
        </p:spPr>
      </p:sp>
      <p:grpSp>
        <p:nvGrpSpPr>
          <p:cNvPr name="Group 14" id="14"/>
          <p:cNvGrpSpPr/>
          <p:nvPr/>
        </p:nvGrpSpPr>
        <p:grpSpPr>
          <a:xfrm rot="0">
            <a:off x="7166643" y="5332087"/>
            <a:ext cx="3183744" cy="691686"/>
            <a:chOff x="0" y="0"/>
            <a:chExt cx="4038454" cy="877376"/>
          </a:xfrm>
        </p:grpSpPr>
        <p:sp>
          <p:nvSpPr>
            <p:cNvPr name="Freeform 15" id="15"/>
            <p:cNvSpPr/>
            <p:nvPr/>
          </p:nvSpPr>
          <p:spPr>
            <a:xfrm flipH="false" flipV="false" rot="0">
              <a:off x="0" y="0"/>
              <a:ext cx="4038454" cy="877376"/>
            </a:xfrm>
            <a:custGeom>
              <a:avLst/>
              <a:gdLst/>
              <a:ahLst/>
              <a:cxnLst/>
              <a:rect r="r" b="b" t="t" l="l"/>
              <a:pathLst>
                <a:path h="877376" w="4038454">
                  <a:moveTo>
                    <a:pt x="115886" y="0"/>
                  </a:moveTo>
                  <a:lnTo>
                    <a:pt x="3922568" y="0"/>
                  </a:lnTo>
                  <a:cubicBezTo>
                    <a:pt x="3953303" y="0"/>
                    <a:pt x="3982779" y="12209"/>
                    <a:pt x="4004512" y="33942"/>
                  </a:cubicBezTo>
                  <a:cubicBezTo>
                    <a:pt x="4026245" y="55675"/>
                    <a:pt x="4038454" y="85151"/>
                    <a:pt x="4038454" y="115886"/>
                  </a:cubicBezTo>
                  <a:lnTo>
                    <a:pt x="4038454" y="761491"/>
                  </a:lnTo>
                  <a:cubicBezTo>
                    <a:pt x="4038454" y="792225"/>
                    <a:pt x="4026245" y="821701"/>
                    <a:pt x="4004512" y="843434"/>
                  </a:cubicBezTo>
                  <a:cubicBezTo>
                    <a:pt x="3982779" y="865167"/>
                    <a:pt x="3953303" y="877376"/>
                    <a:pt x="3922568" y="877376"/>
                  </a:cubicBezTo>
                  <a:lnTo>
                    <a:pt x="115886" y="877376"/>
                  </a:lnTo>
                  <a:cubicBezTo>
                    <a:pt x="85151" y="877376"/>
                    <a:pt x="55675" y="865167"/>
                    <a:pt x="33942" y="843434"/>
                  </a:cubicBezTo>
                  <a:cubicBezTo>
                    <a:pt x="12209" y="821701"/>
                    <a:pt x="0" y="792225"/>
                    <a:pt x="0" y="761491"/>
                  </a:cubicBezTo>
                  <a:lnTo>
                    <a:pt x="0" y="115886"/>
                  </a:lnTo>
                  <a:cubicBezTo>
                    <a:pt x="0" y="85151"/>
                    <a:pt x="12209" y="55675"/>
                    <a:pt x="33942" y="33942"/>
                  </a:cubicBezTo>
                  <a:cubicBezTo>
                    <a:pt x="55675" y="12209"/>
                    <a:pt x="85151" y="0"/>
                    <a:pt x="115886" y="0"/>
                  </a:cubicBezTo>
                  <a:close/>
                </a:path>
              </a:pathLst>
            </a:custGeom>
            <a:solidFill>
              <a:srgbClr val="E8E7E7"/>
            </a:solidFill>
            <a:ln w="38100" cap="rnd">
              <a:solidFill>
                <a:srgbClr val="000000"/>
              </a:solidFill>
              <a:prstDash val="solid"/>
              <a:round/>
            </a:ln>
          </p:spPr>
        </p:sp>
        <p:sp>
          <p:nvSpPr>
            <p:cNvPr name="TextBox 16" id="16"/>
            <p:cNvSpPr txBox="true"/>
            <p:nvPr/>
          </p:nvSpPr>
          <p:spPr>
            <a:xfrm>
              <a:off x="0" y="-9525"/>
              <a:ext cx="4038454" cy="886901"/>
            </a:xfrm>
            <a:prstGeom prst="rect">
              <a:avLst/>
            </a:prstGeom>
          </p:spPr>
          <p:txBody>
            <a:bodyPr anchor="ctr" rtlCol="false" tIns="50800" lIns="50800" bIns="50800" rIns="50800"/>
            <a:lstStyle/>
            <a:p>
              <a:pPr algn="just">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BUSINESS QUESTION:</a:t>
              </a:r>
            </a:p>
          </p:txBody>
        </p:sp>
      </p:grpSp>
      <p:sp>
        <p:nvSpPr>
          <p:cNvPr name="TextBox 17" id="17"/>
          <p:cNvSpPr txBox="true"/>
          <p:nvPr/>
        </p:nvSpPr>
        <p:spPr>
          <a:xfrm rot="0">
            <a:off x="7076258" y="6252373"/>
            <a:ext cx="4710748" cy="1031748"/>
          </a:xfrm>
          <a:prstGeom prst="rect">
            <a:avLst/>
          </a:prstGeom>
        </p:spPr>
        <p:txBody>
          <a:bodyPr anchor="t" rtlCol="false" tIns="0" lIns="0" bIns="0" rIns="0">
            <a:spAutoFit/>
          </a:bodyPr>
          <a:lstStyle/>
          <a:p>
            <a:pPr algn="just" marL="388620" indent="-194310" lvl="1">
              <a:lnSpc>
                <a:spcPts val="2736"/>
              </a:lnSpc>
              <a:buAutoNum type="arabicPeriod" startAt="1"/>
            </a:pPr>
            <a:r>
              <a:rPr lang="en-US" sz="1800" spc="-107">
                <a:solidFill>
                  <a:srgbClr val="1E1E1E"/>
                </a:solidFill>
                <a:latin typeface="Times New Roman"/>
                <a:ea typeface="Times New Roman"/>
                <a:cs typeface="Times New Roman"/>
                <a:sym typeface="Times New Roman"/>
              </a:rPr>
              <a:t>Faktor apa yang palling kuat mempengaruhi Harga?</a:t>
            </a:r>
          </a:p>
          <a:p>
            <a:pPr algn="just" marL="388620" indent="-194310" lvl="1">
              <a:lnSpc>
                <a:spcPts val="2736"/>
              </a:lnSpc>
              <a:buAutoNum type="arabicPeriod" startAt="1"/>
            </a:pPr>
            <a:r>
              <a:rPr lang="en-US" sz="1800" spc="-107">
                <a:solidFill>
                  <a:srgbClr val="1E1E1E"/>
                </a:solidFill>
                <a:latin typeface="Times New Roman"/>
                <a:ea typeface="Times New Roman"/>
                <a:cs typeface="Times New Roman"/>
                <a:sym typeface="Times New Roman"/>
              </a:rPr>
              <a:t>Bagaimana pengaruh faktor eksternal terhadap Harga ?</a:t>
            </a:r>
          </a:p>
          <a:p>
            <a:pPr algn="just" marL="388620" indent="-194310" lvl="1">
              <a:lnSpc>
                <a:spcPts val="2736"/>
              </a:lnSpc>
              <a:buAutoNum type="arabicPeriod" startAt="1"/>
            </a:pPr>
            <a:r>
              <a:rPr lang="en-US" sz="1800" spc="-107">
                <a:solidFill>
                  <a:srgbClr val="1E1E1E"/>
                </a:solidFill>
                <a:latin typeface="Times New Roman"/>
                <a:ea typeface="Times New Roman"/>
                <a:cs typeface="Times New Roman"/>
                <a:sym typeface="Times New Roman"/>
              </a:rPr>
              <a:t>Segmen mana yang berkontribusi terhadap revenue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350436" y="189527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6975172" y="1993280"/>
            <a:ext cx="3555542" cy="885304"/>
            <a:chOff x="0" y="0"/>
            <a:chExt cx="1683183" cy="419100"/>
          </a:xfrm>
        </p:grpSpPr>
        <p:sp>
          <p:nvSpPr>
            <p:cNvPr name="Freeform 5" id="5"/>
            <p:cNvSpPr/>
            <p:nvPr/>
          </p:nvSpPr>
          <p:spPr>
            <a:xfrm flipH="false" flipV="false" rot="0">
              <a:off x="0" y="0"/>
              <a:ext cx="1683183" cy="419100"/>
            </a:xfrm>
            <a:custGeom>
              <a:avLst/>
              <a:gdLst/>
              <a:ahLst/>
              <a:cxnLst/>
              <a:rect r="r" b="b" t="t" l="l"/>
              <a:pathLst>
                <a:path h="419100" w="1683183">
                  <a:moveTo>
                    <a:pt x="103768" y="0"/>
                  </a:moveTo>
                  <a:lnTo>
                    <a:pt x="1579415" y="0"/>
                  </a:lnTo>
                  <a:cubicBezTo>
                    <a:pt x="1606936" y="0"/>
                    <a:pt x="1633330" y="10933"/>
                    <a:pt x="1652790" y="30393"/>
                  </a:cubicBezTo>
                  <a:cubicBezTo>
                    <a:pt x="1672250" y="49853"/>
                    <a:pt x="1683183" y="76247"/>
                    <a:pt x="1683183" y="103768"/>
                  </a:cubicBezTo>
                  <a:lnTo>
                    <a:pt x="1683183" y="315332"/>
                  </a:lnTo>
                  <a:cubicBezTo>
                    <a:pt x="1683183" y="372642"/>
                    <a:pt x="1636724" y="419100"/>
                    <a:pt x="1579415" y="419100"/>
                  </a:cubicBezTo>
                  <a:lnTo>
                    <a:pt x="103768" y="419100"/>
                  </a:lnTo>
                  <a:cubicBezTo>
                    <a:pt x="46458" y="419100"/>
                    <a:pt x="0" y="372642"/>
                    <a:pt x="0" y="315332"/>
                  </a:cubicBezTo>
                  <a:lnTo>
                    <a:pt x="0" y="103768"/>
                  </a:lnTo>
                  <a:cubicBezTo>
                    <a:pt x="0" y="46458"/>
                    <a:pt x="46458" y="0"/>
                    <a:pt x="103768"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1683183"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DATA UNDERSTANDING</a:t>
              </a:r>
            </a:p>
          </p:txBody>
        </p:sp>
      </p:grpSp>
      <p:sp>
        <p:nvSpPr>
          <p:cNvPr name="TextBox 7" id="7"/>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8" id="8"/>
          <p:cNvSpPr txBox="true"/>
          <p:nvPr/>
        </p:nvSpPr>
        <p:spPr>
          <a:xfrm rot="0">
            <a:off x="6039277" y="738958"/>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grpSp>
        <p:nvGrpSpPr>
          <p:cNvPr name="Group 9" id="9"/>
          <p:cNvGrpSpPr/>
          <p:nvPr/>
        </p:nvGrpSpPr>
        <p:grpSpPr>
          <a:xfrm rot="0">
            <a:off x="7332342" y="3426062"/>
            <a:ext cx="2841202" cy="885304"/>
            <a:chOff x="0" y="0"/>
            <a:chExt cx="1345016" cy="419100"/>
          </a:xfrm>
        </p:grpSpPr>
        <p:sp>
          <p:nvSpPr>
            <p:cNvPr name="Freeform 10" id="10"/>
            <p:cNvSpPr/>
            <p:nvPr/>
          </p:nvSpPr>
          <p:spPr>
            <a:xfrm flipH="false" flipV="false" rot="0">
              <a:off x="0" y="0"/>
              <a:ext cx="1345016" cy="419100"/>
            </a:xfrm>
            <a:custGeom>
              <a:avLst/>
              <a:gdLst/>
              <a:ahLst/>
              <a:cxnLst/>
              <a:rect r="r" b="b" t="t" l="l"/>
              <a:pathLst>
                <a:path h="419100" w="1345016">
                  <a:moveTo>
                    <a:pt x="129857" y="0"/>
                  </a:moveTo>
                  <a:lnTo>
                    <a:pt x="1215159" y="0"/>
                  </a:lnTo>
                  <a:cubicBezTo>
                    <a:pt x="1249599" y="0"/>
                    <a:pt x="1282629" y="13681"/>
                    <a:pt x="1306982" y="38034"/>
                  </a:cubicBezTo>
                  <a:cubicBezTo>
                    <a:pt x="1331335" y="62387"/>
                    <a:pt x="1345016" y="95417"/>
                    <a:pt x="1345016" y="129857"/>
                  </a:cubicBezTo>
                  <a:lnTo>
                    <a:pt x="1345016" y="289243"/>
                  </a:lnTo>
                  <a:cubicBezTo>
                    <a:pt x="1345016" y="360961"/>
                    <a:pt x="1286877" y="419100"/>
                    <a:pt x="1215159" y="419100"/>
                  </a:cubicBezTo>
                  <a:lnTo>
                    <a:pt x="129857" y="419100"/>
                  </a:lnTo>
                  <a:cubicBezTo>
                    <a:pt x="58139" y="419100"/>
                    <a:pt x="0" y="360961"/>
                    <a:pt x="0" y="289243"/>
                  </a:cubicBezTo>
                  <a:lnTo>
                    <a:pt x="0" y="129857"/>
                  </a:lnTo>
                  <a:cubicBezTo>
                    <a:pt x="0" y="58139"/>
                    <a:pt x="58139" y="0"/>
                    <a:pt x="129857" y="0"/>
                  </a:cubicBezTo>
                  <a:close/>
                </a:path>
              </a:pathLst>
            </a:custGeom>
            <a:solidFill>
              <a:srgbClr val="E8E7E7"/>
            </a:solidFill>
            <a:ln w="38100" cap="rnd">
              <a:solidFill>
                <a:srgbClr val="000000"/>
              </a:solidFill>
              <a:prstDash val="solid"/>
              <a:round/>
            </a:ln>
          </p:spPr>
        </p:sp>
        <p:sp>
          <p:nvSpPr>
            <p:cNvPr name="TextBox 11" id="11"/>
            <p:cNvSpPr txBox="true"/>
            <p:nvPr/>
          </p:nvSpPr>
          <p:spPr>
            <a:xfrm>
              <a:off x="0" y="-9525"/>
              <a:ext cx="1345016"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CONSIST OF:</a:t>
              </a:r>
            </a:p>
          </p:txBody>
        </p:sp>
      </p:grpSp>
      <p:sp>
        <p:nvSpPr>
          <p:cNvPr name="AutoShape 12" id="12"/>
          <p:cNvSpPr/>
          <p:nvPr/>
        </p:nvSpPr>
        <p:spPr>
          <a:xfrm flipV="true">
            <a:off x="8752943" y="2878584"/>
            <a:ext cx="0" cy="547478"/>
          </a:xfrm>
          <a:prstGeom prst="line">
            <a:avLst/>
          </a:prstGeom>
          <a:ln cap="flat" w="38100">
            <a:solidFill>
              <a:srgbClr val="000000"/>
            </a:solidFill>
            <a:prstDash val="solid"/>
            <a:headEnd type="none" len="sm" w="sm"/>
            <a:tailEnd type="none" len="sm" w="sm"/>
          </a:ln>
        </p:spPr>
      </p:sp>
      <p:grpSp>
        <p:nvGrpSpPr>
          <p:cNvPr name="Group 13" id="13"/>
          <p:cNvGrpSpPr/>
          <p:nvPr/>
        </p:nvGrpSpPr>
        <p:grpSpPr>
          <a:xfrm rot="0">
            <a:off x="268665" y="5320169"/>
            <a:ext cx="3118729" cy="688503"/>
            <a:chOff x="0" y="0"/>
            <a:chExt cx="3974276" cy="877376"/>
          </a:xfrm>
        </p:grpSpPr>
        <p:sp>
          <p:nvSpPr>
            <p:cNvPr name="Freeform 14" id="14"/>
            <p:cNvSpPr/>
            <p:nvPr/>
          </p:nvSpPr>
          <p:spPr>
            <a:xfrm flipH="false" flipV="false" rot="0">
              <a:off x="0" y="0"/>
              <a:ext cx="3974276" cy="877376"/>
            </a:xfrm>
            <a:custGeom>
              <a:avLst/>
              <a:gdLst/>
              <a:ahLst/>
              <a:cxnLst/>
              <a:rect r="r" b="b" t="t" l="l"/>
              <a:pathLst>
                <a:path h="877376" w="3974276">
                  <a:moveTo>
                    <a:pt x="118302" y="0"/>
                  </a:moveTo>
                  <a:lnTo>
                    <a:pt x="3855974" y="0"/>
                  </a:lnTo>
                  <a:cubicBezTo>
                    <a:pt x="3921310" y="0"/>
                    <a:pt x="3974276" y="52965"/>
                    <a:pt x="3974276" y="118302"/>
                  </a:cubicBezTo>
                  <a:lnTo>
                    <a:pt x="3974276" y="759075"/>
                  </a:lnTo>
                  <a:cubicBezTo>
                    <a:pt x="3974276" y="824411"/>
                    <a:pt x="3921310" y="877376"/>
                    <a:pt x="3855974" y="877376"/>
                  </a:cubicBezTo>
                  <a:lnTo>
                    <a:pt x="118302" y="877376"/>
                  </a:lnTo>
                  <a:cubicBezTo>
                    <a:pt x="86926" y="877376"/>
                    <a:pt x="56836" y="864913"/>
                    <a:pt x="34650" y="842727"/>
                  </a:cubicBezTo>
                  <a:cubicBezTo>
                    <a:pt x="12464" y="820541"/>
                    <a:pt x="0" y="790450"/>
                    <a:pt x="0" y="759075"/>
                  </a:cubicBezTo>
                  <a:lnTo>
                    <a:pt x="0" y="118302"/>
                  </a:lnTo>
                  <a:cubicBezTo>
                    <a:pt x="0" y="86926"/>
                    <a:pt x="12464" y="56836"/>
                    <a:pt x="34650" y="34650"/>
                  </a:cubicBezTo>
                  <a:cubicBezTo>
                    <a:pt x="56836" y="12464"/>
                    <a:pt x="86926" y="0"/>
                    <a:pt x="118302" y="0"/>
                  </a:cubicBezTo>
                  <a:close/>
                </a:path>
              </a:pathLst>
            </a:custGeom>
            <a:solidFill>
              <a:srgbClr val="E8E7E7"/>
            </a:solidFill>
            <a:ln w="38100" cap="rnd">
              <a:solidFill>
                <a:srgbClr val="000000"/>
              </a:solidFill>
              <a:prstDash val="solid"/>
              <a:round/>
            </a:ln>
          </p:spPr>
        </p:sp>
        <p:sp>
          <p:nvSpPr>
            <p:cNvPr name="TextBox 15" id="15"/>
            <p:cNvSpPr txBox="true"/>
            <p:nvPr/>
          </p:nvSpPr>
          <p:spPr>
            <a:xfrm>
              <a:off x="0" y="-9525"/>
              <a:ext cx="3974276" cy="886901"/>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SUMBER DATA</a:t>
              </a:r>
            </a:p>
          </p:txBody>
        </p:sp>
      </p:grpSp>
      <p:sp>
        <p:nvSpPr>
          <p:cNvPr name="TextBox 16" id="16"/>
          <p:cNvSpPr txBox="true"/>
          <p:nvPr/>
        </p:nvSpPr>
        <p:spPr>
          <a:xfrm rot="0">
            <a:off x="411742" y="8111354"/>
            <a:ext cx="2832576" cy="569595"/>
          </a:xfrm>
          <a:prstGeom prst="rect">
            <a:avLst/>
          </a:prstGeom>
        </p:spPr>
        <p:txBody>
          <a:bodyPr anchor="t" rtlCol="false" tIns="0" lIns="0" bIns="0" rIns="0">
            <a:spAutoFit/>
          </a:bodyPr>
          <a:lstStyle/>
          <a:p>
            <a:pPr algn="just">
              <a:lnSpc>
                <a:spcPts val="4590"/>
              </a:lnSpc>
            </a:pPr>
            <a:r>
              <a:rPr lang="en-US" sz="3000" spc="-179">
                <a:solidFill>
                  <a:srgbClr val="1E1E1E"/>
                </a:solidFill>
                <a:latin typeface="Times New Roman"/>
                <a:ea typeface="Times New Roman"/>
                <a:cs typeface="Times New Roman"/>
                <a:sym typeface="Times New Roman"/>
              </a:rPr>
              <a:t>Taxi Trip Price.csv</a:t>
            </a:r>
          </a:p>
        </p:txBody>
      </p:sp>
      <p:sp>
        <p:nvSpPr>
          <p:cNvPr name="AutoShape 17" id="17"/>
          <p:cNvSpPr/>
          <p:nvPr/>
        </p:nvSpPr>
        <p:spPr>
          <a:xfrm flipH="true">
            <a:off x="1625858" y="4311365"/>
            <a:ext cx="7127085" cy="1008804"/>
          </a:xfrm>
          <a:prstGeom prst="line">
            <a:avLst/>
          </a:prstGeom>
          <a:ln cap="flat" w="38100">
            <a:solidFill>
              <a:srgbClr val="000000"/>
            </a:solidFill>
            <a:prstDash val="solid"/>
            <a:headEnd type="none" len="sm" w="sm"/>
            <a:tailEnd type="none" len="sm" w="sm"/>
          </a:ln>
        </p:spPr>
      </p:sp>
      <p:sp>
        <p:nvSpPr>
          <p:cNvPr name="TextBox 18" id="18"/>
          <p:cNvSpPr txBox="true"/>
          <p:nvPr/>
        </p:nvSpPr>
        <p:spPr>
          <a:xfrm rot="0">
            <a:off x="367450" y="8916352"/>
            <a:ext cx="2456180" cy="569595"/>
          </a:xfrm>
          <a:prstGeom prst="rect">
            <a:avLst/>
          </a:prstGeom>
        </p:spPr>
        <p:txBody>
          <a:bodyPr anchor="t" rtlCol="false" tIns="0" lIns="0" bIns="0" rIns="0">
            <a:spAutoFit/>
          </a:bodyPr>
          <a:lstStyle/>
          <a:p>
            <a:pPr algn="just">
              <a:lnSpc>
                <a:spcPts val="4590"/>
              </a:lnSpc>
            </a:pPr>
            <a:r>
              <a:rPr lang="en-US" sz="3000" spc="-179">
                <a:solidFill>
                  <a:srgbClr val="1E1E1E"/>
                </a:solidFill>
                <a:latin typeface="Times New Roman"/>
                <a:ea typeface="Times New Roman"/>
                <a:cs typeface="Times New Roman"/>
                <a:sym typeface="Times New Roman"/>
              </a:rPr>
              <a:t>Data Transactional</a:t>
            </a:r>
          </a:p>
        </p:txBody>
      </p:sp>
      <p:grpSp>
        <p:nvGrpSpPr>
          <p:cNvPr name="Group 19" id="19"/>
          <p:cNvGrpSpPr/>
          <p:nvPr/>
        </p:nvGrpSpPr>
        <p:grpSpPr>
          <a:xfrm rot="0">
            <a:off x="6735323" y="5320169"/>
            <a:ext cx="4035241" cy="688503"/>
            <a:chOff x="0" y="0"/>
            <a:chExt cx="5142210" cy="877376"/>
          </a:xfrm>
        </p:grpSpPr>
        <p:sp>
          <p:nvSpPr>
            <p:cNvPr name="Freeform 20" id="20"/>
            <p:cNvSpPr/>
            <p:nvPr/>
          </p:nvSpPr>
          <p:spPr>
            <a:xfrm flipH="false" flipV="false" rot="0">
              <a:off x="0" y="0"/>
              <a:ext cx="5142210" cy="877376"/>
            </a:xfrm>
            <a:custGeom>
              <a:avLst/>
              <a:gdLst/>
              <a:ahLst/>
              <a:cxnLst/>
              <a:rect r="r" b="b" t="t" l="l"/>
              <a:pathLst>
                <a:path h="877376" w="5142210">
                  <a:moveTo>
                    <a:pt x="91432" y="0"/>
                  </a:moveTo>
                  <a:lnTo>
                    <a:pt x="5050778" y="0"/>
                  </a:lnTo>
                  <a:cubicBezTo>
                    <a:pt x="5101274" y="0"/>
                    <a:pt x="5142210" y="40936"/>
                    <a:pt x="5142210" y="91432"/>
                  </a:cubicBezTo>
                  <a:lnTo>
                    <a:pt x="5142210" y="785944"/>
                  </a:lnTo>
                  <a:cubicBezTo>
                    <a:pt x="5142210" y="810194"/>
                    <a:pt x="5132577" y="833450"/>
                    <a:pt x="5115430" y="850597"/>
                  </a:cubicBezTo>
                  <a:cubicBezTo>
                    <a:pt x="5098283" y="867743"/>
                    <a:pt x="5075027" y="877376"/>
                    <a:pt x="5050778" y="877376"/>
                  </a:cubicBezTo>
                  <a:lnTo>
                    <a:pt x="91432" y="877376"/>
                  </a:lnTo>
                  <a:cubicBezTo>
                    <a:pt x="67183" y="877376"/>
                    <a:pt x="43927" y="867743"/>
                    <a:pt x="26780" y="850597"/>
                  </a:cubicBezTo>
                  <a:cubicBezTo>
                    <a:pt x="9633" y="833450"/>
                    <a:pt x="0" y="810194"/>
                    <a:pt x="0" y="785944"/>
                  </a:cubicBezTo>
                  <a:lnTo>
                    <a:pt x="0" y="91432"/>
                  </a:lnTo>
                  <a:cubicBezTo>
                    <a:pt x="0" y="67183"/>
                    <a:pt x="9633" y="43927"/>
                    <a:pt x="26780" y="26780"/>
                  </a:cubicBezTo>
                  <a:cubicBezTo>
                    <a:pt x="43927" y="9633"/>
                    <a:pt x="67183" y="0"/>
                    <a:pt x="91432" y="0"/>
                  </a:cubicBezTo>
                  <a:close/>
                </a:path>
              </a:pathLst>
            </a:custGeom>
            <a:solidFill>
              <a:srgbClr val="E8E7E7"/>
            </a:solidFill>
            <a:ln w="38100" cap="rnd">
              <a:solidFill>
                <a:srgbClr val="000000"/>
              </a:solidFill>
              <a:prstDash val="solid"/>
              <a:round/>
            </a:ln>
          </p:spPr>
        </p:sp>
        <p:sp>
          <p:nvSpPr>
            <p:cNvPr name="TextBox 21" id="21"/>
            <p:cNvSpPr txBox="true"/>
            <p:nvPr/>
          </p:nvSpPr>
          <p:spPr>
            <a:xfrm>
              <a:off x="0" y="-9525"/>
              <a:ext cx="5142210" cy="886901"/>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JUMLAH BARIS &amp; KOLOM</a:t>
              </a:r>
            </a:p>
          </p:txBody>
        </p:sp>
      </p:grpSp>
      <p:sp>
        <p:nvSpPr>
          <p:cNvPr name="TextBox 22" id="22"/>
          <p:cNvSpPr txBox="true"/>
          <p:nvPr/>
        </p:nvSpPr>
        <p:spPr>
          <a:xfrm rot="0">
            <a:off x="6975172" y="8111354"/>
            <a:ext cx="3833556" cy="569595"/>
          </a:xfrm>
          <a:prstGeom prst="rect">
            <a:avLst/>
          </a:prstGeom>
        </p:spPr>
        <p:txBody>
          <a:bodyPr anchor="t" rtlCol="false" tIns="0" lIns="0" bIns="0" rIns="0">
            <a:spAutoFit/>
          </a:bodyPr>
          <a:lstStyle/>
          <a:p>
            <a:pPr algn="just">
              <a:lnSpc>
                <a:spcPts val="4590"/>
              </a:lnSpc>
            </a:pPr>
            <a:r>
              <a:rPr lang="en-US" sz="3000" spc="-179">
                <a:solidFill>
                  <a:srgbClr val="1E1E1E"/>
                </a:solidFill>
                <a:latin typeface="Times New Roman"/>
                <a:ea typeface="Times New Roman"/>
                <a:cs typeface="Times New Roman"/>
                <a:sym typeface="Times New Roman"/>
              </a:rPr>
              <a:t>1000 Baris dan 11 Kolom</a:t>
            </a:r>
          </a:p>
        </p:txBody>
      </p:sp>
      <p:sp>
        <p:nvSpPr>
          <p:cNvPr name="AutoShape 23" id="23"/>
          <p:cNvSpPr/>
          <p:nvPr/>
        </p:nvSpPr>
        <p:spPr>
          <a:xfrm>
            <a:off x="8752943" y="4616165"/>
            <a:ext cx="0" cy="704004"/>
          </a:xfrm>
          <a:prstGeom prst="line">
            <a:avLst/>
          </a:prstGeom>
          <a:ln cap="flat" w="38100">
            <a:solidFill>
              <a:srgbClr val="000000"/>
            </a:solidFill>
            <a:prstDash val="solid"/>
            <a:headEnd type="none" len="sm" w="sm"/>
            <a:tailEnd type="none" len="sm" w="sm"/>
          </a:ln>
        </p:spPr>
      </p:sp>
      <p:sp>
        <p:nvSpPr>
          <p:cNvPr name="AutoShape 24" id="24"/>
          <p:cNvSpPr/>
          <p:nvPr/>
        </p:nvSpPr>
        <p:spPr>
          <a:xfrm>
            <a:off x="8752943" y="4311365"/>
            <a:ext cx="7405248" cy="737453"/>
          </a:xfrm>
          <a:prstGeom prst="line">
            <a:avLst/>
          </a:prstGeom>
          <a:ln cap="flat" w="38100">
            <a:solidFill>
              <a:srgbClr val="000000"/>
            </a:solidFill>
            <a:prstDash val="solid"/>
            <a:headEnd type="none" len="sm" w="sm"/>
            <a:tailEnd type="none" len="sm" w="sm"/>
          </a:ln>
        </p:spPr>
      </p:sp>
      <p:grpSp>
        <p:nvGrpSpPr>
          <p:cNvPr name="Group 25" id="25"/>
          <p:cNvGrpSpPr/>
          <p:nvPr/>
        </p:nvGrpSpPr>
        <p:grpSpPr>
          <a:xfrm rot="0">
            <a:off x="13561012" y="5048818"/>
            <a:ext cx="4547409" cy="1069467"/>
            <a:chOff x="0" y="0"/>
            <a:chExt cx="5794879" cy="1362849"/>
          </a:xfrm>
        </p:grpSpPr>
        <p:sp>
          <p:nvSpPr>
            <p:cNvPr name="Freeform 26" id="26"/>
            <p:cNvSpPr/>
            <p:nvPr/>
          </p:nvSpPr>
          <p:spPr>
            <a:xfrm flipH="false" flipV="false" rot="0">
              <a:off x="0" y="0"/>
              <a:ext cx="5794879" cy="1362849"/>
            </a:xfrm>
            <a:custGeom>
              <a:avLst/>
              <a:gdLst/>
              <a:ahLst/>
              <a:cxnLst/>
              <a:rect r="r" b="b" t="t" l="l"/>
              <a:pathLst>
                <a:path h="1362849" w="5794879">
                  <a:moveTo>
                    <a:pt x="81134" y="0"/>
                  </a:moveTo>
                  <a:lnTo>
                    <a:pt x="5713745" y="0"/>
                  </a:lnTo>
                  <a:cubicBezTo>
                    <a:pt x="5735263" y="0"/>
                    <a:pt x="5755899" y="8548"/>
                    <a:pt x="5771115" y="23764"/>
                  </a:cubicBezTo>
                  <a:cubicBezTo>
                    <a:pt x="5786331" y="38979"/>
                    <a:pt x="5794879" y="59616"/>
                    <a:pt x="5794879" y="81134"/>
                  </a:cubicBezTo>
                  <a:lnTo>
                    <a:pt x="5794879" y="1281715"/>
                  </a:lnTo>
                  <a:cubicBezTo>
                    <a:pt x="5794879" y="1303233"/>
                    <a:pt x="5786331" y="1323870"/>
                    <a:pt x="5771115" y="1339085"/>
                  </a:cubicBezTo>
                  <a:cubicBezTo>
                    <a:pt x="5755899" y="1354301"/>
                    <a:pt x="5735263" y="1362849"/>
                    <a:pt x="5713745" y="1362849"/>
                  </a:cubicBezTo>
                  <a:lnTo>
                    <a:pt x="81134" y="1362849"/>
                  </a:lnTo>
                  <a:cubicBezTo>
                    <a:pt x="59616" y="1362849"/>
                    <a:pt x="38979" y="1354301"/>
                    <a:pt x="23764" y="1339085"/>
                  </a:cubicBezTo>
                  <a:cubicBezTo>
                    <a:pt x="8548" y="1323870"/>
                    <a:pt x="0" y="1303233"/>
                    <a:pt x="0" y="1281715"/>
                  </a:cubicBezTo>
                  <a:lnTo>
                    <a:pt x="0" y="81134"/>
                  </a:lnTo>
                  <a:cubicBezTo>
                    <a:pt x="0" y="59616"/>
                    <a:pt x="8548" y="38979"/>
                    <a:pt x="23764" y="23764"/>
                  </a:cubicBezTo>
                  <a:cubicBezTo>
                    <a:pt x="38979" y="8548"/>
                    <a:pt x="59616" y="0"/>
                    <a:pt x="81134" y="0"/>
                  </a:cubicBezTo>
                  <a:close/>
                </a:path>
              </a:pathLst>
            </a:custGeom>
            <a:solidFill>
              <a:srgbClr val="E8E7E7"/>
            </a:solidFill>
            <a:ln w="38100" cap="rnd">
              <a:solidFill>
                <a:srgbClr val="000000"/>
              </a:solidFill>
              <a:prstDash val="solid"/>
              <a:round/>
            </a:ln>
          </p:spPr>
        </p:sp>
        <p:sp>
          <p:nvSpPr>
            <p:cNvPr name="TextBox 27" id="27"/>
            <p:cNvSpPr txBox="true"/>
            <p:nvPr/>
          </p:nvSpPr>
          <p:spPr>
            <a:xfrm>
              <a:off x="0" y="-9525"/>
              <a:ext cx="5794879" cy="1372374"/>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VARIABEL YANG RELEVAN DENGAN MASALAH BISNIS</a:t>
              </a:r>
            </a:p>
          </p:txBody>
        </p:sp>
      </p:grpSp>
      <p:sp>
        <p:nvSpPr>
          <p:cNvPr name="TextBox 28" id="28"/>
          <p:cNvSpPr txBox="true"/>
          <p:nvPr/>
        </p:nvSpPr>
        <p:spPr>
          <a:xfrm rot="0">
            <a:off x="13990225" y="6729483"/>
            <a:ext cx="4335933" cy="3435858"/>
          </a:xfrm>
          <a:prstGeom prst="rect">
            <a:avLst/>
          </a:prstGeom>
        </p:spPr>
        <p:txBody>
          <a:bodyPr anchor="t" rtlCol="false" tIns="0" lIns="0" bIns="0" rIns="0">
            <a:spAutoFit/>
          </a:bodyPr>
          <a:lstStyle/>
          <a:p>
            <a:pPr algn="just">
              <a:lnSpc>
                <a:spcPts val="1836"/>
              </a:lnSpc>
            </a:pPr>
            <a:r>
              <a:rPr lang="en-US" sz="1200" spc="-72">
                <a:solidFill>
                  <a:srgbClr val="1E1E1E"/>
                </a:solidFill>
                <a:latin typeface="Times New Roman"/>
                <a:ea typeface="Times New Roman"/>
                <a:cs typeface="Times New Roman"/>
                <a:sym typeface="Times New Roman"/>
              </a:rPr>
              <a:t>Variabel Utama : Trip_Price (Harga Perjalanan)</a:t>
            </a:r>
          </a:p>
          <a:p>
            <a:pPr algn="just">
              <a:lnSpc>
                <a:spcPts val="1836"/>
              </a:lnSpc>
            </a:pPr>
            <a:r>
              <a:rPr lang="en-US" sz="1200" spc="-72">
                <a:solidFill>
                  <a:srgbClr val="1E1E1E"/>
                </a:solidFill>
                <a:latin typeface="Times New Roman"/>
                <a:ea typeface="Times New Roman"/>
                <a:cs typeface="Times New Roman"/>
                <a:sym typeface="Times New Roman"/>
              </a:rPr>
              <a:t>Variabel Pendukung :</a:t>
            </a:r>
          </a:p>
          <a:p>
            <a:pPr algn="just" marL="259080" indent="-129540" lvl="1">
              <a:lnSpc>
                <a:spcPts val="1836"/>
              </a:lnSpc>
              <a:buAutoNum type="arabicPeriod" startAt="1"/>
            </a:pPr>
            <a:r>
              <a:rPr lang="en-US" sz="1200" spc="-72">
                <a:solidFill>
                  <a:srgbClr val="1E1E1E"/>
                </a:solidFill>
                <a:latin typeface="Times New Roman"/>
                <a:ea typeface="Times New Roman"/>
                <a:cs typeface="Times New Roman"/>
                <a:sym typeface="Times New Roman"/>
              </a:rPr>
              <a:t> Trip_Distance_km</a:t>
            </a:r>
          </a:p>
          <a:p>
            <a:pPr algn="just" marL="259080" indent="-129540" lvl="1">
              <a:lnSpc>
                <a:spcPts val="1836"/>
              </a:lnSpc>
              <a:buAutoNum type="arabicPeriod" startAt="1"/>
            </a:pPr>
            <a:r>
              <a:rPr lang="en-US" sz="1200" spc="-72">
                <a:solidFill>
                  <a:srgbClr val="1E1E1E"/>
                </a:solidFill>
                <a:latin typeface="Times New Roman"/>
                <a:ea typeface="Times New Roman"/>
                <a:cs typeface="Times New Roman"/>
                <a:sym typeface="Times New Roman"/>
              </a:rPr>
              <a:t> Trip_Duration_Minutes</a:t>
            </a:r>
          </a:p>
          <a:p>
            <a:pPr algn="just" marL="259080" indent="-129540" lvl="1">
              <a:lnSpc>
                <a:spcPts val="1836"/>
              </a:lnSpc>
              <a:buAutoNum type="arabicPeriod" startAt="1"/>
            </a:pPr>
            <a:r>
              <a:rPr lang="en-US" sz="1200" spc="-72">
                <a:solidFill>
                  <a:srgbClr val="1E1E1E"/>
                </a:solidFill>
                <a:latin typeface="Times New Roman"/>
                <a:ea typeface="Times New Roman"/>
                <a:cs typeface="Times New Roman"/>
                <a:sym typeface="Times New Roman"/>
              </a:rPr>
              <a:t> Per_Km_Rate</a:t>
            </a:r>
          </a:p>
          <a:p>
            <a:pPr algn="just" marL="259080" indent="-129540" lvl="1">
              <a:lnSpc>
                <a:spcPts val="1836"/>
              </a:lnSpc>
              <a:buAutoNum type="arabicPeriod" startAt="1"/>
            </a:pPr>
            <a:r>
              <a:rPr lang="en-US" sz="1200" spc="-72">
                <a:solidFill>
                  <a:srgbClr val="1E1E1E"/>
                </a:solidFill>
                <a:latin typeface="Times New Roman"/>
                <a:ea typeface="Times New Roman"/>
                <a:cs typeface="Times New Roman"/>
                <a:sym typeface="Times New Roman"/>
              </a:rPr>
              <a:t> Per_Minute_Rate</a:t>
            </a:r>
          </a:p>
          <a:p>
            <a:pPr algn="just" marL="259080" indent="-129540" lvl="1">
              <a:lnSpc>
                <a:spcPts val="1836"/>
              </a:lnSpc>
              <a:buAutoNum type="arabicPeriod" startAt="1"/>
            </a:pPr>
            <a:r>
              <a:rPr lang="en-US" sz="1200" spc="-72">
                <a:solidFill>
                  <a:srgbClr val="1E1E1E"/>
                </a:solidFill>
                <a:latin typeface="Times New Roman"/>
                <a:ea typeface="Times New Roman"/>
                <a:cs typeface="Times New Roman"/>
                <a:sym typeface="Times New Roman"/>
              </a:rPr>
              <a:t> Base_Fare</a:t>
            </a:r>
          </a:p>
          <a:p>
            <a:pPr algn="just" marL="259080" indent="-129540" lvl="1">
              <a:lnSpc>
                <a:spcPts val="1836"/>
              </a:lnSpc>
              <a:buAutoNum type="arabicPeriod" startAt="1"/>
            </a:pPr>
            <a:r>
              <a:rPr lang="en-US" sz="1200" spc="-72">
                <a:solidFill>
                  <a:srgbClr val="1E1E1E"/>
                </a:solidFill>
                <a:latin typeface="Times New Roman"/>
                <a:ea typeface="Times New Roman"/>
                <a:cs typeface="Times New Roman"/>
                <a:sym typeface="Times New Roman"/>
              </a:rPr>
              <a:t> Time_of_Day</a:t>
            </a:r>
          </a:p>
          <a:p>
            <a:pPr algn="just" marL="259080" indent="-129540" lvl="1">
              <a:lnSpc>
                <a:spcPts val="1836"/>
              </a:lnSpc>
              <a:buAutoNum type="arabicPeriod" startAt="1"/>
            </a:pPr>
            <a:r>
              <a:rPr lang="en-US" sz="1200" spc="-72">
                <a:solidFill>
                  <a:srgbClr val="1E1E1E"/>
                </a:solidFill>
                <a:latin typeface="Times New Roman"/>
                <a:ea typeface="Times New Roman"/>
                <a:cs typeface="Times New Roman"/>
                <a:sym typeface="Times New Roman"/>
              </a:rPr>
              <a:t> Day_of_Week</a:t>
            </a:r>
          </a:p>
          <a:p>
            <a:pPr algn="just" marL="259080" indent="-129540" lvl="1">
              <a:lnSpc>
                <a:spcPts val="1836"/>
              </a:lnSpc>
              <a:buAutoNum type="arabicPeriod" startAt="1"/>
            </a:pPr>
            <a:r>
              <a:rPr lang="en-US" sz="1200" spc="-72">
                <a:solidFill>
                  <a:srgbClr val="1E1E1E"/>
                </a:solidFill>
                <a:latin typeface="Times New Roman"/>
                <a:ea typeface="Times New Roman"/>
                <a:cs typeface="Times New Roman"/>
                <a:sym typeface="Times New Roman"/>
              </a:rPr>
              <a:t> Traffic_Conditions</a:t>
            </a:r>
          </a:p>
          <a:p>
            <a:pPr algn="just" marL="259080" indent="-129540" lvl="1">
              <a:lnSpc>
                <a:spcPts val="1836"/>
              </a:lnSpc>
              <a:buAutoNum type="arabicPeriod" startAt="1"/>
            </a:pPr>
            <a:r>
              <a:rPr lang="en-US" sz="1200" spc="-72">
                <a:solidFill>
                  <a:srgbClr val="1E1E1E"/>
                </a:solidFill>
                <a:latin typeface="Times New Roman"/>
                <a:ea typeface="Times New Roman"/>
                <a:cs typeface="Times New Roman"/>
                <a:sym typeface="Times New Roman"/>
              </a:rPr>
              <a:t> Weather</a:t>
            </a:r>
          </a:p>
          <a:p>
            <a:pPr algn="just" marL="259080" indent="-129540" lvl="1">
              <a:lnSpc>
                <a:spcPts val="1836"/>
              </a:lnSpc>
              <a:buAutoNum type="arabicPeriod" startAt="1"/>
            </a:pPr>
            <a:r>
              <a:rPr lang="en-US" sz="1200" spc="-72">
                <a:solidFill>
                  <a:srgbClr val="1E1E1E"/>
                </a:solidFill>
                <a:latin typeface="Times New Roman"/>
                <a:ea typeface="Times New Roman"/>
                <a:cs typeface="Times New Roman"/>
                <a:sym typeface="Times New Roman"/>
              </a:rPr>
              <a:t> Passenger Count</a:t>
            </a:r>
          </a:p>
          <a:p>
            <a:pPr algn="just" marL="259080" indent="-129540" lvl="1">
              <a:lnSpc>
                <a:spcPts val="1836"/>
              </a:lnSpc>
              <a:buAutoNum type="arabicPeriod" startAt="1"/>
            </a:pPr>
            <a:r>
              <a:rPr lang="en-US" sz="1200" spc="-72">
                <a:solidFill>
                  <a:srgbClr val="1E1E1E"/>
                </a:solidFill>
                <a:latin typeface="Times New Roman"/>
                <a:ea typeface="Times New Roman"/>
                <a:cs typeface="Times New Roman"/>
                <a:sym typeface="Times New Roman"/>
              </a:rPr>
              <a:t> Distance_Category (hasil feature engineering)</a:t>
            </a:r>
          </a:p>
          <a:p>
            <a:pPr algn="just" marL="259080" indent="-129540" lvl="1">
              <a:lnSpc>
                <a:spcPts val="1836"/>
              </a:lnSpc>
              <a:buAutoNum type="arabicPeriod" startAt="1"/>
            </a:pPr>
            <a:r>
              <a:rPr lang="en-US" sz="1200" spc="-72">
                <a:solidFill>
                  <a:srgbClr val="1E1E1E"/>
                </a:solidFill>
                <a:latin typeface="Times New Roman"/>
                <a:ea typeface="Times New Roman"/>
                <a:cs typeface="Times New Roman"/>
                <a:sym typeface="Times New Roman"/>
              </a:rPr>
              <a:t> Speed_km_per_hour</a:t>
            </a:r>
          </a:p>
          <a:p>
            <a:pPr algn="just" marL="259080" indent="-129540" lvl="1">
              <a:lnSpc>
                <a:spcPts val="1836"/>
              </a:lnSpc>
              <a:buAutoNum type="arabicPeriod" startAt="1"/>
            </a:pPr>
            <a:r>
              <a:rPr lang="en-US" sz="1200" spc="-72">
                <a:solidFill>
                  <a:srgbClr val="1E1E1E"/>
                </a:solidFill>
                <a:latin typeface="Times New Roman"/>
                <a:ea typeface="Times New Roman"/>
                <a:cs typeface="Times New Roman"/>
                <a:sym typeface="Times New Roman"/>
              </a:rPr>
              <a:t> Speed_Category (hasil feature engineering) </a:t>
            </a:r>
          </a:p>
        </p:txBody>
      </p:sp>
      <p:sp>
        <p:nvSpPr>
          <p:cNvPr name="AutoShape 29" id="29"/>
          <p:cNvSpPr/>
          <p:nvPr/>
        </p:nvSpPr>
        <p:spPr>
          <a:xfrm flipV="true">
            <a:off x="1665753" y="6008672"/>
            <a:ext cx="0" cy="2216982"/>
          </a:xfrm>
          <a:prstGeom prst="line">
            <a:avLst/>
          </a:prstGeom>
          <a:ln cap="flat" w="38100">
            <a:solidFill>
              <a:srgbClr val="000000"/>
            </a:solidFill>
            <a:prstDash val="solid"/>
            <a:headEnd type="none" len="sm" w="sm"/>
            <a:tailEnd type="none" len="sm" w="sm"/>
          </a:ln>
        </p:spPr>
      </p:sp>
      <p:sp>
        <p:nvSpPr>
          <p:cNvPr name="AutoShape 30" id="30"/>
          <p:cNvSpPr/>
          <p:nvPr/>
        </p:nvSpPr>
        <p:spPr>
          <a:xfrm flipV="true">
            <a:off x="8742767" y="6008672"/>
            <a:ext cx="29226" cy="2216982"/>
          </a:xfrm>
          <a:prstGeom prst="line">
            <a:avLst/>
          </a:prstGeom>
          <a:ln cap="flat" w="38100">
            <a:solidFill>
              <a:srgbClr val="000000"/>
            </a:solidFill>
            <a:prstDash val="solid"/>
            <a:headEnd type="none" len="sm" w="sm"/>
            <a:tailEnd type="none" len="sm" w="sm"/>
          </a:ln>
        </p:spPr>
      </p:sp>
      <p:sp>
        <p:nvSpPr>
          <p:cNvPr name="AutoShape 31" id="31"/>
          <p:cNvSpPr/>
          <p:nvPr/>
        </p:nvSpPr>
        <p:spPr>
          <a:xfrm flipH="true" flipV="true">
            <a:off x="16158191" y="6118285"/>
            <a:ext cx="0" cy="668347"/>
          </a:xfrm>
          <a:prstGeom prst="line">
            <a:avLst/>
          </a:prstGeom>
          <a:ln cap="flat" w="38100">
            <a:solidFill>
              <a:srgbClr val="000000"/>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350436" y="189527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6449526" y="1993280"/>
            <a:ext cx="5550413" cy="693358"/>
            <a:chOff x="0" y="0"/>
            <a:chExt cx="3354944" cy="419100"/>
          </a:xfrm>
        </p:grpSpPr>
        <p:sp>
          <p:nvSpPr>
            <p:cNvPr name="Freeform 5" id="5"/>
            <p:cNvSpPr/>
            <p:nvPr/>
          </p:nvSpPr>
          <p:spPr>
            <a:xfrm flipH="false" flipV="false" rot="0">
              <a:off x="0" y="0"/>
              <a:ext cx="3354944" cy="419100"/>
            </a:xfrm>
            <a:custGeom>
              <a:avLst/>
              <a:gdLst/>
              <a:ahLst/>
              <a:cxnLst/>
              <a:rect r="r" b="b" t="t" l="l"/>
              <a:pathLst>
                <a:path h="419100" w="3354944">
                  <a:moveTo>
                    <a:pt x="66473" y="0"/>
                  </a:moveTo>
                  <a:lnTo>
                    <a:pt x="3288472" y="0"/>
                  </a:lnTo>
                  <a:cubicBezTo>
                    <a:pt x="3325183" y="0"/>
                    <a:pt x="3354944" y="29761"/>
                    <a:pt x="3354944" y="66473"/>
                  </a:cubicBezTo>
                  <a:lnTo>
                    <a:pt x="3354944" y="352627"/>
                  </a:lnTo>
                  <a:cubicBezTo>
                    <a:pt x="3354944" y="389339"/>
                    <a:pt x="3325183" y="419100"/>
                    <a:pt x="3288472" y="419100"/>
                  </a:cubicBezTo>
                  <a:lnTo>
                    <a:pt x="66473" y="419100"/>
                  </a:lnTo>
                  <a:cubicBezTo>
                    <a:pt x="29761" y="419100"/>
                    <a:pt x="0" y="389339"/>
                    <a:pt x="0" y="352627"/>
                  </a:cubicBezTo>
                  <a:lnTo>
                    <a:pt x="0" y="66473"/>
                  </a:lnTo>
                  <a:cubicBezTo>
                    <a:pt x="0" y="29761"/>
                    <a:pt x="29761" y="0"/>
                    <a:pt x="66473"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3354944"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DATA UNDERSTANDING</a:t>
              </a:r>
            </a:p>
          </p:txBody>
        </p:sp>
      </p:grpSp>
      <p:grpSp>
        <p:nvGrpSpPr>
          <p:cNvPr name="Group 7" id="7"/>
          <p:cNvGrpSpPr/>
          <p:nvPr/>
        </p:nvGrpSpPr>
        <p:grpSpPr>
          <a:xfrm rot="0">
            <a:off x="7823181" y="3345148"/>
            <a:ext cx="2841202" cy="885304"/>
            <a:chOff x="0" y="0"/>
            <a:chExt cx="1345016" cy="419100"/>
          </a:xfrm>
        </p:grpSpPr>
        <p:sp>
          <p:nvSpPr>
            <p:cNvPr name="Freeform 8" id="8"/>
            <p:cNvSpPr/>
            <p:nvPr/>
          </p:nvSpPr>
          <p:spPr>
            <a:xfrm flipH="false" flipV="false" rot="0">
              <a:off x="0" y="0"/>
              <a:ext cx="1345016" cy="419100"/>
            </a:xfrm>
            <a:custGeom>
              <a:avLst/>
              <a:gdLst/>
              <a:ahLst/>
              <a:cxnLst/>
              <a:rect r="r" b="b" t="t" l="l"/>
              <a:pathLst>
                <a:path h="419100" w="1345016">
                  <a:moveTo>
                    <a:pt x="129857" y="0"/>
                  </a:moveTo>
                  <a:lnTo>
                    <a:pt x="1215159" y="0"/>
                  </a:lnTo>
                  <a:cubicBezTo>
                    <a:pt x="1249599" y="0"/>
                    <a:pt x="1282629" y="13681"/>
                    <a:pt x="1306982" y="38034"/>
                  </a:cubicBezTo>
                  <a:cubicBezTo>
                    <a:pt x="1331335" y="62387"/>
                    <a:pt x="1345016" y="95417"/>
                    <a:pt x="1345016" y="129857"/>
                  </a:cubicBezTo>
                  <a:lnTo>
                    <a:pt x="1345016" y="289243"/>
                  </a:lnTo>
                  <a:cubicBezTo>
                    <a:pt x="1345016" y="360961"/>
                    <a:pt x="1286877" y="419100"/>
                    <a:pt x="1215159" y="419100"/>
                  </a:cubicBezTo>
                  <a:lnTo>
                    <a:pt x="129857" y="419100"/>
                  </a:lnTo>
                  <a:cubicBezTo>
                    <a:pt x="58139" y="419100"/>
                    <a:pt x="0" y="360961"/>
                    <a:pt x="0" y="289243"/>
                  </a:cubicBezTo>
                  <a:lnTo>
                    <a:pt x="0" y="129857"/>
                  </a:lnTo>
                  <a:cubicBezTo>
                    <a:pt x="0" y="58139"/>
                    <a:pt x="58139" y="0"/>
                    <a:pt x="129857" y="0"/>
                  </a:cubicBezTo>
                  <a:close/>
                </a:path>
              </a:pathLst>
            </a:custGeom>
            <a:solidFill>
              <a:srgbClr val="E8E7E7"/>
            </a:solidFill>
            <a:ln w="38100" cap="rnd">
              <a:solidFill>
                <a:srgbClr val="000000"/>
              </a:solidFill>
              <a:prstDash val="solid"/>
              <a:round/>
            </a:ln>
          </p:spPr>
        </p:sp>
        <p:sp>
          <p:nvSpPr>
            <p:cNvPr name="TextBox 9" id="9"/>
            <p:cNvSpPr txBox="true"/>
            <p:nvPr/>
          </p:nvSpPr>
          <p:spPr>
            <a:xfrm>
              <a:off x="0" y="-9525"/>
              <a:ext cx="1345016"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CONSIST OF:</a:t>
              </a:r>
            </a:p>
          </p:txBody>
        </p:sp>
      </p:grpSp>
      <p:sp>
        <p:nvSpPr>
          <p:cNvPr name="AutoShape 10" id="10"/>
          <p:cNvSpPr/>
          <p:nvPr/>
        </p:nvSpPr>
        <p:spPr>
          <a:xfrm flipH="true" flipV="true">
            <a:off x="9224732" y="2686639"/>
            <a:ext cx="19050" cy="658510"/>
          </a:xfrm>
          <a:prstGeom prst="line">
            <a:avLst/>
          </a:prstGeom>
          <a:ln cap="flat" w="38100">
            <a:solidFill>
              <a:srgbClr val="000000"/>
            </a:solidFill>
            <a:prstDash val="solid"/>
            <a:headEnd type="none" len="sm" w="sm"/>
            <a:tailEnd type="none" len="sm" w="sm"/>
          </a:ln>
        </p:spPr>
      </p:sp>
      <p:grpSp>
        <p:nvGrpSpPr>
          <p:cNvPr name="Group 11" id="11"/>
          <p:cNvGrpSpPr/>
          <p:nvPr/>
        </p:nvGrpSpPr>
        <p:grpSpPr>
          <a:xfrm rot="0">
            <a:off x="400611" y="6427074"/>
            <a:ext cx="3118729" cy="688503"/>
            <a:chOff x="0" y="0"/>
            <a:chExt cx="3974276" cy="877376"/>
          </a:xfrm>
        </p:grpSpPr>
        <p:sp>
          <p:nvSpPr>
            <p:cNvPr name="Freeform 12" id="12"/>
            <p:cNvSpPr/>
            <p:nvPr/>
          </p:nvSpPr>
          <p:spPr>
            <a:xfrm flipH="false" flipV="false" rot="0">
              <a:off x="0" y="0"/>
              <a:ext cx="3974276" cy="877376"/>
            </a:xfrm>
            <a:custGeom>
              <a:avLst/>
              <a:gdLst/>
              <a:ahLst/>
              <a:cxnLst/>
              <a:rect r="r" b="b" t="t" l="l"/>
              <a:pathLst>
                <a:path h="877376" w="3974276">
                  <a:moveTo>
                    <a:pt x="118302" y="0"/>
                  </a:moveTo>
                  <a:lnTo>
                    <a:pt x="3855974" y="0"/>
                  </a:lnTo>
                  <a:cubicBezTo>
                    <a:pt x="3921310" y="0"/>
                    <a:pt x="3974276" y="52965"/>
                    <a:pt x="3974276" y="118302"/>
                  </a:cubicBezTo>
                  <a:lnTo>
                    <a:pt x="3974276" y="759075"/>
                  </a:lnTo>
                  <a:cubicBezTo>
                    <a:pt x="3974276" y="824411"/>
                    <a:pt x="3921310" y="877376"/>
                    <a:pt x="3855974" y="877376"/>
                  </a:cubicBezTo>
                  <a:lnTo>
                    <a:pt x="118302" y="877376"/>
                  </a:lnTo>
                  <a:cubicBezTo>
                    <a:pt x="86926" y="877376"/>
                    <a:pt x="56836" y="864913"/>
                    <a:pt x="34650" y="842727"/>
                  </a:cubicBezTo>
                  <a:cubicBezTo>
                    <a:pt x="12464" y="820541"/>
                    <a:pt x="0" y="790450"/>
                    <a:pt x="0" y="759075"/>
                  </a:cubicBezTo>
                  <a:lnTo>
                    <a:pt x="0" y="118302"/>
                  </a:lnTo>
                  <a:cubicBezTo>
                    <a:pt x="0" y="86926"/>
                    <a:pt x="12464" y="56836"/>
                    <a:pt x="34650" y="34650"/>
                  </a:cubicBezTo>
                  <a:cubicBezTo>
                    <a:pt x="56836" y="12464"/>
                    <a:pt x="86926" y="0"/>
                    <a:pt x="118302" y="0"/>
                  </a:cubicBezTo>
                  <a:close/>
                </a:path>
              </a:pathLst>
            </a:custGeom>
            <a:solidFill>
              <a:srgbClr val="E8E7E7"/>
            </a:solidFill>
            <a:ln w="38100" cap="rnd">
              <a:solidFill>
                <a:srgbClr val="000000"/>
              </a:solidFill>
              <a:prstDash val="solid"/>
              <a:round/>
            </a:ln>
          </p:spPr>
        </p:sp>
        <p:sp>
          <p:nvSpPr>
            <p:cNvPr name="TextBox 13" id="13"/>
            <p:cNvSpPr txBox="true"/>
            <p:nvPr/>
          </p:nvSpPr>
          <p:spPr>
            <a:xfrm>
              <a:off x="0" y="-9525"/>
              <a:ext cx="3974276" cy="886901"/>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MISSING VALUE</a:t>
              </a:r>
            </a:p>
          </p:txBody>
        </p:sp>
      </p:grpSp>
      <p:sp>
        <p:nvSpPr>
          <p:cNvPr name="AutoShape 14" id="14"/>
          <p:cNvSpPr/>
          <p:nvPr/>
        </p:nvSpPr>
        <p:spPr>
          <a:xfrm flipH="true">
            <a:off x="1757804" y="4230452"/>
            <a:ext cx="7485979" cy="2196622"/>
          </a:xfrm>
          <a:prstGeom prst="line">
            <a:avLst/>
          </a:prstGeom>
          <a:ln cap="flat" w="38100">
            <a:solidFill>
              <a:srgbClr val="000000"/>
            </a:solidFill>
            <a:prstDash val="solid"/>
            <a:headEnd type="none" len="sm" w="sm"/>
            <a:tailEnd type="none" len="sm" w="sm"/>
          </a:ln>
        </p:spPr>
      </p:sp>
      <p:grpSp>
        <p:nvGrpSpPr>
          <p:cNvPr name="Group 15" id="15"/>
          <p:cNvGrpSpPr/>
          <p:nvPr/>
        </p:nvGrpSpPr>
        <p:grpSpPr>
          <a:xfrm rot="0">
            <a:off x="7232901" y="6427074"/>
            <a:ext cx="4021763" cy="688503"/>
            <a:chOff x="0" y="0"/>
            <a:chExt cx="5125034" cy="877376"/>
          </a:xfrm>
        </p:grpSpPr>
        <p:sp>
          <p:nvSpPr>
            <p:cNvPr name="Freeform 16" id="16"/>
            <p:cNvSpPr/>
            <p:nvPr/>
          </p:nvSpPr>
          <p:spPr>
            <a:xfrm flipH="false" flipV="false" rot="0">
              <a:off x="0" y="0"/>
              <a:ext cx="5125034" cy="877376"/>
            </a:xfrm>
            <a:custGeom>
              <a:avLst/>
              <a:gdLst/>
              <a:ahLst/>
              <a:cxnLst/>
              <a:rect r="r" b="b" t="t" l="l"/>
              <a:pathLst>
                <a:path h="877376" w="5125034">
                  <a:moveTo>
                    <a:pt x="91739" y="0"/>
                  </a:moveTo>
                  <a:lnTo>
                    <a:pt x="5033295" y="0"/>
                  </a:lnTo>
                  <a:cubicBezTo>
                    <a:pt x="5083961" y="0"/>
                    <a:pt x="5125034" y="41073"/>
                    <a:pt x="5125034" y="91739"/>
                  </a:cubicBezTo>
                  <a:lnTo>
                    <a:pt x="5125034" y="785638"/>
                  </a:lnTo>
                  <a:cubicBezTo>
                    <a:pt x="5125034" y="836304"/>
                    <a:pt x="5083961" y="877376"/>
                    <a:pt x="5033295" y="877376"/>
                  </a:cubicBezTo>
                  <a:lnTo>
                    <a:pt x="91739" y="877376"/>
                  </a:lnTo>
                  <a:cubicBezTo>
                    <a:pt x="67408" y="877376"/>
                    <a:pt x="44074" y="867711"/>
                    <a:pt x="26870" y="850507"/>
                  </a:cubicBezTo>
                  <a:cubicBezTo>
                    <a:pt x="9665" y="833303"/>
                    <a:pt x="0" y="809968"/>
                    <a:pt x="0" y="785638"/>
                  </a:cubicBezTo>
                  <a:lnTo>
                    <a:pt x="0" y="91739"/>
                  </a:lnTo>
                  <a:cubicBezTo>
                    <a:pt x="0" y="41073"/>
                    <a:pt x="41073" y="0"/>
                    <a:pt x="91739" y="0"/>
                  </a:cubicBezTo>
                  <a:close/>
                </a:path>
              </a:pathLst>
            </a:custGeom>
            <a:solidFill>
              <a:srgbClr val="E8E7E7"/>
            </a:solidFill>
            <a:ln w="38100" cap="rnd">
              <a:solidFill>
                <a:srgbClr val="000000"/>
              </a:solidFill>
              <a:prstDash val="solid"/>
              <a:round/>
            </a:ln>
          </p:spPr>
        </p:sp>
        <p:sp>
          <p:nvSpPr>
            <p:cNvPr name="TextBox 17" id="17"/>
            <p:cNvSpPr txBox="true"/>
            <p:nvPr/>
          </p:nvSpPr>
          <p:spPr>
            <a:xfrm>
              <a:off x="0" y="-9525"/>
              <a:ext cx="5125034" cy="886901"/>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DUPLIKAT DATA</a:t>
              </a:r>
            </a:p>
          </p:txBody>
        </p:sp>
      </p:grpSp>
      <p:sp>
        <p:nvSpPr>
          <p:cNvPr name="AutoShape 18" id="18"/>
          <p:cNvSpPr/>
          <p:nvPr/>
        </p:nvSpPr>
        <p:spPr>
          <a:xfrm>
            <a:off x="9243782" y="4821571"/>
            <a:ext cx="0" cy="1605503"/>
          </a:xfrm>
          <a:prstGeom prst="line">
            <a:avLst/>
          </a:prstGeom>
          <a:ln cap="flat" w="38100">
            <a:solidFill>
              <a:srgbClr val="000000"/>
            </a:solidFill>
            <a:prstDash val="solid"/>
            <a:headEnd type="none" len="sm" w="sm"/>
            <a:tailEnd type="none" len="sm" w="sm"/>
          </a:ln>
        </p:spPr>
      </p:sp>
      <p:sp>
        <p:nvSpPr>
          <p:cNvPr name="AutoShape 19" id="19"/>
          <p:cNvSpPr/>
          <p:nvPr/>
        </p:nvSpPr>
        <p:spPr>
          <a:xfrm>
            <a:off x="9243782" y="4230452"/>
            <a:ext cx="6992193" cy="2196622"/>
          </a:xfrm>
          <a:prstGeom prst="line">
            <a:avLst/>
          </a:prstGeom>
          <a:ln cap="flat" w="38100">
            <a:solidFill>
              <a:srgbClr val="000000"/>
            </a:solidFill>
            <a:prstDash val="solid"/>
            <a:headEnd type="none" len="sm" w="sm"/>
            <a:tailEnd type="none" len="sm" w="sm"/>
          </a:ln>
        </p:spPr>
      </p:sp>
      <p:grpSp>
        <p:nvGrpSpPr>
          <p:cNvPr name="Group 20" id="20"/>
          <p:cNvGrpSpPr/>
          <p:nvPr/>
        </p:nvGrpSpPr>
        <p:grpSpPr>
          <a:xfrm rot="0">
            <a:off x="15124473" y="6427074"/>
            <a:ext cx="1946134" cy="688503"/>
            <a:chOff x="0" y="0"/>
            <a:chExt cx="2480007" cy="877376"/>
          </a:xfrm>
        </p:grpSpPr>
        <p:sp>
          <p:nvSpPr>
            <p:cNvPr name="Freeform 21" id="21"/>
            <p:cNvSpPr/>
            <p:nvPr/>
          </p:nvSpPr>
          <p:spPr>
            <a:xfrm flipH="false" flipV="false" rot="0">
              <a:off x="0" y="0"/>
              <a:ext cx="2480007" cy="877376"/>
            </a:xfrm>
            <a:custGeom>
              <a:avLst/>
              <a:gdLst/>
              <a:ahLst/>
              <a:cxnLst/>
              <a:rect r="r" b="b" t="t" l="l"/>
              <a:pathLst>
                <a:path h="877376" w="2480007">
                  <a:moveTo>
                    <a:pt x="189581" y="0"/>
                  </a:moveTo>
                  <a:lnTo>
                    <a:pt x="2290426" y="0"/>
                  </a:lnTo>
                  <a:cubicBezTo>
                    <a:pt x="2395129" y="0"/>
                    <a:pt x="2480007" y="84879"/>
                    <a:pt x="2480007" y="189581"/>
                  </a:cubicBezTo>
                  <a:lnTo>
                    <a:pt x="2480007" y="687795"/>
                  </a:lnTo>
                  <a:cubicBezTo>
                    <a:pt x="2480007" y="738075"/>
                    <a:pt x="2460034" y="786296"/>
                    <a:pt x="2424480" y="821849"/>
                  </a:cubicBezTo>
                  <a:cubicBezTo>
                    <a:pt x="2388927" y="857403"/>
                    <a:pt x="2340706" y="877376"/>
                    <a:pt x="2290426" y="877376"/>
                  </a:cubicBezTo>
                  <a:lnTo>
                    <a:pt x="189581" y="877376"/>
                  </a:lnTo>
                  <a:cubicBezTo>
                    <a:pt x="139301" y="877376"/>
                    <a:pt x="91081" y="857403"/>
                    <a:pt x="55527" y="821849"/>
                  </a:cubicBezTo>
                  <a:cubicBezTo>
                    <a:pt x="19974" y="786296"/>
                    <a:pt x="0" y="738075"/>
                    <a:pt x="0" y="687795"/>
                  </a:cubicBezTo>
                  <a:lnTo>
                    <a:pt x="0" y="189581"/>
                  </a:lnTo>
                  <a:cubicBezTo>
                    <a:pt x="0" y="139301"/>
                    <a:pt x="19974" y="91081"/>
                    <a:pt x="55527" y="55527"/>
                  </a:cubicBezTo>
                  <a:cubicBezTo>
                    <a:pt x="91081" y="19974"/>
                    <a:pt x="139301" y="0"/>
                    <a:pt x="189581" y="0"/>
                  </a:cubicBezTo>
                  <a:close/>
                </a:path>
              </a:pathLst>
            </a:custGeom>
            <a:solidFill>
              <a:srgbClr val="E8E7E7"/>
            </a:solidFill>
            <a:ln w="38100" cap="rnd">
              <a:solidFill>
                <a:srgbClr val="000000"/>
              </a:solidFill>
              <a:prstDash val="solid"/>
              <a:round/>
            </a:ln>
          </p:spPr>
        </p:sp>
        <p:sp>
          <p:nvSpPr>
            <p:cNvPr name="TextBox 22" id="22"/>
            <p:cNvSpPr txBox="true"/>
            <p:nvPr/>
          </p:nvSpPr>
          <p:spPr>
            <a:xfrm>
              <a:off x="0" y="-9525"/>
              <a:ext cx="2480007" cy="886901"/>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OUTLIER</a:t>
              </a:r>
            </a:p>
          </p:txBody>
        </p:sp>
      </p:grpSp>
      <p:sp>
        <p:nvSpPr>
          <p:cNvPr name="TextBox 23" id="23"/>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24" id="24"/>
          <p:cNvSpPr txBox="true"/>
          <p:nvPr/>
        </p:nvSpPr>
        <p:spPr>
          <a:xfrm rot="0">
            <a:off x="6039277" y="738958"/>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grpSp>
        <p:nvGrpSpPr>
          <p:cNvPr name="Group 25" id="25"/>
          <p:cNvGrpSpPr/>
          <p:nvPr/>
        </p:nvGrpSpPr>
        <p:grpSpPr>
          <a:xfrm rot="0">
            <a:off x="400611" y="8752608"/>
            <a:ext cx="3118729" cy="688503"/>
            <a:chOff x="0" y="0"/>
            <a:chExt cx="3974276" cy="877376"/>
          </a:xfrm>
        </p:grpSpPr>
        <p:sp>
          <p:nvSpPr>
            <p:cNvPr name="Freeform 26" id="26"/>
            <p:cNvSpPr/>
            <p:nvPr/>
          </p:nvSpPr>
          <p:spPr>
            <a:xfrm flipH="false" flipV="false" rot="0">
              <a:off x="0" y="0"/>
              <a:ext cx="3974276" cy="877376"/>
            </a:xfrm>
            <a:custGeom>
              <a:avLst/>
              <a:gdLst/>
              <a:ahLst/>
              <a:cxnLst/>
              <a:rect r="r" b="b" t="t" l="l"/>
              <a:pathLst>
                <a:path h="877376" w="3974276">
                  <a:moveTo>
                    <a:pt x="118302" y="0"/>
                  </a:moveTo>
                  <a:lnTo>
                    <a:pt x="3855974" y="0"/>
                  </a:lnTo>
                  <a:cubicBezTo>
                    <a:pt x="3921310" y="0"/>
                    <a:pt x="3974276" y="52965"/>
                    <a:pt x="3974276" y="118302"/>
                  </a:cubicBezTo>
                  <a:lnTo>
                    <a:pt x="3974276" y="759075"/>
                  </a:lnTo>
                  <a:cubicBezTo>
                    <a:pt x="3974276" y="824411"/>
                    <a:pt x="3921310" y="877376"/>
                    <a:pt x="3855974" y="877376"/>
                  </a:cubicBezTo>
                  <a:lnTo>
                    <a:pt x="118302" y="877376"/>
                  </a:lnTo>
                  <a:cubicBezTo>
                    <a:pt x="86926" y="877376"/>
                    <a:pt x="56836" y="864913"/>
                    <a:pt x="34650" y="842727"/>
                  </a:cubicBezTo>
                  <a:cubicBezTo>
                    <a:pt x="12464" y="820541"/>
                    <a:pt x="0" y="790450"/>
                    <a:pt x="0" y="759075"/>
                  </a:cubicBezTo>
                  <a:lnTo>
                    <a:pt x="0" y="118302"/>
                  </a:lnTo>
                  <a:cubicBezTo>
                    <a:pt x="0" y="86926"/>
                    <a:pt x="12464" y="56836"/>
                    <a:pt x="34650" y="34650"/>
                  </a:cubicBezTo>
                  <a:cubicBezTo>
                    <a:pt x="56836" y="12464"/>
                    <a:pt x="86926" y="0"/>
                    <a:pt x="118302" y="0"/>
                  </a:cubicBezTo>
                  <a:close/>
                </a:path>
              </a:pathLst>
            </a:custGeom>
            <a:solidFill>
              <a:srgbClr val="E8E7E7"/>
            </a:solidFill>
            <a:ln w="38100" cap="rnd">
              <a:solidFill>
                <a:srgbClr val="000000"/>
              </a:solidFill>
              <a:prstDash val="solid"/>
              <a:round/>
            </a:ln>
          </p:spPr>
        </p:sp>
        <p:sp>
          <p:nvSpPr>
            <p:cNvPr name="TextBox 27" id="27"/>
            <p:cNvSpPr txBox="true"/>
            <p:nvPr/>
          </p:nvSpPr>
          <p:spPr>
            <a:xfrm>
              <a:off x="0" y="-9525"/>
              <a:ext cx="3974276" cy="886901"/>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549 dari 1000 data</a:t>
              </a:r>
            </a:p>
          </p:txBody>
        </p:sp>
      </p:grpSp>
      <p:sp>
        <p:nvSpPr>
          <p:cNvPr name="AutoShape 28" id="28"/>
          <p:cNvSpPr/>
          <p:nvPr/>
        </p:nvSpPr>
        <p:spPr>
          <a:xfrm flipV="true">
            <a:off x="1757804" y="7115577"/>
            <a:ext cx="0" cy="1637031"/>
          </a:xfrm>
          <a:prstGeom prst="line">
            <a:avLst/>
          </a:prstGeom>
          <a:ln cap="flat" w="38100">
            <a:solidFill>
              <a:srgbClr val="000000"/>
            </a:solidFill>
            <a:prstDash val="solid"/>
            <a:headEnd type="none" len="sm" w="sm"/>
            <a:tailEnd type="none" len="sm" w="sm"/>
          </a:ln>
        </p:spPr>
      </p:sp>
      <p:grpSp>
        <p:nvGrpSpPr>
          <p:cNvPr name="Group 29" id="29"/>
          <p:cNvGrpSpPr/>
          <p:nvPr/>
        </p:nvGrpSpPr>
        <p:grpSpPr>
          <a:xfrm rot="0">
            <a:off x="7684418" y="8569797"/>
            <a:ext cx="3118729" cy="688503"/>
            <a:chOff x="0" y="0"/>
            <a:chExt cx="3974276" cy="877376"/>
          </a:xfrm>
        </p:grpSpPr>
        <p:sp>
          <p:nvSpPr>
            <p:cNvPr name="Freeform 30" id="30"/>
            <p:cNvSpPr/>
            <p:nvPr/>
          </p:nvSpPr>
          <p:spPr>
            <a:xfrm flipH="false" flipV="false" rot="0">
              <a:off x="0" y="0"/>
              <a:ext cx="3974276" cy="877376"/>
            </a:xfrm>
            <a:custGeom>
              <a:avLst/>
              <a:gdLst/>
              <a:ahLst/>
              <a:cxnLst/>
              <a:rect r="r" b="b" t="t" l="l"/>
              <a:pathLst>
                <a:path h="877376" w="3974276">
                  <a:moveTo>
                    <a:pt x="118302" y="0"/>
                  </a:moveTo>
                  <a:lnTo>
                    <a:pt x="3855974" y="0"/>
                  </a:lnTo>
                  <a:cubicBezTo>
                    <a:pt x="3921310" y="0"/>
                    <a:pt x="3974276" y="52965"/>
                    <a:pt x="3974276" y="118302"/>
                  </a:cubicBezTo>
                  <a:lnTo>
                    <a:pt x="3974276" y="759075"/>
                  </a:lnTo>
                  <a:cubicBezTo>
                    <a:pt x="3974276" y="824411"/>
                    <a:pt x="3921310" y="877376"/>
                    <a:pt x="3855974" y="877376"/>
                  </a:cubicBezTo>
                  <a:lnTo>
                    <a:pt x="118302" y="877376"/>
                  </a:lnTo>
                  <a:cubicBezTo>
                    <a:pt x="86926" y="877376"/>
                    <a:pt x="56836" y="864913"/>
                    <a:pt x="34650" y="842727"/>
                  </a:cubicBezTo>
                  <a:cubicBezTo>
                    <a:pt x="12464" y="820541"/>
                    <a:pt x="0" y="790450"/>
                    <a:pt x="0" y="759075"/>
                  </a:cubicBezTo>
                  <a:lnTo>
                    <a:pt x="0" y="118302"/>
                  </a:lnTo>
                  <a:cubicBezTo>
                    <a:pt x="0" y="86926"/>
                    <a:pt x="12464" y="56836"/>
                    <a:pt x="34650" y="34650"/>
                  </a:cubicBezTo>
                  <a:cubicBezTo>
                    <a:pt x="56836" y="12464"/>
                    <a:pt x="86926" y="0"/>
                    <a:pt x="118302" y="0"/>
                  </a:cubicBezTo>
                  <a:close/>
                </a:path>
              </a:pathLst>
            </a:custGeom>
            <a:solidFill>
              <a:srgbClr val="E8E7E7"/>
            </a:solidFill>
            <a:ln w="38100" cap="rnd">
              <a:solidFill>
                <a:srgbClr val="000000"/>
              </a:solidFill>
              <a:prstDash val="solid"/>
              <a:round/>
            </a:ln>
          </p:spPr>
        </p:sp>
        <p:sp>
          <p:nvSpPr>
            <p:cNvPr name="TextBox 31" id="31"/>
            <p:cNvSpPr txBox="true"/>
            <p:nvPr/>
          </p:nvSpPr>
          <p:spPr>
            <a:xfrm>
              <a:off x="0" y="-9525"/>
              <a:ext cx="3974276" cy="886901"/>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Tidak ada duplikat</a:t>
              </a:r>
            </a:p>
          </p:txBody>
        </p:sp>
      </p:grpSp>
      <p:grpSp>
        <p:nvGrpSpPr>
          <p:cNvPr name="Group 32" id="32"/>
          <p:cNvGrpSpPr/>
          <p:nvPr/>
        </p:nvGrpSpPr>
        <p:grpSpPr>
          <a:xfrm rot="0">
            <a:off x="14699912" y="8569797"/>
            <a:ext cx="3118729" cy="688503"/>
            <a:chOff x="0" y="0"/>
            <a:chExt cx="3974276" cy="877376"/>
          </a:xfrm>
        </p:grpSpPr>
        <p:sp>
          <p:nvSpPr>
            <p:cNvPr name="Freeform 33" id="33"/>
            <p:cNvSpPr/>
            <p:nvPr/>
          </p:nvSpPr>
          <p:spPr>
            <a:xfrm flipH="false" flipV="false" rot="0">
              <a:off x="0" y="0"/>
              <a:ext cx="3974276" cy="877376"/>
            </a:xfrm>
            <a:custGeom>
              <a:avLst/>
              <a:gdLst/>
              <a:ahLst/>
              <a:cxnLst/>
              <a:rect r="r" b="b" t="t" l="l"/>
              <a:pathLst>
                <a:path h="877376" w="3974276">
                  <a:moveTo>
                    <a:pt x="118302" y="0"/>
                  </a:moveTo>
                  <a:lnTo>
                    <a:pt x="3855974" y="0"/>
                  </a:lnTo>
                  <a:cubicBezTo>
                    <a:pt x="3921310" y="0"/>
                    <a:pt x="3974276" y="52965"/>
                    <a:pt x="3974276" y="118302"/>
                  </a:cubicBezTo>
                  <a:lnTo>
                    <a:pt x="3974276" y="759075"/>
                  </a:lnTo>
                  <a:cubicBezTo>
                    <a:pt x="3974276" y="824411"/>
                    <a:pt x="3921310" y="877376"/>
                    <a:pt x="3855974" y="877376"/>
                  </a:cubicBezTo>
                  <a:lnTo>
                    <a:pt x="118302" y="877376"/>
                  </a:lnTo>
                  <a:cubicBezTo>
                    <a:pt x="86926" y="877376"/>
                    <a:pt x="56836" y="864913"/>
                    <a:pt x="34650" y="842727"/>
                  </a:cubicBezTo>
                  <a:cubicBezTo>
                    <a:pt x="12464" y="820541"/>
                    <a:pt x="0" y="790450"/>
                    <a:pt x="0" y="759075"/>
                  </a:cubicBezTo>
                  <a:lnTo>
                    <a:pt x="0" y="118302"/>
                  </a:lnTo>
                  <a:cubicBezTo>
                    <a:pt x="0" y="86926"/>
                    <a:pt x="12464" y="56836"/>
                    <a:pt x="34650" y="34650"/>
                  </a:cubicBezTo>
                  <a:cubicBezTo>
                    <a:pt x="56836" y="12464"/>
                    <a:pt x="86926" y="0"/>
                    <a:pt x="118302" y="0"/>
                  </a:cubicBezTo>
                  <a:close/>
                </a:path>
              </a:pathLst>
            </a:custGeom>
            <a:solidFill>
              <a:srgbClr val="E8E7E7"/>
            </a:solidFill>
            <a:ln w="38100" cap="rnd">
              <a:solidFill>
                <a:srgbClr val="000000"/>
              </a:solidFill>
              <a:prstDash val="solid"/>
              <a:round/>
            </a:ln>
          </p:spPr>
        </p:sp>
        <p:sp>
          <p:nvSpPr>
            <p:cNvPr name="TextBox 34" id="34"/>
            <p:cNvSpPr txBox="true"/>
            <p:nvPr/>
          </p:nvSpPr>
          <p:spPr>
            <a:xfrm>
              <a:off x="0" y="-9525"/>
              <a:ext cx="3974276" cy="886901"/>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46  dari 1000  data</a:t>
              </a:r>
            </a:p>
          </p:txBody>
        </p:sp>
      </p:grpSp>
      <p:sp>
        <p:nvSpPr>
          <p:cNvPr name="AutoShape 35" id="35"/>
          <p:cNvSpPr/>
          <p:nvPr/>
        </p:nvSpPr>
        <p:spPr>
          <a:xfrm flipV="true">
            <a:off x="9243782" y="7115577"/>
            <a:ext cx="0" cy="1454220"/>
          </a:xfrm>
          <a:prstGeom prst="line">
            <a:avLst/>
          </a:prstGeom>
          <a:ln cap="flat" w="38100">
            <a:solidFill>
              <a:srgbClr val="000000"/>
            </a:solidFill>
            <a:prstDash val="solid"/>
            <a:headEnd type="none" len="sm" w="sm"/>
            <a:tailEnd type="none" len="sm" w="sm"/>
          </a:ln>
        </p:spPr>
      </p:sp>
      <p:sp>
        <p:nvSpPr>
          <p:cNvPr name="AutoShape 36" id="36"/>
          <p:cNvSpPr/>
          <p:nvPr/>
        </p:nvSpPr>
        <p:spPr>
          <a:xfrm flipH="true" flipV="true">
            <a:off x="16259277" y="7115577"/>
            <a:ext cx="0" cy="145422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350436" y="189527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6449526" y="1993280"/>
            <a:ext cx="5550413" cy="693358"/>
            <a:chOff x="0" y="0"/>
            <a:chExt cx="3354944" cy="419100"/>
          </a:xfrm>
        </p:grpSpPr>
        <p:sp>
          <p:nvSpPr>
            <p:cNvPr name="Freeform 5" id="5"/>
            <p:cNvSpPr/>
            <p:nvPr/>
          </p:nvSpPr>
          <p:spPr>
            <a:xfrm flipH="false" flipV="false" rot="0">
              <a:off x="0" y="0"/>
              <a:ext cx="3354944" cy="419100"/>
            </a:xfrm>
            <a:custGeom>
              <a:avLst/>
              <a:gdLst/>
              <a:ahLst/>
              <a:cxnLst/>
              <a:rect r="r" b="b" t="t" l="l"/>
              <a:pathLst>
                <a:path h="419100" w="3354944">
                  <a:moveTo>
                    <a:pt x="66473" y="0"/>
                  </a:moveTo>
                  <a:lnTo>
                    <a:pt x="3288472" y="0"/>
                  </a:lnTo>
                  <a:cubicBezTo>
                    <a:pt x="3325183" y="0"/>
                    <a:pt x="3354944" y="29761"/>
                    <a:pt x="3354944" y="66473"/>
                  </a:cubicBezTo>
                  <a:lnTo>
                    <a:pt x="3354944" y="352627"/>
                  </a:lnTo>
                  <a:cubicBezTo>
                    <a:pt x="3354944" y="389339"/>
                    <a:pt x="3325183" y="419100"/>
                    <a:pt x="3288472" y="419100"/>
                  </a:cubicBezTo>
                  <a:lnTo>
                    <a:pt x="66473" y="419100"/>
                  </a:lnTo>
                  <a:cubicBezTo>
                    <a:pt x="29761" y="419100"/>
                    <a:pt x="0" y="389339"/>
                    <a:pt x="0" y="352627"/>
                  </a:cubicBezTo>
                  <a:lnTo>
                    <a:pt x="0" y="66473"/>
                  </a:lnTo>
                  <a:cubicBezTo>
                    <a:pt x="0" y="29761"/>
                    <a:pt x="29761" y="0"/>
                    <a:pt x="66473"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3354944"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DATA PREPARATION</a:t>
              </a:r>
            </a:p>
          </p:txBody>
        </p:sp>
      </p:grpSp>
      <p:grpSp>
        <p:nvGrpSpPr>
          <p:cNvPr name="Group 7" id="7"/>
          <p:cNvGrpSpPr/>
          <p:nvPr/>
        </p:nvGrpSpPr>
        <p:grpSpPr>
          <a:xfrm rot="0">
            <a:off x="7785081" y="3345148"/>
            <a:ext cx="2841202" cy="885304"/>
            <a:chOff x="0" y="0"/>
            <a:chExt cx="1345016" cy="419100"/>
          </a:xfrm>
        </p:grpSpPr>
        <p:sp>
          <p:nvSpPr>
            <p:cNvPr name="Freeform 8" id="8"/>
            <p:cNvSpPr/>
            <p:nvPr/>
          </p:nvSpPr>
          <p:spPr>
            <a:xfrm flipH="false" flipV="false" rot="0">
              <a:off x="0" y="0"/>
              <a:ext cx="1345016" cy="419100"/>
            </a:xfrm>
            <a:custGeom>
              <a:avLst/>
              <a:gdLst/>
              <a:ahLst/>
              <a:cxnLst/>
              <a:rect r="r" b="b" t="t" l="l"/>
              <a:pathLst>
                <a:path h="419100" w="1345016">
                  <a:moveTo>
                    <a:pt x="129857" y="0"/>
                  </a:moveTo>
                  <a:lnTo>
                    <a:pt x="1215159" y="0"/>
                  </a:lnTo>
                  <a:cubicBezTo>
                    <a:pt x="1249599" y="0"/>
                    <a:pt x="1282629" y="13681"/>
                    <a:pt x="1306982" y="38034"/>
                  </a:cubicBezTo>
                  <a:cubicBezTo>
                    <a:pt x="1331335" y="62387"/>
                    <a:pt x="1345016" y="95417"/>
                    <a:pt x="1345016" y="129857"/>
                  </a:cubicBezTo>
                  <a:lnTo>
                    <a:pt x="1345016" y="289243"/>
                  </a:lnTo>
                  <a:cubicBezTo>
                    <a:pt x="1345016" y="360961"/>
                    <a:pt x="1286877" y="419100"/>
                    <a:pt x="1215159" y="419100"/>
                  </a:cubicBezTo>
                  <a:lnTo>
                    <a:pt x="129857" y="419100"/>
                  </a:lnTo>
                  <a:cubicBezTo>
                    <a:pt x="58139" y="419100"/>
                    <a:pt x="0" y="360961"/>
                    <a:pt x="0" y="289243"/>
                  </a:cubicBezTo>
                  <a:lnTo>
                    <a:pt x="0" y="129857"/>
                  </a:lnTo>
                  <a:cubicBezTo>
                    <a:pt x="0" y="58139"/>
                    <a:pt x="58139" y="0"/>
                    <a:pt x="129857" y="0"/>
                  </a:cubicBezTo>
                  <a:close/>
                </a:path>
              </a:pathLst>
            </a:custGeom>
            <a:solidFill>
              <a:srgbClr val="E8E7E7"/>
            </a:solidFill>
            <a:ln w="38100" cap="rnd">
              <a:solidFill>
                <a:srgbClr val="000000"/>
              </a:solidFill>
              <a:prstDash val="solid"/>
              <a:round/>
            </a:ln>
          </p:spPr>
        </p:sp>
        <p:sp>
          <p:nvSpPr>
            <p:cNvPr name="TextBox 9" id="9"/>
            <p:cNvSpPr txBox="true"/>
            <p:nvPr/>
          </p:nvSpPr>
          <p:spPr>
            <a:xfrm>
              <a:off x="0" y="-9525"/>
              <a:ext cx="1345016"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CONSIST OF:</a:t>
              </a:r>
            </a:p>
          </p:txBody>
        </p:sp>
      </p:grpSp>
      <p:sp>
        <p:nvSpPr>
          <p:cNvPr name="AutoShape 10" id="10"/>
          <p:cNvSpPr/>
          <p:nvPr/>
        </p:nvSpPr>
        <p:spPr>
          <a:xfrm flipV="true">
            <a:off x="9205682" y="2686639"/>
            <a:ext cx="19050" cy="658510"/>
          </a:xfrm>
          <a:prstGeom prst="line">
            <a:avLst/>
          </a:prstGeom>
          <a:ln cap="flat" w="38100">
            <a:solidFill>
              <a:srgbClr val="000000"/>
            </a:solidFill>
            <a:prstDash val="solid"/>
            <a:headEnd type="none" len="sm" w="sm"/>
            <a:tailEnd type="none" len="sm" w="sm"/>
          </a:ln>
        </p:spPr>
      </p:sp>
      <p:grpSp>
        <p:nvGrpSpPr>
          <p:cNvPr name="Group 11" id="11"/>
          <p:cNvGrpSpPr/>
          <p:nvPr/>
        </p:nvGrpSpPr>
        <p:grpSpPr>
          <a:xfrm rot="0">
            <a:off x="1234719" y="5264803"/>
            <a:ext cx="3118729" cy="688503"/>
            <a:chOff x="0" y="0"/>
            <a:chExt cx="3974276" cy="877376"/>
          </a:xfrm>
        </p:grpSpPr>
        <p:sp>
          <p:nvSpPr>
            <p:cNvPr name="Freeform 12" id="12"/>
            <p:cNvSpPr/>
            <p:nvPr/>
          </p:nvSpPr>
          <p:spPr>
            <a:xfrm flipH="false" flipV="false" rot="0">
              <a:off x="0" y="0"/>
              <a:ext cx="3974276" cy="877376"/>
            </a:xfrm>
            <a:custGeom>
              <a:avLst/>
              <a:gdLst/>
              <a:ahLst/>
              <a:cxnLst/>
              <a:rect r="r" b="b" t="t" l="l"/>
              <a:pathLst>
                <a:path h="877376" w="3974276">
                  <a:moveTo>
                    <a:pt x="118302" y="0"/>
                  </a:moveTo>
                  <a:lnTo>
                    <a:pt x="3855974" y="0"/>
                  </a:lnTo>
                  <a:cubicBezTo>
                    <a:pt x="3921310" y="0"/>
                    <a:pt x="3974276" y="52965"/>
                    <a:pt x="3974276" y="118302"/>
                  </a:cubicBezTo>
                  <a:lnTo>
                    <a:pt x="3974276" y="759075"/>
                  </a:lnTo>
                  <a:cubicBezTo>
                    <a:pt x="3974276" y="824411"/>
                    <a:pt x="3921310" y="877376"/>
                    <a:pt x="3855974" y="877376"/>
                  </a:cubicBezTo>
                  <a:lnTo>
                    <a:pt x="118302" y="877376"/>
                  </a:lnTo>
                  <a:cubicBezTo>
                    <a:pt x="86926" y="877376"/>
                    <a:pt x="56836" y="864913"/>
                    <a:pt x="34650" y="842727"/>
                  </a:cubicBezTo>
                  <a:cubicBezTo>
                    <a:pt x="12464" y="820541"/>
                    <a:pt x="0" y="790450"/>
                    <a:pt x="0" y="759075"/>
                  </a:cubicBezTo>
                  <a:lnTo>
                    <a:pt x="0" y="118302"/>
                  </a:lnTo>
                  <a:cubicBezTo>
                    <a:pt x="0" y="86926"/>
                    <a:pt x="12464" y="56836"/>
                    <a:pt x="34650" y="34650"/>
                  </a:cubicBezTo>
                  <a:cubicBezTo>
                    <a:pt x="56836" y="12464"/>
                    <a:pt x="86926" y="0"/>
                    <a:pt x="118302" y="0"/>
                  </a:cubicBezTo>
                  <a:close/>
                </a:path>
              </a:pathLst>
            </a:custGeom>
            <a:solidFill>
              <a:srgbClr val="E8E7E7"/>
            </a:solidFill>
            <a:ln w="38100" cap="rnd">
              <a:solidFill>
                <a:srgbClr val="000000"/>
              </a:solidFill>
              <a:prstDash val="solid"/>
              <a:round/>
            </a:ln>
          </p:spPr>
        </p:sp>
        <p:sp>
          <p:nvSpPr>
            <p:cNvPr name="TextBox 13" id="13"/>
            <p:cNvSpPr txBox="true"/>
            <p:nvPr/>
          </p:nvSpPr>
          <p:spPr>
            <a:xfrm>
              <a:off x="0" y="-9525"/>
              <a:ext cx="3974276" cy="886901"/>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IMPORT DATA</a:t>
              </a:r>
            </a:p>
          </p:txBody>
        </p:sp>
      </p:grpSp>
      <p:sp>
        <p:nvSpPr>
          <p:cNvPr name="TextBox 14" id="14"/>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15" id="15"/>
          <p:cNvSpPr txBox="true"/>
          <p:nvPr/>
        </p:nvSpPr>
        <p:spPr>
          <a:xfrm rot="0">
            <a:off x="6039277" y="738958"/>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sp>
        <p:nvSpPr>
          <p:cNvPr name="AutoShape 16" id="16"/>
          <p:cNvSpPr/>
          <p:nvPr/>
        </p:nvSpPr>
        <p:spPr>
          <a:xfrm flipH="true">
            <a:off x="2605011" y="4230452"/>
            <a:ext cx="6600671" cy="1034351"/>
          </a:xfrm>
          <a:prstGeom prst="line">
            <a:avLst/>
          </a:prstGeom>
          <a:ln cap="flat" w="38100">
            <a:solidFill>
              <a:srgbClr val="000000"/>
            </a:solidFill>
            <a:prstDash val="solid"/>
            <a:headEnd type="none" len="sm" w="sm"/>
            <a:tailEnd type="none" len="sm" w="sm"/>
          </a:ln>
        </p:spPr>
      </p:sp>
      <p:sp>
        <p:nvSpPr>
          <p:cNvPr name="AutoShape 17" id="17"/>
          <p:cNvSpPr/>
          <p:nvPr/>
        </p:nvSpPr>
        <p:spPr>
          <a:xfrm>
            <a:off x="9205682" y="4230452"/>
            <a:ext cx="4851161" cy="913048"/>
          </a:xfrm>
          <a:prstGeom prst="line">
            <a:avLst/>
          </a:prstGeom>
          <a:ln cap="flat" w="38100">
            <a:solidFill>
              <a:srgbClr val="000000"/>
            </a:solidFill>
            <a:prstDash val="solid"/>
            <a:headEnd type="none" len="sm" w="sm"/>
            <a:tailEnd type="none" len="sm" w="sm"/>
          </a:ln>
        </p:spPr>
      </p:sp>
      <p:grpSp>
        <p:nvGrpSpPr>
          <p:cNvPr name="Group 18" id="18"/>
          <p:cNvGrpSpPr/>
          <p:nvPr/>
        </p:nvGrpSpPr>
        <p:grpSpPr>
          <a:xfrm rot="0">
            <a:off x="12248723" y="5143500"/>
            <a:ext cx="3118729" cy="688503"/>
            <a:chOff x="0" y="0"/>
            <a:chExt cx="3974276" cy="877376"/>
          </a:xfrm>
        </p:grpSpPr>
        <p:sp>
          <p:nvSpPr>
            <p:cNvPr name="Freeform 19" id="19"/>
            <p:cNvSpPr/>
            <p:nvPr/>
          </p:nvSpPr>
          <p:spPr>
            <a:xfrm flipH="false" flipV="false" rot="0">
              <a:off x="0" y="0"/>
              <a:ext cx="3974276" cy="877376"/>
            </a:xfrm>
            <a:custGeom>
              <a:avLst/>
              <a:gdLst/>
              <a:ahLst/>
              <a:cxnLst/>
              <a:rect r="r" b="b" t="t" l="l"/>
              <a:pathLst>
                <a:path h="877376" w="3974276">
                  <a:moveTo>
                    <a:pt x="118302" y="0"/>
                  </a:moveTo>
                  <a:lnTo>
                    <a:pt x="3855974" y="0"/>
                  </a:lnTo>
                  <a:cubicBezTo>
                    <a:pt x="3921310" y="0"/>
                    <a:pt x="3974276" y="52965"/>
                    <a:pt x="3974276" y="118302"/>
                  </a:cubicBezTo>
                  <a:lnTo>
                    <a:pt x="3974276" y="759075"/>
                  </a:lnTo>
                  <a:cubicBezTo>
                    <a:pt x="3974276" y="824411"/>
                    <a:pt x="3921310" y="877376"/>
                    <a:pt x="3855974" y="877376"/>
                  </a:cubicBezTo>
                  <a:lnTo>
                    <a:pt x="118302" y="877376"/>
                  </a:lnTo>
                  <a:cubicBezTo>
                    <a:pt x="86926" y="877376"/>
                    <a:pt x="56836" y="864913"/>
                    <a:pt x="34650" y="842727"/>
                  </a:cubicBezTo>
                  <a:cubicBezTo>
                    <a:pt x="12464" y="820541"/>
                    <a:pt x="0" y="790450"/>
                    <a:pt x="0" y="759075"/>
                  </a:cubicBezTo>
                  <a:lnTo>
                    <a:pt x="0" y="118302"/>
                  </a:lnTo>
                  <a:cubicBezTo>
                    <a:pt x="0" y="86926"/>
                    <a:pt x="12464" y="56836"/>
                    <a:pt x="34650" y="34650"/>
                  </a:cubicBezTo>
                  <a:cubicBezTo>
                    <a:pt x="56836" y="12464"/>
                    <a:pt x="86926" y="0"/>
                    <a:pt x="118302" y="0"/>
                  </a:cubicBezTo>
                  <a:close/>
                </a:path>
              </a:pathLst>
            </a:custGeom>
            <a:solidFill>
              <a:srgbClr val="E8E7E7"/>
            </a:solidFill>
            <a:ln w="38100" cap="rnd">
              <a:solidFill>
                <a:srgbClr val="000000"/>
              </a:solidFill>
              <a:prstDash val="solid"/>
              <a:round/>
            </a:ln>
          </p:spPr>
        </p:sp>
        <p:sp>
          <p:nvSpPr>
            <p:cNvPr name="TextBox 20" id="20"/>
            <p:cNvSpPr txBox="true"/>
            <p:nvPr/>
          </p:nvSpPr>
          <p:spPr>
            <a:xfrm>
              <a:off x="0" y="-9525"/>
              <a:ext cx="3974276" cy="886901"/>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CLEANING</a:t>
              </a:r>
            </a:p>
          </p:txBody>
        </p:sp>
      </p:grpSp>
      <p:grpSp>
        <p:nvGrpSpPr>
          <p:cNvPr name="Group 21" id="21"/>
          <p:cNvGrpSpPr/>
          <p:nvPr/>
        </p:nvGrpSpPr>
        <p:grpSpPr>
          <a:xfrm rot="0">
            <a:off x="582956" y="6947652"/>
            <a:ext cx="9579678" cy="2687794"/>
            <a:chOff x="0" y="0"/>
            <a:chExt cx="12573146" cy="3527679"/>
          </a:xfrm>
        </p:grpSpPr>
        <p:sp>
          <p:nvSpPr>
            <p:cNvPr name="Freeform 22" id="22"/>
            <p:cNvSpPr/>
            <p:nvPr/>
          </p:nvSpPr>
          <p:spPr>
            <a:xfrm flipH="false" flipV="false" rot="0">
              <a:off x="0" y="0"/>
              <a:ext cx="12573147" cy="3527679"/>
            </a:xfrm>
            <a:custGeom>
              <a:avLst/>
              <a:gdLst/>
              <a:ahLst/>
              <a:cxnLst/>
              <a:rect r="r" b="b" t="t" l="l"/>
              <a:pathLst>
                <a:path h="3527679" w="12573147">
                  <a:moveTo>
                    <a:pt x="38514" y="0"/>
                  </a:moveTo>
                  <a:lnTo>
                    <a:pt x="12534633" y="0"/>
                  </a:lnTo>
                  <a:cubicBezTo>
                    <a:pt x="12555903" y="0"/>
                    <a:pt x="12573147" y="17243"/>
                    <a:pt x="12573147" y="38514"/>
                  </a:cubicBezTo>
                  <a:lnTo>
                    <a:pt x="12573147" y="3489165"/>
                  </a:lnTo>
                  <a:cubicBezTo>
                    <a:pt x="12573147" y="3499379"/>
                    <a:pt x="12569089" y="3509176"/>
                    <a:pt x="12561866" y="3516399"/>
                  </a:cubicBezTo>
                  <a:cubicBezTo>
                    <a:pt x="12554643" y="3523621"/>
                    <a:pt x="12544847" y="3527679"/>
                    <a:pt x="12534633" y="3527679"/>
                  </a:cubicBezTo>
                  <a:lnTo>
                    <a:pt x="38514" y="3527679"/>
                  </a:lnTo>
                  <a:cubicBezTo>
                    <a:pt x="28299" y="3527679"/>
                    <a:pt x="18503" y="3523621"/>
                    <a:pt x="11280" y="3516399"/>
                  </a:cubicBezTo>
                  <a:cubicBezTo>
                    <a:pt x="4058" y="3509176"/>
                    <a:pt x="0" y="3499379"/>
                    <a:pt x="0" y="3489165"/>
                  </a:cubicBezTo>
                  <a:lnTo>
                    <a:pt x="0" y="38514"/>
                  </a:lnTo>
                  <a:cubicBezTo>
                    <a:pt x="0" y="28299"/>
                    <a:pt x="4058" y="18503"/>
                    <a:pt x="11280" y="11280"/>
                  </a:cubicBezTo>
                  <a:cubicBezTo>
                    <a:pt x="18503" y="4058"/>
                    <a:pt x="28299" y="0"/>
                    <a:pt x="38514" y="0"/>
                  </a:cubicBezTo>
                  <a:close/>
                </a:path>
              </a:pathLst>
            </a:custGeom>
            <a:solidFill>
              <a:srgbClr val="E8E7E7"/>
            </a:solidFill>
            <a:ln w="38100" cap="rnd">
              <a:solidFill>
                <a:srgbClr val="000000"/>
              </a:solidFill>
              <a:prstDash val="solid"/>
              <a:round/>
            </a:ln>
          </p:spPr>
        </p:sp>
        <p:sp>
          <p:nvSpPr>
            <p:cNvPr name="TextBox 23" id="23"/>
            <p:cNvSpPr txBox="true"/>
            <p:nvPr/>
          </p:nvSpPr>
          <p:spPr>
            <a:xfrm>
              <a:off x="0" y="-85725"/>
              <a:ext cx="12573146" cy="3613404"/>
            </a:xfrm>
            <a:prstGeom prst="rect">
              <a:avLst/>
            </a:prstGeom>
          </p:spPr>
          <p:txBody>
            <a:bodyPr anchor="ctr" rtlCol="false" tIns="50800" lIns="50800" bIns="50800" rIns="50800"/>
            <a:lstStyle/>
            <a:p>
              <a:pPr algn="just">
                <a:lnSpc>
                  <a:spcPts val="2808"/>
                </a:lnSpc>
              </a:pPr>
              <a:r>
                <a:rPr lang="en-US" sz="1800" spc="-107">
                  <a:solidFill>
                    <a:srgbClr val="000000"/>
                  </a:solidFill>
                  <a:latin typeface="Times New Roman"/>
                  <a:ea typeface="Times New Roman"/>
                  <a:cs typeface="Times New Roman"/>
                  <a:sym typeface="Times New Roman"/>
                </a:rPr>
                <a:t>     Import Data menggunakan 2 tools, yaitu:</a:t>
              </a:r>
            </a:p>
            <a:p>
              <a:pPr algn="just" marL="388620" indent="-194310" lvl="1">
                <a:lnSpc>
                  <a:spcPts val="2808"/>
                </a:lnSpc>
                <a:buAutoNum type="arabicPeriod" startAt="1"/>
              </a:pPr>
              <a:r>
                <a:rPr lang="en-US" sz="1800" spc="-107">
                  <a:solidFill>
                    <a:srgbClr val="000000"/>
                  </a:solidFill>
                  <a:latin typeface="Times New Roman"/>
                  <a:ea typeface="Times New Roman"/>
                  <a:cs typeface="Times New Roman"/>
                  <a:sym typeface="Times New Roman"/>
                </a:rPr>
                <a:t> Jupyter Notebook (Eksplorasi awal dan validasi struktur data dengan menggunakan library Pandas dan Numpy</a:t>
              </a:r>
            </a:p>
            <a:p>
              <a:pPr algn="just" marL="388620" indent="-194310" lvl="1">
                <a:lnSpc>
                  <a:spcPts val="2808"/>
                </a:lnSpc>
                <a:buAutoNum type="arabicPeriod" startAt="1"/>
              </a:pPr>
              <a:r>
                <a:rPr lang="en-US" sz="1800" spc="-107">
                  <a:solidFill>
                    <a:srgbClr val="000000"/>
                  </a:solidFill>
                  <a:latin typeface="Times New Roman"/>
                  <a:ea typeface="Times New Roman"/>
                  <a:cs typeface="Times New Roman"/>
                  <a:sym typeface="Times New Roman"/>
                </a:rPr>
                <a:t> Power BI  untuk proses visualisasi lanjutan</a:t>
              </a:r>
            </a:p>
            <a:p>
              <a:pPr algn="just">
                <a:lnSpc>
                  <a:spcPts val="2808"/>
                </a:lnSpc>
              </a:pPr>
            </a:p>
            <a:p>
              <a:pPr algn="just">
                <a:lnSpc>
                  <a:spcPts val="2808"/>
                </a:lnSpc>
              </a:pPr>
              <a:r>
                <a:rPr lang="en-US" sz="1800" spc="-107">
                  <a:solidFill>
                    <a:srgbClr val="000000"/>
                  </a:solidFill>
                  <a:latin typeface="Times New Roman"/>
                  <a:ea typeface="Times New Roman"/>
                  <a:cs typeface="Times New Roman"/>
                  <a:sym typeface="Times New Roman"/>
                </a:rPr>
                <a:t>      Data berbentuk struktur tabular dengan :</a:t>
              </a:r>
            </a:p>
            <a:p>
              <a:pPr algn="just" marL="388620" indent="-194310" lvl="1">
                <a:lnSpc>
                  <a:spcPts val="2808"/>
                </a:lnSpc>
                <a:buAutoNum type="arabicPeriod" startAt="1"/>
              </a:pPr>
              <a:r>
                <a:rPr lang="en-US" sz="1800" spc="-107">
                  <a:solidFill>
                    <a:srgbClr val="000000"/>
                  </a:solidFill>
                  <a:latin typeface="Times New Roman"/>
                  <a:ea typeface="Times New Roman"/>
                  <a:cs typeface="Times New Roman"/>
                  <a:sym typeface="Times New Roman"/>
                </a:rPr>
                <a:t> 1 baris = 1 transaksi perjalanan</a:t>
              </a:r>
            </a:p>
            <a:p>
              <a:pPr algn="just" marL="388620" indent="-194310" lvl="1">
                <a:lnSpc>
                  <a:spcPts val="2808"/>
                </a:lnSpc>
                <a:buAutoNum type="arabicPeriod" startAt="1"/>
              </a:pPr>
              <a:r>
                <a:rPr lang="en-US" sz="1800" spc="-107">
                  <a:solidFill>
                    <a:srgbClr val="000000"/>
                  </a:solidFill>
                  <a:latin typeface="Times New Roman"/>
                  <a:ea typeface="Times New Roman"/>
                  <a:cs typeface="Times New Roman"/>
                  <a:sym typeface="Times New Roman"/>
                </a:rPr>
                <a:t> Tipe data numerik dan kategori</a:t>
              </a:r>
            </a:p>
          </p:txBody>
        </p:sp>
      </p:grpSp>
      <p:sp>
        <p:nvSpPr>
          <p:cNvPr name="AutoShape 24" id="24"/>
          <p:cNvSpPr/>
          <p:nvPr/>
        </p:nvSpPr>
        <p:spPr>
          <a:xfrm flipH="true" flipV="true">
            <a:off x="2605011" y="5953306"/>
            <a:ext cx="12899" cy="994347"/>
          </a:xfrm>
          <a:prstGeom prst="line">
            <a:avLst/>
          </a:prstGeom>
          <a:ln cap="flat" w="38100">
            <a:solidFill>
              <a:srgbClr val="000000"/>
            </a:solidFill>
            <a:prstDash val="solid"/>
            <a:headEnd type="none" len="sm" w="sm"/>
            <a:tailEnd type="none" len="sm" w="sm"/>
          </a:ln>
        </p:spPr>
      </p:sp>
      <p:grpSp>
        <p:nvGrpSpPr>
          <p:cNvPr name="Group 25" id="25"/>
          <p:cNvGrpSpPr/>
          <p:nvPr/>
        </p:nvGrpSpPr>
        <p:grpSpPr>
          <a:xfrm rot="0">
            <a:off x="11959895" y="6260628"/>
            <a:ext cx="6148526" cy="3772510"/>
            <a:chOff x="0" y="0"/>
            <a:chExt cx="7709409" cy="4730210"/>
          </a:xfrm>
        </p:grpSpPr>
        <p:sp>
          <p:nvSpPr>
            <p:cNvPr name="Freeform 26" id="26"/>
            <p:cNvSpPr/>
            <p:nvPr/>
          </p:nvSpPr>
          <p:spPr>
            <a:xfrm flipH="false" flipV="false" rot="0">
              <a:off x="0" y="0"/>
              <a:ext cx="7709409" cy="4730210"/>
            </a:xfrm>
            <a:custGeom>
              <a:avLst/>
              <a:gdLst/>
              <a:ahLst/>
              <a:cxnLst/>
              <a:rect r="r" b="b" t="t" l="l"/>
              <a:pathLst>
                <a:path h="4730210" w="7709409">
                  <a:moveTo>
                    <a:pt x="60006" y="0"/>
                  </a:moveTo>
                  <a:lnTo>
                    <a:pt x="7649403" y="0"/>
                  </a:lnTo>
                  <a:cubicBezTo>
                    <a:pt x="7665317" y="0"/>
                    <a:pt x="7680581" y="6322"/>
                    <a:pt x="7691834" y="17575"/>
                  </a:cubicBezTo>
                  <a:cubicBezTo>
                    <a:pt x="7703087" y="28829"/>
                    <a:pt x="7709409" y="44092"/>
                    <a:pt x="7709409" y="60006"/>
                  </a:cubicBezTo>
                  <a:lnTo>
                    <a:pt x="7709409" y="4670204"/>
                  </a:lnTo>
                  <a:cubicBezTo>
                    <a:pt x="7709409" y="4703344"/>
                    <a:pt x="7682543" y="4730210"/>
                    <a:pt x="7649403" y="4730210"/>
                  </a:cubicBezTo>
                  <a:lnTo>
                    <a:pt x="60006" y="4730210"/>
                  </a:lnTo>
                  <a:cubicBezTo>
                    <a:pt x="44092" y="4730210"/>
                    <a:pt x="28829" y="4723888"/>
                    <a:pt x="17575" y="4712635"/>
                  </a:cubicBezTo>
                  <a:cubicBezTo>
                    <a:pt x="6322" y="4701381"/>
                    <a:pt x="0" y="4686118"/>
                    <a:pt x="0" y="4670204"/>
                  </a:cubicBezTo>
                  <a:lnTo>
                    <a:pt x="0" y="60006"/>
                  </a:lnTo>
                  <a:cubicBezTo>
                    <a:pt x="0" y="44092"/>
                    <a:pt x="6322" y="28829"/>
                    <a:pt x="17575" y="17575"/>
                  </a:cubicBezTo>
                  <a:cubicBezTo>
                    <a:pt x="28829" y="6322"/>
                    <a:pt x="44092" y="0"/>
                    <a:pt x="60006" y="0"/>
                  </a:cubicBezTo>
                  <a:close/>
                </a:path>
              </a:pathLst>
            </a:custGeom>
            <a:solidFill>
              <a:srgbClr val="E8E7E7"/>
            </a:solidFill>
            <a:ln w="38100" cap="rnd">
              <a:solidFill>
                <a:srgbClr val="000000"/>
              </a:solidFill>
              <a:prstDash val="solid"/>
              <a:round/>
            </a:ln>
          </p:spPr>
        </p:sp>
        <p:sp>
          <p:nvSpPr>
            <p:cNvPr name="TextBox 27" id="27"/>
            <p:cNvSpPr txBox="true"/>
            <p:nvPr/>
          </p:nvSpPr>
          <p:spPr>
            <a:xfrm>
              <a:off x="0" y="-123825"/>
              <a:ext cx="7709409" cy="4854035"/>
            </a:xfrm>
            <a:prstGeom prst="rect">
              <a:avLst/>
            </a:prstGeom>
          </p:spPr>
          <p:txBody>
            <a:bodyPr anchor="ctr" rtlCol="false" tIns="50800" lIns="50800" bIns="50800" rIns="50800"/>
            <a:lstStyle/>
            <a:p>
              <a:pPr algn="just" marL="518160" indent="-259080" lvl="1">
                <a:lnSpc>
                  <a:spcPts val="3672"/>
                </a:lnSpc>
                <a:buAutoNum type="arabicPeriod" startAt="1"/>
              </a:pPr>
              <a:r>
                <a:rPr lang="en-US" sz="2400" spc="-144">
                  <a:solidFill>
                    <a:srgbClr val="000000"/>
                  </a:solidFill>
                  <a:latin typeface="Times New Roman MT Condensed"/>
                  <a:ea typeface="Times New Roman MT Condensed"/>
                  <a:cs typeface="Times New Roman MT Condensed"/>
                  <a:sym typeface="Times New Roman MT Condensed"/>
                </a:rPr>
                <a:t>Nilai kosong pada variabel kategori diimputasi dengan </a:t>
              </a:r>
              <a:r>
                <a:rPr lang="en-US" sz="2400" i="true" spc="-144">
                  <a:solidFill>
                    <a:srgbClr val="000000"/>
                  </a:solidFill>
                  <a:latin typeface="Times New Roman MT Condensed Italics"/>
                  <a:ea typeface="Times New Roman MT Condensed Italics"/>
                  <a:cs typeface="Times New Roman MT Condensed Italics"/>
                  <a:sym typeface="Times New Roman MT Condensed Italics"/>
                </a:rPr>
                <a:t>“Unknown”</a:t>
              </a:r>
            </a:p>
            <a:p>
              <a:pPr algn="just" marL="518160" indent="-259080" lvl="1">
                <a:lnSpc>
                  <a:spcPts val="3672"/>
                </a:lnSpc>
                <a:buAutoNum type="arabicPeriod" startAt="1"/>
              </a:pPr>
              <a:r>
                <a:rPr lang="en-US" sz="2400" spc="-144">
                  <a:solidFill>
                    <a:srgbClr val="000000"/>
                  </a:solidFill>
                  <a:latin typeface="Times New Roman MT Condensed"/>
                  <a:ea typeface="Times New Roman MT Condensed"/>
                  <a:cs typeface="Times New Roman MT Condensed"/>
                  <a:sym typeface="Times New Roman MT Condensed"/>
                </a:rPr>
                <a:t>Nilai kosong pada variabel numerik diimputasi dengan </a:t>
              </a:r>
              <a:r>
                <a:rPr lang="en-US" sz="2400" i="true" spc="-144">
                  <a:solidFill>
                    <a:srgbClr val="000000"/>
                  </a:solidFill>
                  <a:latin typeface="Times New Roman MT Condensed Italics"/>
                  <a:ea typeface="Times New Roman MT Condensed Italics"/>
                  <a:cs typeface="Times New Roman MT Condensed Italics"/>
                  <a:sym typeface="Times New Roman MT Condensed Italics"/>
                </a:rPr>
                <a:t>Median </a:t>
              </a:r>
              <a:r>
                <a:rPr lang="en-US" sz="2400" spc="-144">
                  <a:solidFill>
                    <a:srgbClr val="000000"/>
                  </a:solidFill>
                  <a:latin typeface="Times New Roman MT Condensed"/>
                  <a:ea typeface="Times New Roman MT Condensed"/>
                  <a:cs typeface="Times New Roman MT Condensed"/>
                  <a:sym typeface="Times New Roman MT Condensed"/>
                </a:rPr>
                <a:t>dan </a:t>
              </a:r>
              <a:r>
                <a:rPr lang="en-US" sz="2400" i="true" spc="-144">
                  <a:solidFill>
                    <a:srgbClr val="000000"/>
                  </a:solidFill>
                  <a:latin typeface="Times New Roman MT Condensed Italics"/>
                  <a:ea typeface="Times New Roman MT Condensed Italics"/>
                  <a:cs typeface="Times New Roman MT Condensed Italics"/>
                  <a:sym typeface="Times New Roman MT Condensed Italics"/>
                </a:rPr>
                <a:t>Mean.</a:t>
              </a:r>
            </a:p>
            <a:p>
              <a:pPr algn="just" marL="518160" indent="-259080" lvl="1">
                <a:lnSpc>
                  <a:spcPts val="3672"/>
                </a:lnSpc>
                <a:buAutoNum type="arabicPeriod" startAt="1"/>
              </a:pPr>
              <a:r>
                <a:rPr lang="en-US" sz="2400" spc="-144">
                  <a:solidFill>
                    <a:srgbClr val="000000"/>
                  </a:solidFill>
                  <a:latin typeface="Times New Roman MT Condensed"/>
                  <a:ea typeface="Times New Roman MT Condensed"/>
                  <a:cs typeface="Times New Roman MT Condensed"/>
                  <a:sym typeface="Times New Roman MT Condensed"/>
                </a:rPr>
                <a:t>Nilai outlier tetap disimpan karena jumlah outlier nya terlalu sedikit sehingga jikalau ditindaklanjuti, misal dibuang, maka akan terjadi bias analisis</a:t>
              </a:r>
            </a:p>
            <a:p>
              <a:pPr algn="just" marL="518160" indent="-259080" lvl="1">
                <a:lnSpc>
                  <a:spcPts val="3672"/>
                </a:lnSpc>
                <a:buAutoNum type="arabicPeriod" startAt="1"/>
              </a:pPr>
              <a:r>
                <a:rPr lang="en-US" sz="2400" spc="-144">
                  <a:solidFill>
                    <a:srgbClr val="000000"/>
                  </a:solidFill>
                  <a:latin typeface="Times New Roman MT Condensed"/>
                  <a:ea typeface="Times New Roman MT Condensed"/>
                  <a:cs typeface="Times New Roman MT Condensed"/>
                  <a:sym typeface="Times New Roman MT Condensed"/>
                </a:rPr>
                <a:t>Mengstandarisasi tipe data object jadi category</a:t>
              </a:r>
            </a:p>
          </p:txBody>
        </p:sp>
      </p:grpSp>
      <p:sp>
        <p:nvSpPr>
          <p:cNvPr name="AutoShape 28" id="28"/>
          <p:cNvSpPr/>
          <p:nvPr/>
        </p:nvSpPr>
        <p:spPr>
          <a:xfrm flipH="true" flipV="true">
            <a:off x="14056843" y="5832003"/>
            <a:ext cx="2454" cy="428625"/>
          </a:xfrm>
          <a:prstGeom prst="line">
            <a:avLst/>
          </a:prstGeom>
          <a:ln cap="flat" w="38100">
            <a:solidFill>
              <a:srgbClr val="000000"/>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350436" y="189527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6449526" y="1993280"/>
            <a:ext cx="5550413" cy="693358"/>
            <a:chOff x="0" y="0"/>
            <a:chExt cx="3354944" cy="419100"/>
          </a:xfrm>
        </p:grpSpPr>
        <p:sp>
          <p:nvSpPr>
            <p:cNvPr name="Freeform 5" id="5"/>
            <p:cNvSpPr/>
            <p:nvPr/>
          </p:nvSpPr>
          <p:spPr>
            <a:xfrm flipH="false" flipV="false" rot="0">
              <a:off x="0" y="0"/>
              <a:ext cx="3354944" cy="419100"/>
            </a:xfrm>
            <a:custGeom>
              <a:avLst/>
              <a:gdLst/>
              <a:ahLst/>
              <a:cxnLst/>
              <a:rect r="r" b="b" t="t" l="l"/>
              <a:pathLst>
                <a:path h="419100" w="3354944">
                  <a:moveTo>
                    <a:pt x="66473" y="0"/>
                  </a:moveTo>
                  <a:lnTo>
                    <a:pt x="3288472" y="0"/>
                  </a:lnTo>
                  <a:cubicBezTo>
                    <a:pt x="3325183" y="0"/>
                    <a:pt x="3354944" y="29761"/>
                    <a:pt x="3354944" y="66473"/>
                  </a:cubicBezTo>
                  <a:lnTo>
                    <a:pt x="3354944" y="352627"/>
                  </a:lnTo>
                  <a:cubicBezTo>
                    <a:pt x="3354944" y="389339"/>
                    <a:pt x="3325183" y="419100"/>
                    <a:pt x="3288472" y="419100"/>
                  </a:cubicBezTo>
                  <a:lnTo>
                    <a:pt x="66473" y="419100"/>
                  </a:lnTo>
                  <a:cubicBezTo>
                    <a:pt x="29761" y="419100"/>
                    <a:pt x="0" y="389339"/>
                    <a:pt x="0" y="352627"/>
                  </a:cubicBezTo>
                  <a:lnTo>
                    <a:pt x="0" y="66473"/>
                  </a:lnTo>
                  <a:cubicBezTo>
                    <a:pt x="0" y="29761"/>
                    <a:pt x="29761" y="0"/>
                    <a:pt x="66473"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3354944"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DATA PREPARATION</a:t>
              </a:r>
            </a:p>
          </p:txBody>
        </p:sp>
      </p:grpSp>
      <p:grpSp>
        <p:nvGrpSpPr>
          <p:cNvPr name="Group 7" id="7"/>
          <p:cNvGrpSpPr/>
          <p:nvPr/>
        </p:nvGrpSpPr>
        <p:grpSpPr>
          <a:xfrm rot="0">
            <a:off x="7825747" y="3166244"/>
            <a:ext cx="2841202" cy="885304"/>
            <a:chOff x="0" y="0"/>
            <a:chExt cx="1345016" cy="419100"/>
          </a:xfrm>
        </p:grpSpPr>
        <p:sp>
          <p:nvSpPr>
            <p:cNvPr name="Freeform 8" id="8"/>
            <p:cNvSpPr/>
            <p:nvPr/>
          </p:nvSpPr>
          <p:spPr>
            <a:xfrm flipH="false" flipV="false" rot="0">
              <a:off x="0" y="0"/>
              <a:ext cx="1345016" cy="419100"/>
            </a:xfrm>
            <a:custGeom>
              <a:avLst/>
              <a:gdLst/>
              <a:ahLst/>
              <a:cxnLst/>
              <a:rect r="r" b="b" t="t" l="l"/>
              <a:pathLst>
                <a:path h="419100" w="1345016">
                  <a:moveTo>
                    <a:pt x="129857" y="0"/>
                  </a:moveTo>
                  <a:lnTo>
                    <a:pt x="1215159" y="0"/>
                  </a:lnTo>
                  <a:cubicBezTo>
                    <a:pt x="1249599" y="0"/>
                    <a:pt x="1282629" y="13681"/>
                    <a:pt x="1306982" y="38034"/>
                  </a:cubicBezTo>
                  <a:cubicBezTo>
                    <a:pt x="1331335" y="62387"/>
                    <a:pt x="1345016" y="95417"/>
                    <a:pt x="1345016" y="129857"/>
                  </a:cubicBezTo>
                  <a:lnTo>
                    <a:pt x="1345016" y="289243"/>
                  </a:lnTo>
                  <a:cubicBezTo>
                    <a:pt x="1345016" y="360961"/>
                    <a:pt x="1286877" y="419100"/>
                    <a:pt x="1215159" y="419100"/>
                  </a:cubicBezTo>
                  <a:lnTo>
                    <a:pt x="129857" y="419100"/>
                  </a:lnTo>
                  <a:cubicBezTo>
                    <a:pt x="58139" y="419100"/>
                    <a:pt x="0" y="360961"/>
                    <a:pt x="0" y="289243"/>
                  </a:cubicBezTo>
                  <a:lnTo>
                    <a:pt x="0" y="129857"/>
                  </a:lnTo>
                  <a:cubicBezTo>
                    <a:pt x="0" y="58139"/>
                    <a:pt x="58139" y="0"/>
                    <a:pt x="129857" y="0"/>
                  </a:cubicBezTo>
                  <a:close/>
                </a:path>
              </a:pathLst>
            </a:custGeom>
            <a:solidFill>
              <a:srgbClr val="E8E7E7"/>
            </a:solidFill>
            <a:ln w="38100" cap="rnd">
              <a:solidFill>
                <a:srgbClr val="000000"/>
              </a:solidFill>
              <a:prstDash val="solid"/>
              <a:round/>
            </a:ln>
          </p:spPr>
        </p:sp>
        <p:sp>
          <p:nvSpPr>
            <p:cNvPr name="TextBox 9" id="9"/>
            <p:cNvSpPr txBox="true"/>
            <p:nvPr/>
          </p:nvSpPr>
          <p:spPr>
            <a:xfrm>
              <a:off x="0" y="-9525"/>
              <a:ext cx="1345016"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CONSIST OF:</a:t>
              </a:r>
            </a:p>
          </p:txBody>
        </p:sp>
      </p:grpSp>
      <p:sp>
        <p:nvSpPr>
          <p:cNvPr name="AutoShape 10" id="10"/>
          <p:cNvSpPr/>
          <p:nvPr/>
        </p:nvSpPr>
        <p:spPr>
          <a:xfrm flipH="true" flipV="true">
            <a:off x="9224732" y="2686639"/>
            <a:ext cx="21616" cy="479606"/>
          </a:xfrm>
          <a:prstGeom prst="line">
            <a:avLst/>
          </a:prstGeom>
          <a:ln cap="flat" w="38100">
            <a:solidFill>
              <a:srgbClr val="000000"/>
            </a:solidFill>
            <a:prstDash val="solid"/>
            <a:headEnd type="none" len="sm" w="sm"/>
            <a:tailEnd type="none" len="sm" w="sm"/>
          </a:ln>
        </p:spPr>
      </p:sp>
      <p:sp>
        <p:nvSpPr>
          <p:cNvPr name="AutoShape 11" id="11"/>
          <p:cNvSpPr/>
          <p:nvPr/>
        </p:nvSpPr>
        <p:spPr>
          <a:xfrm flipH="true">
            <a:off x="3297342" y="4051548"/>
            <a:ext cx="5949006" cy="1306059"/>
          </a:xfrm>
          <a:prstGeom prst="line">
            <a:avLst/>
          </a:prstGeom>
          <a:ln cap="flat" w="38100">
            <a:solidFill>
              <a:srgbClr val="000000"/>
            </a:solidFill>
            <a:prstDash val="solid"/>
            <a:headEnd type="none" len="sm" w="sm"/>
            <a:tailEnd type="none" len="sm" w="sm"/>
          </a:ln>
        </p:spPr>
      </p:sp>
      <p:grpSp>
        <p:nvGrpSpPr>
          <p:cNvPr name="Group 12" id="12"/>
          <p:cNvGrpSpPr/>
          <p:nvPr/>
        </p:nvGrpSpPr>
        <p:grpSpPr>
          <a:xfrm rot="0">
            <a:off x="1556022" y="5357607"/>
            <a:ext cx="3482638" cy="1069467"/>
            <a:chOff x="0" y="0"/>
            <a:chExt cx="4438014" cy="1362849"/>
          </a:xfrm>
        </p:grpSpPr>
        <p:sp>
          <p:nvSpPr>
            <p:cNvPr name="Freeform 13" id="13"/>
            <p:cNvSpPr/>
            <p:nvPr/>
          </p:nvSpPr>
          <p:spPr>
            <a:xfrm flipH="false" flipV="false" rot="0">
              <a:off x="0" y="0"/>
              <a:ext cx="4438014" cy="1362849"/>
            </a:xfrm>
            <a:custGeom>
              <a:avLst/>
              <a:gdLst/>
              <a:ahLst/>
              <a:cxnLst/>
              <a:rect r="r" b="b" t="t" l="l"/>
              <a:pathLst>
                <a:path h="1362849" w="4438014">
                  <a:moveTo>
                    <a:pt x="105940" y="0"/>
                  </a:moveTo>
                  <a:lnTo>
                    <a:pt x="4332074" y="0"/>
                  </a:lnTo>
                  <a:cubicBezTo>
                    <a:pt x="4390584" y="0"/>
                    <a:pt x="4438014" y="47431"/>
                    <a:pt x="4438014" y="105940"/>
                  </a:cubicBezTo>
                  <a:lnTo>
                    <a:pt x="4438014" y="1256909"/>
                  </a:lnTo>
                  <a:cubicBezTo>
                    <a:pt x="4438014" y="1315418"/>
                    <a:pt x="4390584" y="1362849"/>
                    <a:pt x="4332074" y="1362849"/>
                  </a:cubicBezTo>
                  <a:lnTo>
                    <a:pt x="105940" y="1362849"/>
                  </a:lnTo>
                  <a:cubicBezTo>
                    <a:pt x="77843" y="1362849"/>
                    <a:pt x="50897" y="1351688"/>
                    <a:pt x="31029" y="1331820"/>
                  </a:cubicBezTo>
                  <a:cubicBezTo>
                    <a:pt x="11162" y="1311952"/>
                    <a:pt x="0" y="1285006"/>
                    <a:pt x="0" y="1256909"/>
                  </a:cubicBezTo>
                  <a:lnTo>
                    <a:pt x="0" y="105940"/>
                  </a:lnTo>
                  <a:cubicBezTo>
                    <a:pt x="0" y="47431"/>
                    <a:pt x="47431" y="0"/>
                    <a:pt x="105940" y="0"/>
                  </a:cubicBezTo>
                  <a:close/>
                </a:path>
              </a:pathLst>
            </a:custGeom>
            <a:solidFill>
              <a:srgbClr val="E8E7E7"/>
            </a:solidFill>
            <a:ln w="38100" cap="rnd">
              <a:solidFill>
                <a:srgbClr val="000000"/>
              </a:solidFill>
              <a:prstDash val="solid"/>
              <a:round/>
            </a:ln>
          </p:spPr>
        </p:sp>
        <p:sp>
          <p:nvSpPr>
            <p:cNvPr name="TextBox 14" id="14"/>
            <p:cNvSpPr txBox="true"/>
            <p:nvPr/>
          </p:nvSpPr>
          <p:spPr>
            <a:xfrm>
              <a:off x="0" y="-9525"/>
              <a:ext cx="4438014" cy="1372374"/>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TRANSFORMATION DATA</a:t>
              </a:r>
            </a:p>
          </p:txBody>
        </p:sp>
      </p:grpSp>
      <p:sp>
        <p:nvSpPr>
          <p:cNvPr name="AutoShape 15" id="15"/>
          <p:cNvSpPr/>
          <p:nvPr/>
        </p:nvSpPr>
        <p:spPr>
          <a:xfrm>
            <a:off x="9246348" y="4051548"/>
            <a:ext cx="6604360" cy="1152290"/>
          </a:xfrm>
          <a:prstGeom prst="line">
            <a:avLst/>
          </a:prstGeom>
          <a:ln cap="flat" w="38100">
            <a:solidFill>
              <a:srgbClr val="000000"/>
            </a:solidFill>
            <a:prstDash val="solid"/>
            <a:headEnd type="none" len="sm" w="sm"/>
            <a:tailEnd type="none" len="sm" w="sm"/>
          </a:ln>
        </p:spPr>
      </p:sp>
      <p:grpSp>
        <p:nvGrpSpPr>
          <p:cNvPr name="Group 16" id="16"/>
          <p:cNvGrpSpPr/>
          <p:nvPr/>
        </p:nvGrpSpPr>
        <p:grpSpPr>
          <a:xfrm rot="0">
            <a:off x="14739205" y="5203838"/>
            <a:ext cx="1946134" cy="688503"/>
            <a:chOff x="0" y="0"/>
            <a:chExt cx="2480007" cy="877376"/>
          </a:xfrm>
        </p:grpSpPr>
        <p:sp>
          <p:nvSpPr>
            <p:cNvPr name="Freeform 17" id="17"/>
            <p:cNvSpPr/>
            <p:nvPr/>
          </p:nvSpPr>
          <p:spPr>
            <a:xfrm flipH="false" flipV="false" rot="0">
              <a:off x="0" y="0"/>
              <a:ext cx="2480007" cy="877376"/>
            </a:xfrm>
            <a:custGeom>
              <a:avLst/>
              <a:gdLst/>
              <a:ahLst/>
              <a:cxnLst/>
              <a:rect r="r" b="b" t="t" l="l"/>
              <a:pathLst>
                <a:path h="877376" w="2480007">
                  <a:moveTo>
                    <a:pt x="189581" y="0"/>
                  </a:moveTo>
                  <a:lnTo>
                    <a:pt x="2290426" y="0"/>
                  </a:lnTo>
                  <a:cubicBezTo>
                    <a:pt x="2395129" y="0"/>
                    <a:pt x="2480007" y="84879"/>
                    <a:pt x="2480007" y="189581"/>
                  </a:cubicBezTo>
                  <a:lnTo>
                    <a:pt x="2480007" y="687795"/>
                  </a:lnTo>
                  <a:cubicBezTo>
                    <a:pt x="2480007" y="738075"/>
                    <a:pt x="2460034" y="786296"/>
                    <a:pt x="2424480" y="821849"/>
                  </a:cubicBezTo>
                  <a:cubicBezTo>
                    <a:pt x="2388927" y="857403"/>
                    <a:pt x="2340706" y="877376"/>
                    <a:pt x="2290426" y="877376"/>
                  </a:cubicBezTo>
                  <a:lnTo>
                    <a:pt x="189581" y="877376"/>
                  </a:lnTo>
                  <a:cubicBezTo>
                    <a:pt x="139301" y="877376"/>
                    <a:pt x="91081" y="857403"/>
                    <a:pt x="55527" y="821849"/>
                  </a:cubicBezTo>
                  <a:cubicBezTo>
                    <a:pt x="19974" y="786296"/>
                    <a:pt x="0" y="738075"/>
                    <a:pt x="0" y="687795"/>
                  </a:cubicBezTo>
                  <a:lnTo>
                    <a:pt x="0" y="189581"/>
                  </a:lnTo>
                  <a:cubicBezTo>
                    <a:pt x="0" y="139301"/>
                    <a:pt x="19974" y="91081"/>
                    <a:pt x="55527" y="55527"/>
                  </a:cubicBezTo>
                  <a:cubicBezTo>
                    <a:pt x="91081" y="19974"/>
                    <a:pt x="139301" y="0"/>
                    <a:pt x="189581" y="0"/>
                  </a:cubicBezTo>
                  <a:close/>
                </a:path>
              </a:pathLst>
            </a:custGeom>
            <a:solidFill>
              <a:srgbClr val="E8E7E7"/>
            </a:solidFill>
            <a:ln w="38100" cap="rnd">
              <a:solidFill>
                <a:srgbClr val="000000"/>
              </a:solidFill>
              <a:prstDash val="solid"/>
              <a:round/>
            </a:ln>
          </p:spPr>
        </p:sp>
        <p:sp>
          <p:nvSpPr>
            <p:cNvPr name="TextBox 18" id="18"/>
            <p:cNvSpPr txBox="true"/>
            <p:nvPr/>
          </p:nvSpPr>
          <p:spPr>
            <a:xfrm>
              <a:off x="0" y="-9525"/>
              <a:ext cx="2480007" cy="886901"/>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MEASURE</a:t>
              </a:r>
            </a:p>
          </p:txBody>
        </p:sp>
      </p:grpSp>
      <p:sp>
        <p:nvSpPr>
          <p:cNvPr name="TextBox 19" id="19"/>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20" id="20"/>
          <p:cNvSpPr txBox="true"/>
          <p:nvPr/>
        </p:nvSpPr>
        <p:spPr>
          <a:xfrm rot="0">
            <a:off x="6039277" y="738958"/>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sp>
        <p:nvSpPr>
          <p:cNvPr name="AutoShape 21" id="21"/>
          <p:cNvSpPr/>
          <p:nvPr/>
        </p:nvSpPr>
        <p:spPr>
          <a:xfrm flipH="true" flipV="true">
            <a:off x="15874009" y="5892341"/>
            <a:ext cx="0" cy="1091248"/>
          </a:xfrm>
          <a:prstGeom prst="line">
            <a:avLst/>
          </a:prstGeom>
          <a:ln cap="flat" w="38100">
            <a:solidFill>
              <a:srgbClr val="000000"/>
            </a:solidFill>
            <a:prstDash val="solid"/>
            <a:headEnd type="none" len="sm" w="sm"/>
            <a:tailEnd type="none" len="sm" w="sm"/>
          </a:ln>
        </p:spPr>
      </p:sp>
      <p:grpSp>
        <p:nvGrpSpPr>
          <p:cNvPr name="Group 22" id="22"/>
          <p:cNvGrpSpPr/>
          <p:nvPr/>
        </p:nvGrpSpPr>
        <p:grpSpPr>
          <a:xfrm rot="0">
            <a:off x="7235467" y="5433807"/>
            <a:ext cx="4021763" cy="688503"/>
            <a:chOff x="0" y="0"/>
            <a:chExt cx="5125034" cy="877376"/>
          </a:xfrm>
        </p:grpSpPr>
        <p:sp>
          <p:nvSpPr>
            <p:cNvPr name="Freeform 23" id="23"/>
            <p:cNvSpPr/>
            <p:nvPr/>
          </p:nvSpPr>
          <p:spPr>
            <a:xfrm flipH="false" flipV="false" rot="0">
              <a:off x="0" y="0"/>
              <a:ext cx="5125034" cy="877376"/>
            </a:xfrm>
            <a:custGeom>
              <a:avLst/>
              <a:gdLst/>
              <a:ahLst/>
              <a:cxnLst/>
              <a:rect r="r" b="b" t="t" l="l"/>
              <a:pathLst>
                <a:path h="877376" w="5125034">
                  <a:moveTo>
                    <a:pt x="91739" y="0"/>
                  </a:moveTo>
                  <a:lnTo>
                    <a:pt x="5033295" y="0"/>
                  </a:lnTo>
                  <a:cubicBezTo>
                    <a:pt x="5083961" y="0"/>
                    <a:pt x="5125034" y="41073"/>
                    <a:pt x="5125034" y="91739"/>
                  </a:cubicBezTo>
                  <a:lnTo>
                    <a:pt x="5125034" y="785638"/>
                  </a:lnTo>
                  <a:cubicBezTo>
                    <a:pt x="5125034" y="836304"/>
                    <a:pt x="5083961" y="877376"/>
                    <a:pt x="5033295" y="877376"/>
                  </a:cubicBezTo>
                  <a:lnTo>
                    <a:pt x="91739" y="877376"/>
                  </a:lnTo>
                  <a:cubicBezTo>
                    <a:pt x="67408" y="877376"/>
                    <a:pt x="44074" y="867711"/>
                    <a:pt x="26870" y="850507"/>
                  </a:cubicBezTo>
                  <a:cubicBezTo>
                    <a:pt x="9665" y="833303"/>
                    <a:pt x="0" y="809968"/>
                    <a:pt x="0" y="785638"/>
                  </a:cubicBezTo>
                  <a:lnTo>
                    <a:pt x="0" y="91739"/>
                  </a:lnTo>
                  <a:cubicBezTo>
                    <a:pt x="0" y="41073"/>
                    <a:pt x="41073" y="0"/>
                    <a:pt x="91739" y="0"/>
                  </a:cubicBezTo>
                  <a:close/>
                </a:path>
              </a:pathLst>
            </a:custGeom>
            <a:solidFill>
              <a:srgbClr val="E8E7E7"/>
            </a:solidFill>
            <a:ln w="38100" cap="rnd">
              <a:solidFill>
                <a:srgbClr val="000000"/>
              </a:solidFill>
              <a:prstDash val="solid"/>
              <a:round/>
            </a:ln>
          </p:spPr>
        </p:sp>
        <p:sp>
          <p:nvSpPr>
            <p:cNvPr name="TextBox 24" id="24"/>
            <p:cNvSpPr txBox="true"/>
            <p:nvPr/>
          </p:nvSpPr>
          <p:spPr>
            <a:xfrm>
              <a:off x="0" y="-9525"/>
              <a:ext cx="5125034" cy="886901"/>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FEATURE ENGINEERING</a:t>
              </a:r>
            </a:p>
          </p:txBody>
        </p:sp>
      </p:grpSp>
      <p:sp>
        <p:nvSpPr>
          <p:cNvPr name="AutoShape 25" id="25"/>
          <p:cNvSpPr/>
          <p:nvPr/>
        </p:nvSpPr>
        <p:spPr>
          <a:xfrm flipH="true" flipV="true">
            <a:off x="9246348" y="4539092"/>
            <a:ext cx="0" cy="894715"/>
          </a:xfrm>
          <a:prstGeom prst="line">
            <a:avLst/>
          </a:prstGeom>
          <a:ln cap="flat" w="38100">
            <a:solidFill>
              <a:srgbClr val="000000"/>
            </a:solidFill>
            <a:prstDash val="solid"/>
            <a:headEnd type="none" len="sm" w="sm"/>
            <a:tailEnd type="none" len="sm" w="sm"/>
          </a:ln>
        </p:spPr>
      </p:sp>
      <p:grpSp>
        <p:nvGrpSpPr>
          <p:cNvPr name="Group 26" id="26"/>
          <p:cNvGrpSpPr/>
          <p:nvPr/>
        </p:nvGrpSpPr>
        <p:grpSpPr>
          <a:xfrm rot="0">
            <a:off x="1885069" y="6859763"/>
            <a:ext cx="2862645" cy="998728"/>
            <a:chOff x="0" y="0"/>
            <a:chExt cx="3647941" cy="1272705"/>
          </a:xfrm>
        </p:grpSpPr>
        <p:sp>
          <p:nvSpPr>
            <p:cNvPr name="Freeform 27" id="27"/>
            <p:cNvSpPr/>
            <p:nvPr/>
          </p:nvSpPr>
          <p:spPr>
            <a:xfrm flipH="false" flipV="false" rot="0">
              <a:off x="0" y="0"/>
              <a:ext cx="3647941" cy="1272705"/>
            </a:xfrm>
            <a:custGeom>
              <a:avLst/>
              <a:gdLst/>
              <a:ahLst/>
              <a:cxnLst/>
              <a:rect r="r" b="b" t="t" l="l"/>
              <a:pathLst>
                <a:path h="1272705" w="3647941">
                  <a:moveTo>
                    <a:pt x="128885" y="0"/>
                  </a:moveTo>
                  <a:lnTo>
                    <a:pt x="3519057" y="0"/>
                  </a:lnTo>
                  <a:cubicBezTo>
                    <a:pt x="3553239" y="0"/>
                    <a:pt x="3586021" y="13579"/>
                    <a:pt x="3610192" y="37749"/>
                  </a:cubicBezTo>
                  <a:cubicBezTo>
                    <a:pt x="3634362" y="61920"/>
                    <a:pt x="3647941" y="94702"/>
                    <a:pt x="3647941" y="128885"/>
                  </a:cubicBezTo>
                  <a:lnTo>
                    <a:pt x="3647941" y="1143820"/>
                  </a:lnTo>
                  <a:cubicBezTo>
                    <a:pt x="3647941" y="1178002"/>
                    <a:pt x="3634362" y="1210785"/>
                    <a:pt x="3610192" y="1234955"/>
                  </a:cubicBezTo>
                  <a:cubicBezTo>
                    <a:pt x="3586021" y="1259126"/>
                    <a:pt x="3553239" y="1272705"/>
                    <a:pt x="3519057" y="1272705"/>
                  </a:cubicBezTo>
                  <a:lnTo>
                    <a:pt x="128885" y="1272705"/>
                  </a:lnTo>
                  <a:cubicBezTo>
                    <a:pt x="94702" y="1272705"/>
                    <a:pt x="61920" y="1259126"/>
                    <a:pt x="37749" y="1234955"/>
                  </a:cubicBezTo>
                  <a:cubicBezTo>
                    <a:pt x="13579" y="1210785"/>
                    <a:pt x="0" y="1178002"/>
                    <a:pt x="0" y="1143820"/>
                  </a:cubicBezTo>
                  <a:lnTo>
                    <a:pt x="0" y="128885"/>
                  </a:lnTo>
                  <a:cubicBezTo>
                    <a:pt x="0" y="94702"/>
                    <a:pt x="13579" y="61920"/>
                    <a:pt x="37749" y="37749"/>
                  </a:cubicBezTo>
                  <a:cubicBezTo>
                    <a:pt x="61920" y="13579"/>
                    <a:pt x="94702" y="0"/>
                    <a:pt x="128885" y="0"/>
                  </a:cubicBezTo>
                  <a:close/>
                </a:path>
              </a:pathLst>
            </a:custGeom>
            <a:solidFill>
              <a:srgbClr val="E8E7E7"/>
            </a:solidFill>
            <a:ln w="38100" cap="rnd">
              <a:solidFill>
                <a:srgbClr val="000000"/>
              </a:solidFill>
              <a:prstDash val="solid"/>
              <a:round/>
            </a:ln>
          </p:spPr>
        </p:sp>
        <p:sp>
          <p:nvSpPr>
            <p:cNvPr name="TextBox 28" id="28"/>
            <p:cNvSpPr txBox="true"/>
            <p:nvPr/>
          </p:nvSpPr>
          <p:spPr>
            <a:xfrm>
              <a:off x="0" y="-9525"/>
              <a:ext cx="3647941" cy="1282230"/>
            </a:xfrm>
            <a:prstGeom prst="rect">
              <a:avLst/>
            </a:prstGeom>
          </p:spPr>
          <p:txBody>
            <a:bodyPr anchor="ctr" rtlCol="false" tIns="50800" lIns="50800" bIns="50800" rIns="50800"/>
            <a:lstStyle/>
            <a:p>
              <a:pPr algn="just" marL="431801" indent="-215900" lvl="1">
                <a:lnSpc>
                  <a:spcPts val="2000"/>
                </a:lnSpc>
                <a:buAutoNum type="arabicPeriod" startAt="1"/>
              </a:pPr>
              <a:r>
                <a:rPr lang="en-US" sz="2000" spc="-120">
                  <a:solidFill>
                    <a:srgbClr val="000000"/>
                  </a:solidFill>
                  <a:latin typeface="Times New Roman MT Condensed"/>
                  <a:ea typeface="Times New Roman MT Condensed"/>
                  <a:cs typeface="Times New Roman MT Condensed"/>
                  <a:sym typeface="Times New Roman MT Condensed"/>
                </a:rPr>
                <a:t> Speed_Km_per_Hour</a:t>
              </a:r>
            </a:p>
            <a:p>
              <a:pPr algn="just" marL="431801" indent="-215900" lvl="1">
                <a:lnSpc>
                  <a:spcPts val="2000"/>
                </a:lnSpc>
                <a:buAutoNum type="arabicPeriod" startAt="1"/>
              </a:pPr>
              <a:r>
                <a:rPr lang="en-US" sz="2000" spc="-120">
                  <a:solidFill>
                    <a:srgbClr val="000000"/>
                  </a:solidFill>
                  <a:latin typeface="Times New Roman MT Condensed"/>
                  <a:ea typeface="Times New Roman MT Condensed"/>
                  <a:cs typeface="Times New Roman MT Condensed"/>
                  <a:sym typeface="Times New Roman MT Condensed"/>
                </a:rPr>
                <a:t> Price_Per_Km_Actual</a:t>
              </a:r>
            </a:p>
            <a:p>
              <a:pPr algn="just" marL="431801" indent="-215900" lvl="1">
                <a:lnSpc>
                  <a:spcPts val="2000"/>
                </a:lnSpc>
                <a:buAutoNum type="arabicPeriod" startAt="1"/>
              </a:pPr>
              <a:r>
                <a:rPr lang="en-US" sz="2000" spc="-120">
                  <a:solidFill>
                    <a:srgbClr val="000000"/>
                  </a:solidFill>
                  <a:latin typeface="Times New Roman MT Condensed"/>
                  <a:ea typeface="Times New Roman MT Condensed"/>
                  <a:cs typeface="Times New Roman MT Condensed"/>
                  <a:sym typeface="Times New Roman MT Condensed"/>
                </a:rPr>
                <a:t> Price_Per_Minute_Actual</a:t>
              </a:r>
            </a:p>
          </p:txBody>
        </p:sp>
      </p:grpSp>
      <p:grpSp>
        <p:nvGrpSpPr>
          <p:cNvPr name="Group 29" id="29"/>
          <p:cNvGrpSpPr/>
          <p:nvPr/>
        </p:nvGrpSpPr>
        <p:grpSpPr>
          <a:xfrm rot="0">
            <a:off x="7825747" y="7008135"/>
            <a:ext cx="2862645" cy="751078"/>
            <a:chOff x="0" y="0"/>
            <a:chExt cx="3647941" cy="957118"/>
          </a:xfrm>
        </p:grpSpPr>
        <p:sp>
          <p:nvSpPr>
            <p:cNvPr name="Freeform 30" id="30"/>
            <p:cNvSpPr/>
            <p:nvPr/>
          </p:nvSpPr>
          <p:spPr>
            <a:xfrm flipH="false" flipV="false" rot="0">
              <a:off x="0" y="0"/>
              <a:ext cx="3647941" cy="957118"/>
            </a:xfrm>
            <a:custGeom>
              <a:avLst/>
              <a:gdLst/>
              <a:ahLst/>
              <a:cxnLst/>
              <a:rect r="r" b="b" t="t" l="l"/>
              <a:pathLst>
                <a:path h="957118" w="3647941">
                  <a:moveTo>
                    <a:pt x="128885" y="0"/>
                  </a:moveTo>
                  <a:lnTo>
                    <a:pt x="3519057" y="0"/>
                  </a:lnTo>
                  <a:cubicBezTo>
                    <a:pt x="3553239" y="0"/>
                    <a:pt x="3586021" y="13579"/>
                    <a:pt x="3610192" y="37749"/>
                  </a:cubicBezTo>
                  <a:cubicBezTo>
                    <a:pt x="3634362" y="61920"/>
                    <a:pt x="3647941" y="94702"/>
                    <a:pt x="3647941" y="128885"/>
                  </a:cubicBezTo>
                  <a:lnTo>
                    <a:pt x="3647941" y="828233"/>
                  </a:lnTo>
                  <a:cubicBezTo>
                    <a:pt x="3647941" y="862416"/>
                    <a:pt x="3634362" y="895198"/>
                    <a:pt x="3610192" y="919368"/>
                  </a:cubicBezTo>
                  <a:cubicBezTo>
                    <a:pt x="3586021" y="943539"/>
                    <a:pt x="3553239" y="957118"/>
                    <a:pt x="3519057" y="957118"/>
                  </a:cubicBezTo>
                  <a:lnTo>
                    <a:pt x="128885" y="957118"/>
                  </a:lnTo>
                  <a:cubicBezTo>
                    <a:pt x="94702" y="957118"/>
                    <a:pt x="61920" y="943539"/>
                    <a:pt x="37749" y="919368"/>
                  </a:cubicBezTo>
                  <a:cubicBezTo>
                    <a:pt x="13579" y="895198"/>
                    <a:pt x="0" y="862416"/>
                    <a:pt x="0" y="828233"/>
                  </a:cubicBezTo>
                  <a:lnTo>
                    <a:pt x="0" y="128885"/>
                  </a:lnTo>
                  <a:cubicBezTo>
                    <a:pt x="0" y="94702"/>
                    <a:pt x="13579" y="61920"/>
                    <a:pt x="37749" y="37749"/>
                  </a:cubicBezTo>
                  <a:cubicBezTo>
                    <a:pt x="61920" y="13579"/>
                    <a:pt x="94702" y="0"/>
                    <a:pt x="128885" y="0"/>
                  </a:cubicBezTo>
                  <a:close/>
                </a:path>
              </a:pathLst>
            </a:custGeom>
            <a:solidFill>
              <a:srgbClr val="E8E7E7"/>
            </a:solidFill>
            <a:ln w="38100" cap="rnd">
              <a:solidFill>
                <a:srgbClr val="000000"/>
              </a:solidFill>
              <a:prstDash val="solid"/>
              <a:round/>
            </a:ln>
          </p:spPr>
        </p:sp>
        <p:sp>
          <p:nvSpPr>
            <p:cNvPr name="TextBox 31" id="31"/>
            <p:cNvSpPr txBox="true"/>
            <p:nvPr/>
          </p:nvSpPr>
          <p:spPr>
            <a:xfrm>
              <a:off x="0" y="-9525"/>
              <a:ext cx="3647941" cy="966643"/>
            </a:xfrm>
            <a:prstGeom prst="rect">
              <a:avLst/>
            </a:prstGeom>
          </p:spPr>
          <p:txBody>
            <a:bodyPr anchor="ctr" rtlCol="false" tIns="50800" lIns="50800" bIns="50800" rIns="50800"/>
            <a:lstStyle/>
            <a:p>
              <a:pPr algn="just" marL="431801" indent="-215900" lvl="1">
                <a:lnSpc>
                  <a:spcPts val="2000"/>
                </a:lnSpc>
                <a:buAutoNum type="arabicPeriod" startAt="1"/>
              </a:pPr>
              <a:r>
                <a:rPr lang="en-US" sz="2000" spc="-120">
                  <a:solidFill>
                    <a:srgbClr val="000000"/>
                  </a:solidFill>
                  <a:latin typeface="Times New Roman MT Condensed"/>
                  <a:ea typeface="Times New Roman MT Condensed"/>
                  <a:cs typeface="Times New Roman MT Condensed"/>
                  <a:sym typeface="Times New Roman MT Condensed"/>
                </a:rPr>
                <a:t> Distance Category</a:t>
              </a:r>
            </a:p>
            <a:p>
              <a:pPr algn="just" marL="431801" indent="-215900" lvl="1">
                <a:lnSpc>
                  <a:spcPts val="2000"/>
                </a:lnSpc>
                <a:buAutoNum type="arabicPeriod" startAt="1"/>
              </a:pPr>
              <a:r>
                <a:rPr lang="en-US" sz="2000" spc="-120">
                  <a:solidFill>
                    <a:srgbClr val="000000"/>
                  </a:solidFill>
                  <a:latin typeface="Times New Roman MT Condensed"/>
                  <a:ea typeface="Times New Roman MT Condensed"/>
                  <a:cs typeface="Times New Roman MT Condensed"/>
                  <a:sym typeface="Times New Roman MT Condensed"/>
                </a:rPr>
                <a:t> Speed Category</a:t>
              </a:r>
            </a:p>
          </p:txBody>
        </p:sp>
      </p:grpSp>
      <p:grpSp>
        <p:nvGrpSpPr>
          <p:cNvPr name="Group 32" id="32"/>
          <p:cNvGrpSpPr/>
          <p:nvPr/>
        </p:nvGrpSpPr>
        <p:grpSpPr>
          <a:xfrm rot="0">
            <a:off x="14442687" y="6983588"/>
            <a:ext cx="2862645" cy="1989328"/>
            <a:chOff x="0" y="0"/>
            <a:chExt cx="3647941" cy="2535052"/>
          </a:xfrm>
        </p:grpSpPr>
        <p:sp>
          <p:nvSpPr>
            <p:cNvPr name="Freeform 33" id="33"/>
            <p:cNvSpPr/>
            <p:nvPr/>
          </p:nvSpPr>
          <p:spPr>
            <a:xfrm flipH="false" flipV="false" rot="0">
              <a:off x="0" y="0"/>
              <a:ext cx="3647941" cy="2535051"/>
            </a:xfrm>
            <a:custGeom>
              <a:avLst/>
              <a:gdLst/>
              <a:ahLst/>
              <a:cxnLst/>
              <a:rect r="r" b="b" t="t" l="l"/>
              <a:pathLst>
                <a:path h="2535051" w="3647941">
                  <a:moveTo>
                    <a:pt x="128885" y="0"/>
                  </a:moveTo>
                  <a:lnTo>
                    <a:pt x="3519057" y="0"/>
                  </a:lnTo>
                  <a:cubicBezTo>
                    <a:pt x="3553239" y="0"/>
                    <a:pt x="3586021" y="13579"/>
                    <a:pt x="3610192" y="37749"/>
                  </a:cubicBezTo>
                  <a:cubicBezTo>
                    <a:pt x="3634362" y="61920"/>
                    <a:pt x="3647941" y="94702"/>
                    <a:pt x="3647941" y="128885"/>
                  </a:cubicBezTo>
                  <a:lnTo>
                    <a:pt x="3647941" y="2406167"/>
                  </a:lnTo>
                  <a:cubicBezTo>
                    <a:pt x="3647941" y="2440349"/>
                    <a:pt x="3634362" y="2473131"/>
                    <a:pt x="3610192" y="2497302"/>
                  </a:cubicBezTo>
                  <a:cubicBezTo>
                    <a:pt x="3586021" y="2521473"/>
                    <a:pt x="3553239" y="2535051"/>
                    <a:pt x="3519057" y="2535051"/>
                  </a:cubicBezTo>
                  <a:lnTo>
                    <a:pt x="128885" y="2535051"/>
                  </a:lnTo>
                  <a:cubicBezTo>
                    <a:pt x="94702" y="2535051"/>
                    <a:pt x="61920" y="2521473"/>
                    <a:pt x="37749" y="2497302"/>
                  </a:cubicBezTo>
                  <a:cubicBezTo>
                    <a:pt x="13579" y="2473131"/>
                    <a:pt x="0" y="2440349"/>
                    <a:pt x="0" y="2406167"/>
                  </a:cubicBezTo>
                  <a:lnTo>
                    <a:pt x="0" y="128885"/>
                  </a:lnTo>
                  <a:cubicBezTo>
                    <a:pt x="0" y="94702"/>
                    <a:pt x="13579" y="61920"/>
                    <a:pt x="37749" y="37749"/>
                  </a:cubicBezTo>
                  <a:cubicBezTo>
                    <a:pt x="61920" y="13579"/>
                    <a:pt x="94702" y="0"/>
                    <a:pt x="128885" y="0"/>
                  </a:cubicBezTo>
                  <a:close/>
                </a:path>
              </a:pathLst>
            </a:custGeom>
            <a:solidFill>
              <a:srgbClr val="E8E7E7"/>
            </a:solidFill>
            <a:ln w="38100" cap="rnd">
              <a:solidFill>
                <a:srgbClr val="000000"/>
              </a:solidFill>
              <a:prstDash val="solid"/>
              <a:round/>
            </a:ln>
          </p:spPr>
        </p:sp>
        <p:sp>
          <p:nvSpPr>
            <p:cNvPr name="TextBox 34" id="34"/>
            <p:cNvSpPr txBox="true"/>
            <p:nvPr/>
          </p:nvSpPr>
          <p:spPr>
            <a:xfrm>
              <a:off x="0" y="-9525"/>
              <a:ext cx="3647941" cy="2544577"/>
            </a:xfrm>
            <a:prstGeom prst="rect">
              <a:avLst/>
            </a:prstGeom>
          </p:spPr>
          <p:txBody>
            <a:bodyPr anchor="ctr" rtlCol="false" tIns="50800" lIns="50800" bIns="50800" rIns="50800"/>
            <a:lstStyle/>
            <a:p>
              <a:pPr algn="just" marL="431801" indent="-215900" lvl="1">
                <a:lnSpc>
                  <a:spcPts val="2000"/>
                </a:lnSpc>
                <a:buAutoNum type="arabicPeriod" startAt="1"/>
              </a:pPr>
              <a:r>
                <a:rPr lang="en-US" sz="2000" i="true" spc="-120">
                  <a:solidFill>
                    <a:srgbClr val="000000"/>
                  </a:solidFill>
                  <a:latin typeface="Times New Roman MT Condensed Italics"/>
                  <a:ea typeface="Times New Roman MT Condensed Italics"/>
                  <a:cs typeface="Times New Roman MT Condensed Italics"/>
                  <a:sym typeface="Times New Roman MT Condensed Italics"/>
                </a:rPr>
                <a:t> </a:t>
              </a:r>
              <a:r>
                <a:rPr lang="en-US" sz="2000" spc="-120">
                  <a:solidFill>
                    <a:srgbClr val="000000"/>
                  </a:solidFill>
                  <a:latin typeface="Times New Roman MT Condensed"/>
                  <a:ea typeface="Times New Roman MT Condensed"/>
                  <a:cs typeface="Times New Roman MT Condensed"/>
                  <a:sym typeface="Times New Roman MT Condensed"/>
                </a:rPr>
                <a:t>Total Revenue</a:t>
              </a:r>
            </a:p>
            <a:p>
              <a:pPr algn="just" marL="431801" indent="-215900" lvl="1">
                <a:lnSpc>
                  <a:spcPts val="2000"/>
                </a:lnSpc>
                <a:buAutoNum type="arabicPeriod" startAt="1"/>
              </a:pPr>
              <a:r>
                <a:rPr lang="en-US" sz="2000" spc="-120">
                  <a:solidFill>
                    <a:srgbClr val="000000"/>
                  </a:solidFill>
                  <a:latin typeface="Times New Roman MT Condensed"/>
                  <a:ea typeface="Times New Roman MT Condensed"/>
                  <a:cs typeface="Times New Roman MT Condensed"/>
                  <a:sym typeface="Times New Roman MT Condensed"/>
                </a:rPr>
                <a:t>Total Trips</a:t>
              </a:r>
            </a:p>
            <a:p>
              <a:pPr algn="just" marL="431801" indent="-215900" lvl="1">
                <a:lnSpc>
                  <a:spcPts val="2000"/>
                </a:lnSpc>
                <a:buAutoNum type="arabicPeriod" startAt="1"/>
              </a:pPr>
              <a:r>
                <a:rPr lang="en-US" sz="2000" spc="-120">
                  <a:solidFill>
                    <a:srgbClr val="000000"/>
                  </a:solidFill>
                  <a:latin typeface="Times New Roman MT Condensed"/>
                  <a:ea typeface="Times New Roman MT Condensed"/>
                  <a:cs typeface="Times New Roman MT Condensed"/>
                  <a:sym typeface="Times New Roman MT Condensed"/>
                </a:rPr>
                <a:t>Average Trip Price</a:t>
              </a:r>
            </a:p>
            <a:p>
              <a:pPr algn="just" marL="431801" indent="-215900" lvl="1">
                <a:lnSpc>
                  <a:spcPts val="2000"/>
                </a:lnSpc>
                <a:buAutoNum type="arabicPeriod" startAt="1"/>
              </a:pPr>
              <a:r>
                <a:rPr lang="en-US" sz="2000" spc="-120">
                  <a:solidFill>
                    <a:srgbClr val="000000"/>
                  </a:solidFill>
                  <a:latin typeface="Times New Roman MT Condensed"/>
                  <a:ea typeface="Times New Roman MT Condensed"/>
                  <a:cs typeface="Times New Roman MT Condensed"/>
                  <a:sym typeface="Times New Roman MT Condensed"/>
                </a:rPr>
                <a:t>Average Distance</a:t>
              </a:r>
            </a:p>
            <a:p>
              <a:pPr algn="just" marL="431801" indent="-215900" lvl="1">
                <a:lnSpc>
                  <a:spcPts val="2000"/>
                </a:lnSpc>
                <a:buAutoNum type="arabicPeriod" startAt="1"/>
              </a:pPr>
              <a:r>
                <a:rPr lang="en-US" sz="2000" spc="-120">
                  <a:solidFill>
                    <a:srgbClr val="000000"/>
                  </a:solidFill>
                  <a:latin typeface="Times New Roman MT Condensed"/>
                  <a:ea typeface="Times New Roman MT Condensed"/>
                  <a:cs typeface="Times New Roman MT Condensed"/>
                  <a:sym typeface="Times New Roman MT Condensed"/>
                </a:rPr>
                <a:t>Average Duration</a:t>
              </a:r>
            </a:p>
            <a:p>
              <a:pPr algn="just" marL="431801" indent="-215900" lvl="1">
                <a:lnSpc>
                  <a:spcPts val="2000"/>
                </a:lnSpc>
                <a:buAutoNum type="arabicPeriod" startAt="1"/>
              </a:pPr>
              <a:r>
                <a:rPr lang="en-US" sz="2000" spc="-120">
                  <a:solidFill>
                    <a:srgbClr val="000000"/>
                  </a:solidFill>
                  <a:latin typeface="Times New Roman MT Condensed"/>
                  <a:ea typeface="Times New Roman MT Condensed"/>
                  <a:cs typeface="Times New Roman MT Condensed"/>
                  <a:sym typeface="Times New Roman MT Condensed"/>
                </a:rPr>
                <a:t>Average Price per Km</a:t>
              </a:r>
            </a:p>
            <a:p>
              <a:pPr algn="just" marL="431801" indent="-215900" lvl="1">
                <a:lnSpc>
                  <a:spcPts val="2000"/>
                </a:lnSpc>
                <a:buAutoNum type="arabicPeriod" startAt="1"/>
              </a:pPr>
              <a:r>
                <a:rPr lang="en-US" sz="2000" spc="-120">
                  <a:solidFill>
                    <a:srgbClr val="000000"/>
                  </a:solidFill>
                  <a:latin typeface="Times New Roman MT Condensed"/>
                  <a:ea typeface="Times New Roman MT Condensed"/>
                  <a:cs typeface="Times New Roman MT Condensed"/>
                  <a:sym typeface="Times New Roman MT Condensed"/>
                </a:rPr>
                <a:t>Revenue Contribution (%)</a:t>
              </a:r>
            </a:p>
          </p:txBody>
        </p:sp>
      </p:grpSp>
      <p:sp>
        <p:nvSpPr>
          <p:cNvPr name="AutoShape 35" id="35"/>
          <p:cNvSpPr/>
          <p:nvPr/>
        </p:nvSpPr>
        <p:spPr>
          <a:xfrm flipV="true">
            <a:off x="3316392" y="6412405"/>
            <a:ext cx="0" cy="447358"/>
          </a:xfrm>
          <a:prstGeom prst="line">
            <a:avLst/>
          </a:prstGeom>
          <a:ln cap="flat" w="38100">
            <a:solidFill>
              <a:srgbClr val="000000"/>
            </a:solidFill>
            <a:prstDash val="solid"/>
            <a:headEnd type="none" len="sm" w="sm"/>
            <a:tailEnd type="none" len="sm" w="sm"/>
          </a:ln>
        </p:spPr>
      </p:sp>
      <p:sp>
        <p:nvSpPr>
          <p:cNvPr name="AutoShape 36" id="36"/>
          <p:cNvSpPr/>
          <p:nvPr/>
        </p:nvSpPr>
        <p:spPr>
          <a:xfrm flipH="true" flipV="true">
            <a:off x="9243782" y="6122310"/>
            <a:ext cx="13287" cy="885825"/>
          </a:xfrm>
          <a:prstGeom prst="line">
            <a:avLst/>
          </a:prstGeom>
          <a:ln cap="flat" w="38100">
            <a:solidFill>
              <a:srgbClr val="000000"/>
            </a:solidFill>
            <a:prstDash val="solid"/>
            <a:headEnd type="none" len="sm" w="sm"/>
            <a:tailEnd type="none" len="sm" w="sm"/>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458433" y="106912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6449526" y="1069125"/>
            <a:ext cx="5550413" cy="693358"/>
            <a:chOff x="0" y="0"/>
            <a:chExt cx="3354944" cy="419100"/>
          </a:xfrm>
        </p:grpSpPr>
        <p:sp>
          <p:nvSpPr>
            <p:cNvPr name="Freeform 5" id="5"/>
            <p:cNvSpPr/>
            <p:nvPr/>
          </p:nvSpPr>
          <p:spPr>
            <a:xfrm flipH="false" flipV="false" rot="0">
              <a:off x="0" y="0"/>
              <a:ext cx="3354944" cy="419100"/>
            </a:xfrm>
            <a:custGeom>
              <a:avLst/>
              <a:gdLst/>
              <a:ahLst/>
              <a:cxnLst/>
              <a:rect r="r" b="b" t="t" l="l"/>
              <a:pathLst>
                <a:path h="419100" w="3354944">
                  <a:moveTo>
                    <a:pt x="66473" y="0"/>
                  </a:moveTo>
                  <a:lnTo>
                    <a:pt x="3288472" y="0"/>
                  </a:lnTo>
                  <a:cubicBezTo>
                    <a:pt x="3325183" y="0"/>
                    <a:pt x="3354944" y="29761"/>
                    <a:pt x="3354944" y="66473"/>
                  </a:cubicBezTo>
                  <a:lnTo>
                    <a:pt x="3354944" y="352627"/>
                  </a:lnTo>
                  <a:cubicBezTo>
                    <a:pt x="3354944" y="389339"/>
                    <a:pt x="3325183" y="419100"/>
                    <a:pt x="3288472" y="419100"/>
                  </a:cubicBezTo>
                  <a:lnTo>
                    <a:pt x="66473" y="419100"/>
                  </a:lnTo>
                  <a:cubicBezTo>
                    <a:pt x="29761" y="419100"/>
                    <a:pt x="0" y="389339"/>
                    <a:pt x="0" y="352627"/>
                  </a:cubicBezTo>
                  <a:lnTo>
                    <a:pt x="0" y="66473"/>
                  </a:lnTo>
                  <a:cubicBezTo>
                    <a:pt x="0" y="29761"/>
                    <a:pt x="29761" y="0"/>
                    <a:pt x="66473"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3354944"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EXECUTIVE OVERVIEW</a:t>
              </a:r>
            </a:p>
          </p:txBody>
        </p:sp>
      </p:grpSp>
      <p:sp>
        <p:nvSpPr>
          <p:cNvPr name="Freeform 7" id="7"/>
          <p:cNvSpPr/>
          <p:nvPr/>
        </p:nvSpPr>
        <p:spPr>
          <a:xfrm flipH="false" flipV="false" rot="0">
            <a:off x="0" y="1781533"/>
            <a:ext cx="17968199" cy="8505467"/>
          </a:xfrm>
          <a:custGeom>
            <a:avLst/>
            <a:gdLst/>
            <a:ahLst/>
            <a:cxnLst/>
            <a:rect r="r" b="b" t="t" l="l"/>
            <a:pathLst>
              <a:path h="8505467" w="17968199">
                <a:moveTo>
                  <a:pt x="0" y="0"/>
                </a:moveTo>
                <a:lnTo>
                  <a:pt x="17968199" y="0"/>
                </a:lnTo>
                <a:lnTo>
                  <a:pt x="17968199" y="8505467"/>
                </a:lnTo>
                <a:lnTo>
                  <a:pt x="0" y="8505467"/>
                </a:lnTo>
                <a:lnTo>
                  <a:pt x="0" y="0"/>
                </a:lnTo>
                <a:close/>
              </a:path>
            </a:pathLst>
          </a:custGeom>
          <a:blipFill>
            <a:blip r:embed="rId3"/>
            <a:stretch>
              <a:fillRect l="0" t="-1508" r="0" b="-2533"/>
            </a:stretch>
          </a:blipFill>
        </p:spPr>
      </p:sp>
      <p:sp>
        <p:nvSpPr>
          <p:cNvPr name="TextBox 8" id="8"/>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9" id="9"/>
          <p:cNvSpPr txBox="true"/>
          <p:nvPr/>
        </p:nvSpPr>
        <p:spPr>
          <a:xfrm rot="0">
            <a:off x="6039277" y="222203"/>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458433" y="106912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5955113" y="1200519"/>
            <a:ext cx="5550413" cy="693358"/>
            <a:chOff x="0" y="0"/>
            <a:chExt cx="3354944" cy="419100"/>
          </a:xfrm>
        </p:grpSpPr>
        <p:sp>
          <p:nvSpPr>
            <p:cNvPr name="Freeform 5" id="5"/>
            <p:cNvSpPr/>
            <p:nvPr/>
          </p:nvSpPr>
          <p:spPr>
            <a:xfrm flipH="false" flipV="false" rot="0">
              <a:off x="0" y="0"/>
              <a:ext cx="3354944" cy="419100"/>
            </a:xfrm>
            <a:custGeom>
              <a:avLst/>
              <a:gdLst/>
              <a:ahLst/>
              <a:cxnLst/>
              <a:rect r="r" b="b" t="t" l="l"/>
              <a:pathLst>
                <a:path h="419100" w="3354944">
                  <a:moveTo>
                    <a:pt x="66473" y="0"/>
                  </a:moveTo>
                  <a:lnTo>
                    <a:pt x="3288472" y="0"/>
                  </a:lnTo>
                  <a:cubicBezTo>
                    <a:pt x="3325183" y="0"/>
                    <a:pt x="3354944" y="29761"/>
                    <a:pt x="3354944" y="66473"/>
                  </a:cubicBezTo>
                  <a:lnTo>
                    <a:pt x="3354944" y="352627"/>
                  </a:lnTo>
                  <a:cubicBezTo>
                    <a:pt x="3354944" y="389339"/>
                    <a:pt x="3325183" y="419100"/>
                    <a:pt x="3288472" y="419100"/>
                  </a:cubicBezTo>
                  <a:lnTo>
                    <a:pt x="66473" y="419100"/>
                  </a:lnTo>
                  <a:cubicBezTo>
                    <a:pt x="29761" y="419100"/>
                    <a:pt x="0" y="389339"/>
                    <a:pt x="0" y="352627"/>
                  </a:cubicBezTo>
                  <a:lnTo>
                    <a:pt x="0" y="66473"/>
                  </a:lnTo>
                  <a:cubicBezTo>
                    <a:pt x="0" y="29761"/>
                    <a:pt x="29761" y="0"/>
                    <a:pt x="66473"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3354944"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STRUKTUR DASHBOARD</a:t>
              </a:r>
            </a:p>
          </p:txBody>
        </p:sp>
      </p:grpSp>
      <p:sp>
        <p:nvSpPr>
          <p:cNvPr name="TextBox 7" id="7"/>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8" id="8"/>
          <p:cNvSpPr txBox="true"/>
          <p:nvPr/>
        </p:nvSpPr>
        <p:spPr>
          <a:xfrm rot="0">
            <a:off x="6039277" y="222203"/>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grpSp>
        <p:nvGrpSpPr>
          <p:cNvPr name="Group 9" id="9"/>
          <p:cNvGrpSpPr/>
          <p:nvPr/>
        </p:nvGrpSpPr>
        <p:grpSpPr>
          <a:xfrm rot="0">
            <a:off x="5955113" y="2214639"/>
            <a:ext cx="5550413" cy="693358"/>
            <a:chOff x="0" y="0"/>
            <a:chExt cx="3354944" cy="419100"/>
          </a:xfrm>
        </p:grpSpPr>
        <p:sp>
          <p:nvSpPr>
            <p:cNvPr name="Freeform 10" id="10"/>
            <p:cNvSpPr/>
            <p:nvPr/>
          </p:nvSpPr>
          <p:spPr>
            <a:xfrm flipH="false" flipV="false" rot="0">
              <a:off x="0" y="0"/>
              <a:ext cx="3354944" cy="419100"/>
            </a:xfrm>
            <a:custGeom>
              <a:avLst/>
              <a:gdLst/>
              <a:ahLst/>
              <a:cxnLst/>
              <a:rect r="r" b="b" t="t" l="l"/>
              <a:pathLst>
                <a:path h="419100" w="3354944">
                  <a:moveTo>
                    <a:pt x="66473" y="0"/>
                  </a:moveTo>
                  <a:lnTo>
                    <a:pt x="3288472" y="0"/>
                  </a:lnTo>
                  <a:cubicBezTo>
                    <a:pt x="3325183" y="0"/>
                    <a:pt x="3354944" y="29761"/>
                    <a:pt x="3354944" y="66473"/>
                  </a:cubicBezTo>
                  <a:lnTo>
                    <a:pt x="3354944" y="352627"/>
                  </a:lnTo>
                  <a:cubicBezTo>
                    <a:pt x="3354944" y="389339"/>
                    <a:pt x="3325183" y="419100"/>
                    <a:pt x="3288472" y="419100"/>
                  </a:cubicBezTo>
                  <a:lnTo>
                    <a:pt x="66473" y="419100"/>
                  </a:lnTo>
                  <a:cubicBezTo>
                    <a:pt x="29761" y="419100"/>
                    <a:pt x="0" y="389339"/>
                    <a:pt x="0" y="352627"/>
                  </a:cubicBezTo>
                  <a:lnTo>
                    <a:pt x="0" y="66473"/>
                  </a:lnTo>
                  <a:cubicBezTo>
                    <a:pt x="0" y="29761"/>
                    <a:pt x="29761" y="0"/>
                    <a:pt x="66473" y="0"/>
                  </a:cubicBezTo>
                  <a:close/>
                </a:path>
              </a:pathLst>
            </a:custGeom>
            <a:solidFill>
              <a:srgbClr val="E8E7E7"/>
            </a:solidFill>
            <a:ln w="38100" cap="rnd">
              <a:solidFill>
                <a:srgbClr val="000000"/>
              </a:solidFill>
              <a:prstDash val="solid"/>
              <a:round/>
            </a:ln>
          </p:spPr>
        </p:sp>
        <p:sp>
          <p:nvSpPr>
            <p:cNvPr name="TextBox 11" id="11"/>
            <p:cNvSpPr txBox="true"/>
            <p:nvPr/>
          </p:nvSpPr>
          <p:spPr>
            <a:xfrm>
              <a:off x="0" y="-9525"/>
              <a:ext cx="3354944"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EXECUTIVE OVERVIEW</a:t>
              </a:r>
            </a:p>
          </p:txBody>
        </p:sp>
      </p:grpSp>
      <p:grpSp>
        <p:nvGrpSpPr>
          <p:cNvPr name="Group 12" id="12"/>
          <p:cNvGrpSpPr/>
          <p:nvPr/>
        </p:nvGrpSpPr>
        <p:grpSpPr>
          <a:xfrm rot="0">
            <a:off x="889555" y="3797427"/>
            <a:ext cx="2585229" cy="693358"/>
            <a:chOff x="0" y="0"/>
            <a:chExt cx="1562640" cy="419100"/>
          </a:xfrm>
        </p:grpSpPr>
        <p:sp>
          <p:nvSpPr>
            <p:cNvPr name="Freeform 13" id="13"/>
            <p:cNvSpPr/>
            <p:nvPr/>
          </p:nvSpPr>
          <p:spPr>
            <a:xfrm flipH="false" flipV="false" rot="0">
              <a:off x="0" y="0"/>
              <a:ext cx="1562640" cy="419100"/>
            </a:xfrm>
            <a:custGeom>
              <a:avLst/>
              <a:gdLst/>
              <a:ahLst/>
              <a:cxnLst/>
              <a:rect r="r" b="b" t="t" l="l"/>
              <a:pathLst>
                <a:path h="419100" w="1562640">
                  <a:moveTo>
                    <a:pt x="142715" y="0"/>
                  </a:moveTo>
                  <a:lnTo>
                    <a:pt x="1419925" y="0"/>
                  </a:lnTo>
                  <a:cubicBezTo>
                    <a:pt x="1498744" y="0"/>
                    <a:pt x="1562640" y="63896"/>
                    <a:pt x="1562640" y="142715"/>
                  </a:cubicBezTo>
                  <a:lnTo>
                    <a:pt x="1562640" y="276385"/>
                  </a:lnTo>
                  <a:cubicBezTo>
                    <a:pt x="1562640" y="355204"/>
                    <a:pt x="1498744" y="419100"/>
                    <a:pt x="1419925" y="419100"/>
                  </a:cubicBezTo>
                  <a:lnTo>
                    <a:pt x="142715" y="419100"/>
                  </a:lnTo>
                  <a:cubicBezTo>
                    <a:pt x="63896" y="419100"/>
                    <a:pt x="0" y="355204"/>
                    <a:pt x="0" y="276385"/>
                  </a:cubicBezTo>
                  <a:lnTo>
                    <a:pt x="0" y="142715"/>
                  </a:lnTo>
                  <a:cubicBezTo>
                    <a:pt x="0" y="63896"/>
                    <a:pt x="63896" y="0"/>
                    <a:pt x="142715" y="0"/>
                  </a:cubicBezTo>
                  <a:close/>
                </a:path>
              </a:pathLst>
            </a:custGeom>
            <a:solidFill>
              <a:srgbClr val="E8E7E7"/>
            </a:solidFill>
            <a:ln w="38100" cap="rnd">
              <a:solidFill>
                <a:srgbClr val="000000"/>
              </a:solidFill>
              <a:prstDash val="solid"/>
              <a:round/>
            </a:ln>
          </p:spPr>
        </p:sp>
        <p:sp>
          <p:nvSpPr>
            <p:cNvPr name="TextBox 14" id="14"/>
            <p:cNvSpPr txBox="true"/>
            <p:nvPr/>
          </p:nvSpPr>
          <p:spPr>
            <a:xfrm>
              <a:off x="0" y="-9525"/>
              <a:ext cx="1562640"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 4 KPI Card</a:t>
              </a:r>
            </a:p>
          </p:txBody>
        </p:sp>
      </p:grpSp>
      <p:grpSp>
        <p:nvGrpSpPr>
          <p:cNvPr name="Group 15" id="15"/>
          <p:cNvGrpSpPr/>
          <p:nvPr/>
        </p:nvGrpSpPr>
        <p:grpSpPr>
          <a:xfrm rot="0">
            <a:off x="7457922" y="3797427"/>
            <a:ext cx="2544794" cy="693358"/>
            <a:chOff x="0" y="0"/>
            <a:chExt cx="1538200" cy="419100"/>
          </a:xfrm>
        </p:grpSpPr>
        <p:sp>
          <p:nvSpPr>
            <p:cNvPr name="Freeform 16" id="16"/>
            <p:cNvSpPr/>
            <p:nvPr/>
          </p:nvSpPr>
          <p:spPr>
            <a:xfrm flipH="false" flipV="false" rot="0">
              <a:off x="0" y="0"/>
              <a:ext cx="1538200" cy="419100"/>
            </a:xfrm>
            <a:custGeom>
              <a:avLst/>
              <a:gdLst/>
              <a:ahLst/>
              <a:cxnLst/>
              <a:rect r="r" b="b" t="t" l="l"/>
              <a:pathLst>
                <a:path h="419100" w="1538200">
                  <a:moveTo>
                    <a:pt x="144983" y="0"/>
                  </a:moveTo>
                  <a:lnTo>
                    <a:pt x="1393217" y="0"/>
                  </a:lnTo>
                  <a:cubicBezTo>
                    <a:pt x="1431669" y="0"/>
                    <a:pt x="1468546" y="15275"/>
                    <a:pt x="1495735" y="42464"/>
                  </a:cubicBezTo>
                  <a:cubicBezTo>
                    <a:pt x="1522925" y="69654"/>
                    <a:pt x="1538200" y="106531"/>
                    <a:pt x="1538200" y="144983"/>
                  </a:cubicBezTo>
                  <a:lnTo>
                    <a:pt x="1538200" y="274117"/>
                  </a:lnTo>
                  <a:cubicBezTo>
                    <a:pt x="1538200" y="312569"/>
                    <a:pt x="1522925" y="349446"/>
                    <a:pt x="1495735" y="376636"/>
                  </a:cubicBezTo>
                  <a:cubicBezTo>
                    <a:pt x="1468546" y="403825"/>
                    <a:pt x="1431669" y="419100"/>
                    <a:pt x="1393217" y="419100"/>
                  </a:cubicBezTo>
                  <a:lnTo>
                    <a:pt x="144983" y="419100"/>
                  </a:lnTo>
                  <a:cubicBezTo>
                    <a:pt x="106531" y="419100"/>
                    <a:pt x="69654" y="403825"/>
                    <a:pt x="42464" y="376636"/>
                  </a:cubicBezTo>
                  <a:cubicBezTo>
                    <a:pt x="15275" y="349446"/>
                    <a:pt x="0" y="312569"/>
                    <a:pt x="0" y="274117"/>
                  </a:cubicBezTo>
                  <a:lnTo>
                    <a:pt x="0" y="144983"/>
                  </a:lnTo>
                  <a:cubicBezTo>
                    <a:pt x="0" y="106531"/>
                    <a:pt x="15275" y="69654"/>
                    <a:pt x="42464" y="42464"/>
                  </a:cubicBezTo>
                  <a:cubicBezTo>
                    <a:pt x="69654" y="15275"/>
                    <a:pt x="106531" y="0"/>
                    <a:pt x="144983" y="0"/>
                  </a:cubicBezTo>
                  <a:close/>
                </a:path>
              </a:pathLst>
            </a:custGeom>
            <a:solidFill>
              <a:srgbClr val="E8E7E7"/>
            </a:solidFill>
            <a:ln w="38100" cap="rnd">
              <a:solidFill>
                <a:srgbClr val="000000"/>
              </a:solidFill>
              <a:prstDash val="solid"/>
              <a:round/>
            </a:ln>
          </p:spPr>
        </p:sp>
        <p:sp>
          <p:nvSpPr>
            <p:cNvPr name="TextBox 17" id="17"/>
            <p:cNvSpPr txBox="true"/>
            <p:nvPr/>
          </p:nvSpPr>
          <p:spPr>
            <a:xfrm>
              <a:off x="0" y="-9525"/>
              <a:ext cx="1538200"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 3  Visualisasi</a:t>
              </a:r>
            </a:p>
          </p:txBody>
        </p:sp>
      </p:grpSp>
      <p:grpSp>
        <p:nvGrpSpPr>
          <p:cNvPr name="Group 18" id="18"/>
          <p:cNvGrpSpPr/>
          <p:nvPr/>
        </p:nvGrpSpPr>
        <p:grpSpPr>
          <a:xfrm rot="0">
            <a:off x="13824950" y="3797427"/>
            <a:ext cx="2086539" cy="693358"/>
            <a:chOff x="0" y="0"/>
            <a:chExt cx="1261207" cy="419100"/>
          </a:xfrm>
        </p:grpSpPr>
        <p:sp>
          <p:nvSpPr>
            <p:cNvPr name="Freeform 19" id="19"/>
            <p:cNvSpPr/>
            <p:nvPr/>
          </p:nvSpPr>
          <p:spPr>
            <a:xfrm flipH="false" flipV="false" rot="0">
              <a:off x="0" y="0"/>
              <a:ext cx="1261207" cy="419100"/>
            </a:xfrm>
            <a:custGeom>
              <a:avLst/>
              <a:gdLst/>
              <a:ahLst/>
              <a:cxnLst/>
              <a:rect r="r" b="b" t="t" l="l"/>
              <a:pathLst>
                <a:path h="419100" w="1261207">
                  <a:moveTo>
                    <a:pt x="176824" y="0"/>
                  </a:moveTo>
                  <a:lnTo>
                    <a:pt x="1084383" y="0"/>
                  </a:lnTo>
                  <a:cubicBezTo>
                    <a:pt x="1182040" y="0"/>
                    <a:pt x="1261207" y="79167"/>
                    <a:pt x="1261207" y="176824"/>
                  </a:cubicBezTo>
                  <a:lnTo>
                    <a:pt x="1261207" y="242276"/>
                  </a:lnTo>
                  <a:cubicBezTo>
                    <a:pt x="1261207" y="289172"/>
                    <a:pt x="1242578" y="334148"/>
                    <a:pt x="1209417" y="367309"/>
                  </a:cubicBezTo>
                  <a:cubicBezTo>
                    <a:pt x="1176256" y="400470"/>
                    <a:pt x="1131280" y="419100"/>
                    <a:pt x="1084383" y="419100"/>
                  </a:cubicBezTo>
                  <a:lnTo>
                    <a:pt x="176824" y="419100"/>
                  </a:lnTo>
                  <a:cubicBezTo>
                    <a:pt x="129928" y="419100"/>
                    <a:pt x="84952" y="400470"/>
                    <a:pt x="51791" y="367309"/>
                  </a:cubicBezTo>
                  <a:cubicBezTo>
                    <a:pt x="18630" y="334148"/>
                    <a:pt x="0" y="289172"/>
                    <a:pt x="0" y="242276"/>
                  </a:cubicBezTo>
                  <a:lnTo>
                    <a:pt x="0" y="176824"/>
                  </a:lnTo>
                  <a:cubicBezTo>
                    <a:pt x="0" y="129928"/>
                    <a:pt x="18630" y="84952"/>
                    <a:pt x="51791" y="51791"/>
                  </a:cubicBezTo>
                  <a:cubicBezTo>
                    <a:pt x="84952" y="18630"/>
                    <a:pt x="129928" y="0"/>
                    <a:pt x="176824" y="0"/>
                  </a:cubicBezTo>
                  <a:close/>
                </a:path>
              </a:pathLst>
            </a:custGeom>
            <a:solidFill>
              <a:srgbClr val="E8E7E7"/>
            </a:solidFill>
            <a:ln w="38100" cap="rnd">
              <a:solidFill>
                <a:srgbClr val="000000"/>
              </a:solidFill>
              <a:prstDash val="solid"/>
              <a:round/>
            </a:ln>
          </p:spPr>
        </p:sp>
        <p:sp>
          <p:nvSpPr>
            <p:cNvPr name="TextBox 20" id="20"/>
            <p:cNvSpPr txBox="true"/>
            <p:nvPr/>
          </p:nvSpPr>
          <p:spPr>
            <a:xfrm>
              <a:off x="0" y="-9525"/>
              <a:ext cx="1261207"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 5  Slicer</a:t>
              </a:r>
            </a:p>
          </p:txBody>
        </p:sp>
      </p:grpSp>
      <p:grpSp>
        <p:nvGrpSpPr>
          <p:cNvPr name="Group 21" id="21"/>
          <p:cNvGrpSpPr/>
          <p:nvPr/>
        </p:nvGrpSpPr>
        <p:grpSpPr>
          <a:xfrm rot="0">
            <a:off x="6114583" y="7681097"/>
            <a:ext cx="5329058" cy="1765896"/>
            <a:chOff x="0" y="0"/>
            <a:chExt cx="3468410" cy="1149331"/>
          </a:xfrm>
        </p:grpSpPr>
        <p:sp>
          <p:nvSpPr>
            <p:cNvPr name="Freeform 22" id="22"/>
            <p:cNvSpPr/>
            <p:nvPr/>
          </p:nvSpPr>
          <p:spPr>
            <a:xfrm flipH="false" flipV="false" rot="0">
              <a:off x="0" y="0"/>
              <a:ext cx="3468410" cy="1149331"/>
            </a:xfrm>
            <a:custGeom>
              <a:avLst/>
              <a:gdLst/>
              <a:ahLst/>
              <a:cxnLst/>
              <a:rect r="r" b="b" t="t" l="l"/>
              <a:pathLst>
                <a:path h="1149331" w="3468410">
                  <a:moveTo>
                    <a:pt x="69234" y="0"/>
                  </a:moveTo>
                  <a:lnTo>
                    <a:pt x="3399177" y="0"/>
                  </a:lnTo>
                  <a:cubicBezTo>
                    <a:pt x="3437413" y="0"/>
                    <a:pt x="3468410" y="30997"/>
                    <a:pt x="3468410" y="69234"/>
                  </a:cubicBezTo>
                  <a:lnTo>
                    <a:pt x="3468410" y="1080098"/>
                  </a:lnTo>
                  <a:cubicBezTo>
                    <a:pt x="3468410" y="1118334"/>
                    <a:pt x="3437413" y="1149331"/>
                    <a:pt x="3399177" y="1149331"/>
                  </a:cubicBezTo>
                  <a:lnTo>
                    <a:pt x="69234" y="1149331"/>
                  </a:lnTo>
                  <a:cubicBezTo>
                    <a:pt x="30997" y="1149331"/>
                    <a:pt x="0" y="1118334"/>
                    <a:pt x="0" y="1080098"/>
                  </a:cubicBezTo>
                  <a:lnTo>
                    <a:pt x="0" y="69234"/>
                  </a:lnTo>
                  <a:cubicBezTo>
                    <a:pt x="0" y="30997"/>
                    <a:pt x="30997" y="0"/>
                    <a:pt x="69234" y="0"/>
                  </a:cubicBezTo>
                  <a:close/>
                </a:path>
              </a:pathLst>
            </a:custGeom>
            <a:solidFill>
              <a:srgbClr val="E8E7E7"/>
            </a:solidFill>
            <a:ln w="38100" cap="rnd">
              <a:solidFill>
                <a:srgbClr val="000000"/>
              </a:solidFill>
              <a:prstDash val="solid"/>
              <a:round/>
            </a:ln>
          </p:spPr>
        </p:sp>
        <p:sp>
          <p:nvSpPr>
            <p:cNvPr name="TextBox 23" id="23"/>
            <p:cNvSpPr txBox="true"/>
            <p:nvPr/>
          </p:nvSpPr>
          <p:spPr>
            <a:xfrm>
              <a:off x="0" y="-9525"/>
              <a:ext cx="3468410" cy="1158856"/>
            </a:xfrm>
            <a:prstGeom prst="rect">
              <a:avLst/>
            </a:prstGeom>
          </p:spPr>
          <p:txBody>
            <a:bodyPr anchor="ctr" rtlCol="false" tIns="50800" lIns="50800" bIns="50800" rIns="50800"/>
            <a:lstStyle/>
            <a:p>
              <a:pPr algn="just">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Bertujuan atau Berfokus dalam memberikan gambaran performa pricing secara cepat dan ringkas</a:t>
              </a:r>
            </a:p>
          </p:txBody>
        </p:sp>
      </p:grpSp>
      <p:sp>
        <p:nvSpPr>
          <p:cNvPr name="AutoShape 24" id="24"/>
          <p:cNvSpPr/>
          <p:nvPr/>
        </p:nvSpPr>
        <p:spPr>
          <a:xfrm>
            <a:off x="2182170" y="4490785"/>
            <a:ext cx="6596942" cy="3190312"/>
          </a:xfrm>
          <a:prstGeom prst="line">
            <a:avLst/>
          </a:prstGeom>
          <a:ln cap="flat" w="38100">
            <a:solidFill>
              <a:srgbClr val="000000"/>
            </a:solidFill>
            <a:prstDash val="solid"/>
            <a:headEnd type="none" len="sm" w="sm"/>
            <a:tailEnd type="none" len="sm" w="sm"/>
          </a:ln>
        </p:spPr>
      </p:sp>
      <p:sp>
        <p:nvSpPr>
          <p:cNvPr name="AutoShape 25" id="25"/>
          <p:cNvSpPr/>
          <p:nvPr/>
        </p:nvSpPr>
        <p:spPr>
          <a:xfrm>
            <a:off x="8730319" y="4490785"/>
            <a:ext cx="48792" cy="3190312"/>
          </a:xfrm>
          <a:prstGeom prst="line">
            <a:avLst/>
          </a:prstGeom>
          <a:ln cap="flat" w="38100">
            <a:solidFill>
              <a:srgbClr val="000000"/>
            </a:solidFill>
            <a:prstDash val="solid"/>
            <a:headEnd type="none" len="sm" w="sm"/>
            <a:tailEnd type="none" len="sm" w="sm"/>
          </a:ln>
        </p:spPr>
      </p:sp>
      <p:sp>
        <p:nvSpPr>
          <p:cNvPr name="AutoShape 26" id="26"/>
          <p:cNvSpPr/>
          <p:nvPr/>
        </p:nvSpPr>
        <p:spPr>
          <a:xfrm flipV="true">
            <a:off x="8779112" y="4490785"/>
            <a:ext cx="6089108" cy="3190312"/>
          </a:xfrm>
          <a:prstGeom prst="line">
            <a:avLst/>
          </a:prstGeom>
          <a:ln cap="flat" w="38100">
            <a:solidFill>
              <a:srgbClr val="000000"/>
            </a:solidFill>
            <a:prstDash val="solid"/>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458433" y="106912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6449526" y="1069125"/>
            <a:ext cx="5550413" cy="693358"/>
            <a:chOff x="0" y="0"/>
            <a:chExt cx="3354944" cy="419100"/>
          </a:xfrm>
        </p:grpSpPr>
        <p:sp>
          <p:nvSpPr>
            <p:cNvPr name="Freeform 5" id="5"/>
            <p:cNvSpPr/>
            <p:nvPr/>
          </p:nvSpPr>
          <p:spPr>
            <a:xfrm flipH="false" flipV="false" rot="0">
              <a:off x="0" y="0"/>
              <a:ext cx="3354944" cy="419100"/>
            </a:xfrm>
            <a:custGeom>
              <a:avLst/>
              <a:gdLst/>
              <a:ahLst/>
              <a:cxnLst/>
              <a:rect r="r" b="b" t="t" l="l"/>
              <a:pathLst>
                <a:path h="419100" w="3354944">
                  <a:moveTo>
                    <a:pt x="66473" y="0"/>
                  </a:moveTo>
                  <a:lnTo>
                    <a:pt x="3288472" y="0"/>
                  </a:lnTo>
                  <a:cubicBezTo>
                    <a:pt x="3325183" y="0"/>
                    <a:pt x="3354944" y="29761"/>
                    <a:pt x="3354944" y="66473"/>
                  </a:cubicBezTo>
                  <a:lnTo>
                    <a:pt x="3354944" y="352627"/>
                  </a:lnTo>
                  <a:cubicBezTo>
                    <a:pt x="3354944" y="389339"/>
                    <a:pt x="3325183" y="419100"/>
                    <a:pt x="3288472" y="419100"/>
                  </a:cubicBezTo>
                  <a:lnTo>
                    <a:pt x="66473" y="419100"/>
                  </a:lnTo>
                  <a:cubicBezTo>
                    <a:pt x="29761" y="419100"/>
                    <a:pt x="0" y="389339"/>
                    <a:pt x="0" y="352627"/>
                  </a:cubicBezTo>
                  <a:lnTo>
                    <a:pt x="0" y="66473"/>
                  </a:lnTo>
                  <a:cubicBezTo>
                    <a:pt x="0" y="29761"/>
                    <a:pt x="29761" y="0"/>
                    <a:pt x="66473"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3354944"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PRICING DRIVER ANALYSIS</a:t>
              </a:r>
            </a:p>
          </p:txBody>
        </p:sp>
      </p:grpSp>
      <p:sp>
        <p:nvSpPr>
          <p:cNvPr name="Freeform 7" id="7"/>
          <p:cNvSpPr/>
          <p:nvPr/>
        </p:nvSpPr>
        <p:spPr>
          <a:xfrm flipH="false" flipV="false" rot="0">
            <a:off x="0" y="1886956"/>
            <a:ext cx="18288000" cy="8354793"/>
          </a:xfrm>
          <a:custGeom>
            <a:avLst/>
            <a:gdLst/>
            <a:ahLst/>
            <a:cxnLst/>
            <a:rect r="r" b="b" t="t" l="l"/>
            <a:pathLst>
              <a:path h="8354793" w="18288000">
                <a:moveTo>
                  <a:pt x="0" y="0"/>
                </a:moveTo>
                <a:lnTo>
                  <a:pt x="18288000" y="0"/>
                </a:lnTo>
                <a:lnTo>
                  <a:pt x="18288000" y="8354793"/>
                </a:lnTo>
                <a:lnTo>
                  <a:pt x="0" y="8354793"/>
                </a:lnTo>
                <a:lnTo>
                  <a:pt x="0" y="0"/>
                </a:lnTo>
                <a:close/>
              </a:path>
            </a:pathLst>
          </a:custGeom>
          <a:blipFill>
            <a:blip r:embed="rId3"/>
            <a:stretch>
              <a:fillRect l="0" t="-1850" r="0" b="-1850"/>
            </a:stretch>
          </a:blipFill>
        </p:spPr>
      </p:sp>
      <p:sp>
        <p:nvSpPr>
          <p:cNvPr name="TextBox 8" id="8"/>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9" id="9"/>
          <p:cNvSpPr txBox="true"/>
          <p:nvPr/>
        </p:nvSpPr>
        <p:spPr>
          <a:xfrm rot="0">
            <a:off x="6039277" y="222203"/>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458433" y="106912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5955113" y="1200519"/>
            <a:ext cx="5550413" cy="693358"/>
            <a:chOff x="0" y="0"/>
            <a:chExt cx="3354944" cy="419100"/>
          </a:xfrm>
        </p:grpSpPr>
        <p:sp>
          <p:nvSpPr>
            <p:cNvPr name="Freeform 5" id="5"/>
            <p:cNvSpPr/>
            <p:nvPr/>
          </p:nvSpPr>
          <p:spPr>
            <a:xfrm flipH="false" flipV="false" rot="0">
              <a:off x="0" y="0"/>
              <a:ext cx="3354944" cy="419100"/>
            </a:xfrm>
            <a:custGeom>
              <a:avLst/>
              <a:gdLst/>
              <a:ahLst/>
              <a:cxnLst/>
              <a:rect r="r" b="b" t="t" l="l"/>
              <a:pathLst>
                <a:path h="419100" w="3354944">
                  <a:moveTo>
                    <a:pt x="66473" y="0"/>
                  </a:moveTo>
                  <a:lnTo>
                    <a:pt x="3288472" y="0"/>
                  </a:lnTo>
                  <a:cubicBezTo>
                    <a:pt x="3325183" y="0"/>
                    <a:pt x="3354944" y="29761"/>
                    <a:pt x="3354944" y="66473"/>
                  </a:cubicBezTo>
                  <a:lnTo>
                    <a:pt x="3354944" y="352627"/>
                  </a:lnTo>
                  <a:cubicBezTo>
                    <a:pt x="3354944" y="389339"/>
                    <a:pt x="3325183" y="419100"/>
                    <a:pt x="3288472" y="419100"/>
                  </a:cubicBezTo>
                  <a:lnTo>
                    <a:pt x="66473" y="419100"/>
                  </a:lnTo>
                  <a:cubicBezTo>
                    <a:pt x="29761" y="419100"/>
                    <a:pt x="0" y="389339"/>
                    <a:pt x="0" y="352627"/>
                  </a:cubicBezTo>
                  <a:lnTo>
                    <a:pt x="0" y="66473"/>
                  </a:lnTo>
                  <a:cubicBezTo>
                    <a:pt x="0" y="29761"/>
                    <a:pt x="29761" y="0"/>
                    <a:pt x="66473"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3354944"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STRUKTUR DASHBOARD</a:t>
              </a:r>
            </a:p>
          </p:txBody>
        </p:sp>
      </p:grpSp>
      <p:sp>
        <p:nvSpPr>
          <p:cNvPr name="TextBox 7" id="7"/>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8" id="8"/>
          <p:cNvSpPr txBox="true"/>
          <p:nvPr/>
        </p:nvSpPr>
        <p:spPr>
          <a:xfrm rot="0">
            <a:off x="6039277" y="222203"/>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grpSp>
        <p:nvGrpSpPr>
          <p:cNvPr name="Group 9" id="9"/>
          <p:cNvGrpSpPr/>
          <p:nvPr/>
        </p:nvGrpSpPr>
        <p:grpSpPr>
          <a:xfrm rot="0">
            <a:off x="5955113" y="2214639"/>
            <a:ext cx="5550413" cy="693358"/>
            <a:chOff x="0" y="0"/>
            <a:chExt cx="3354944" cy="419100"/>
          </a:xfrm>
        </p:grpSpPr>
        <p:sp>
          <p:nvSpPr>
            <p:cNvPr name="Freeform 10" id="10"/>
            <p:cNvSpPr/>
            <p:nvPr/>
          </p:nvSpPr>
          <p:spPr>
            <a:xfrm flipH="false" flipV="false" rot="0">
              <a:off x="0" y="0"/>
              <a:ext cx="3354944" cy="419100"/>
            </a:xfrm>
            <a:custGeom>
              <a:avLst/>
              <a:gdLst/>
              <a:ahLst/>
              <a:cxnLst/>
              <a:rect r="r" b="b" t="t" l="l"/>
              <a:pathLst>
                <a:path h="419100" w="3354944">
                  <a:moveTo>
                    <a:pt x="66473" y="0"/>
                  </a:moveTo>
                  <a:lnTo>
                    <a:pt x="3288472" y="0"/>
                  </a:lnTo>
                  <a:cubicBezTo>
                    <a:pt x="3325183" y="0"/>
                    <a:pt x="3354944" y="29761"/>
                    <a:pt x="3354944" y="66473"/>
                  </a:cubicBezTo>
                  <a:lnTo>
                    <a:pt x="3354944" y="352627"/>
                  </a:lnTo>
                  <a:cubicBezTo>
                    <a:pt x="3354944" y="389339"/>
                    <a:pt x="3325183" y="419100"/>
                    <a:pt x="3288472" y="419100"/>
                  </a:cubicBezTo>
                  <a:lnTo>
                    <a:pt x="66473" y="419100"/>
                  </a:lnTo>
                  <a:cubicBezTo>
                    <a:pt x="29761" y="419100"/>
                    <a:pt x="0" y="389339"/>
                    <a:pt x="0" y="352627"/>
                  </a:cubicBezTo>
                  <a:lnTo>
                    <a:pt x="0" y="66473"/>
                  </a:lnTo>
                  <a:cubicBezTo>
                    <a:pt x="0" y="29761"/>
                    <a:pt x="29761" y="0"/>
                    <a:pt x="66473" y="0"/>
                  </a:cubicBezTo>
                  <a:close/>
                </a:path>
              </a:pathLst>
            </a:custGeom>
            <a:solidFill>
              <a:srgbClr val="E8E7E7"/>
            </a:solidFill>
            <a:ln w="38100" cap="rnd">
              <a:solidFill>
                <a:srgbClr val="000000"/>
              </a:solidFill>
              <a:prstDash val="solid"/>
              <a:round/>
            </a:ln>
          </p:spPr>
        </p:sp>
        <p:sp>
          <p:nvSpPr>
            <p:cNvPr name="TextBox 11" id="11"/>
            <p:cNvSpPr txBox="true"/>
            <p:nvPr/>
          </p:nvSpPr>
          <p:spPr>
            <a:xfrm>
              <a:off x="0" y="-9525"/>
              <a:ext cx="3354944"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PRICING DRIVER ANALYSIS</a:t>
              </a:r>
            </a:p>
          </p:txBody>
        </p:sp>
      </p:grpSp>
      <p:grpSp>
        <p:nvGrpSpPr>
          <p:cNvPr name="Group 12" id="12"/>
          <p:cNvGrpSpPr/>
          <p:nvPr/>
        </p:nvGrpSpPr>
        <p:grpSpPr>
          <a:xfrm rot="0">
            <a:off x="889555" y="3797427"/>
            <a:ext cx="2585229" cy="693358"/>
            <a:chOff x="0" y="0"/>
            <a:chExt cx="1562640" cy="419100"/>
          </a:xfrm>
        </p:grpSpPr>
        <p:sp>
          <p:nvSpPr>
            <p:cNvPr name="Freeform 13" id="13"/>
            <p:cNvSpPr/>
            <p:nvPr/>
          </p:nvSpPr>
          <p:spPr>
            <a:xfrm flipH="false" flipV="false" rot="0">
              <a:off x="0" y="0"/>
              <a:ext cx="1562640" cy="419100"/>
            </a:xfrm>
            <a:custGeom>
              <a:avLst/>
              <a:gdLst/>
              <a:ahLst/>
              <a:cxnLst/>
              <a:rect r="r" b="b" t="t" l="l"/>
              <a:pathLst>
                <a:path h="419100" w="1562640">
                  <a:moveTo>
                    <a:pt x="142715" y="0"/>
                  </a:moveTo>
                  <a:lnTo>
                    <a:pt x="1419925" y="0"/>
                  </a:lnTo>
                  <a:cubicBezTo>
                    <a:pt x="1498744" y="0"/>
                    <a:pt x="1562640" y="63896"/>
                    <a:pt x="1562640" y="142715"/>
                  </a:cubicBezTo>
                  <a:lnTo>
                    <a:pt x="1562640" y="276385"/>
                  </a:lnTo>
                  <a:cubicBezTo>
                    <a:pt x="1562640" y="355204"/>
                    <a:pt x="1498744" y="419100"/>
                    <a:pt x="1419925" y="419100"/>
                  </a:cubicBezTo>
                  <a:lnTo>
                    <a:pt x="142715" y="419100"/>
                  </a:lnTo>
                  <a:cubicBezTo>
                    <a:pt x="63896" y="419100"/>
                    <a:pt x="0" y="355204"/>
                    <a:pt x="0" y="276385"/>
                  </a:cubicBezTo>
                  <a:lnTo>
                    <a:pt x="0" y="142715"/>
                  </a:lnTo>
                  <a:cubicBezTo>
                    <a:pt x="0" y="63896"/>
                    <a:pt x="63896" y="0"/>
                    <a:pt x="142715" y="0"/>
                  </a:cubicBezTo>
                  <a:close/>
                </a:path>
              </a:pathLst>
            </a:custGeom>
            <a:solidFill>
              <a:srgbClr val="E8E7E7"/>
            </a:solidFill>
            <a:ln w="38100" cap="rnd">
              <a:solidFill>
                <a:srgbClr val="000000"/>
              </a:solidFill>
              <a:prstDash val="solid"/>
              <a:round/>
            </a:ln>
          </p:spPr>
        </p:sp>
        <p:sp>
          <p:nvSpPr>
            <p:cNvPr name="TextBox 14" id="14"/>
            <p:cNvSpPr txBox="true"/>
            <p:nvPr/>
          </p:nvSpPr>
          <p:spPr>
            <a:xfrm>
              <a:off x="0" y="-9525"/>
              <a:ext cx="1562640"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 4 KPI Card</a:t>
              </a:r>
            </a:p>
          </p:txBody>
        </p:sp>
      </p:grpSp>
      <p:grpSp>
        <p:nvGrpSpPr>
          <p:cNvPr name="Group 15" id="15"/>
          <p:cNvGrpSpPr/>
          <p:nvPr/>
        </p:nvGrpSpPr>
        <p:grpSpPr>
          <a:xfrm rot="0">
            <a:off x="7506714" y="3797427"/>
            <a:ext cx="2544794" cy="693358"/>
            <a:chOff x="0" y="0"/>
            <a:chExt cx="1538200" cy="419100"/>
          </a:xfrm>
        </p:grpSpPr>
        <p:sp>
          <p:nvSpPr>
            <p:cNvPr name="Freeform 16" id="16"/>
            <p:cNvSpPr/>
            <p:nvPr/>
          </p:nvSpPr>
          <p:spPr>
            <a:xfrm flipH="false" flipV="false" rot="0">
              <a:off x="0" y="0"/>
              <a:ext cx="1538200" cy="419100"/>
            </a:xfrm>
            <a:custGeom>
              <a:avLst/>
              <a:gdLst/>
              <a:ahLst/>
              <a:cxnLst/>
              <a:rect r="r" b="b" t="t" l="l"/>
              <a:pathLst>
                <a:path h="419100" w="1538200">
                  <a:moveTo>
                    <a:pt x="144983" y="0"/>
                  </a:moveTo>
                  <a:lnTo>
                    <a:pt x="1393217" y="0"/>
                  </a:lnTo>
                  <a:cubicBezTo>
                    <a:pt x="1431669" y="0"/>
                    <a:pt x="1468546" y="15275"/>
                    <a:pt x="1495735" y="42464"/>
                  </a:cubicBezTo>
                  <a:cubicBezTo>
                    <a:pt x="1522925" y="69654"/>
                    <a:pt x="1538200" y="106531"/>
                    <a:pt x="1538200" y="144983"/>
                  </a:cubicBezTo>
                  <a:lnTo>
                    <a:pt x="1538200" y="274117"/>
                  </a:lnTo>
                  <a:cubicBezTo>
                    <a:pt x="1538200" y="312569"/>
                    <a:pt x="1522925" y="349446"/>
                    <a:pt x="1495735" y="376636"/>
                  </a:cubicBezTo>
                  <a:cubicBezTo>
                    <a:pt x="1468546" y="403825"/>
                    <a:pt x="1431669" y="419100"/>
                    <a:pt x="1393217" y="419100"/>
                  </a:cubicBezTo>
                  <a:lnTo>
                    <a:pt x="144983" y="419100"/>
                  </a:lnTo>
                  <a:cubicBezTo>
                    <a:pt x="106531" y="419100"/>
                    <a:pt x="69654" y="403825"/>
                    <a:pt x="42464" y="376636"/>
                  </a:cubicBezTo>
                  <a:cubicBezTo>
                    <a:pt x="15275" y="349446"/>
                    <a:pt x="0" y="312569"/>
                    <a:pt x="0" y="274117"/>
                  </a:cubicBezTo>
                  <a:lnTo>
                    <a:pt x="0" y="144983"/>
                  </a:lnTo>
                  <a:cubicBezTo>
                    <a:pt x="0" y="106531"/>
                    <a:pt x="15275" y="69654"/>
                    <a:pt x="42464" y="42464"/>
                  </a:cubicBezTo>
                  <a:cubicBezTo>
                    <a:pt x="69654" y="15275"/>
                    <a:pt x="106531" y="0"/>
                    <a:pt x="144983" y="0"/>
                  </a:cubicBezTo>
                  <a:close/>
                </a:path>
              </a:pathLst>
            </a:custGeom>
            <a:solidFill>
              <a:srgbClr val="E8E7E7"/>
            </a:solidFill>
            <a:ln w="38100" cap="rnd">
              <a:solidFill>
                <a:srgbClr val="000000"/>
              </a:solidFill>
              <a:prstDash val="solid"/>
              <a:round/>
            </a:ln>
          </p:spPr>
        </p:sp>
        <p:sp>
          <p:nvSpPr>
            <p:cNvPr name="TextBox 17" id="17"/>
            <p:cNvSpPr txBox="true"/>
            <p:nvPr/>
          </p:nvSpPr>
          <p:spPr>
            <a:xfrm>
              <a:off x="0" y="-9525"/>
              <a:ext cx="1538200"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4 Visualisasi</a:t>
              </a:r>
            </a:p>
          </p:txBody>
        </p:sp>
      </p:grpSp>
      <p:grpSp>
        <p:nvGrpSpPr>
          <p:cNvPr name="Group 18" id="18"/>
          <p:cNvGrpSpPr/>
          <p:nvPr/>
        </p:nvGrpSpPr>
        <p:grpSpPr>
          <a:xfrm rot="0">
            <a:off x="13986688" y="3797427"/>
            <a:ext cx="2086539" cy="693358"/>
            <a:chOff x="0" y="0"/>
            <a:chExt cx="1261207" cy="419100"/>
          </a:xfrm>
        </p:grpSpPr>
        <p:sp>
          <p:nvSpPr>
            <p:cNvPr name="Freeform 19" id="19"/>
            <p:cNvSpPr/>
            <p:nvPr/>
          </p:nvSpPr>
          <p:spPr>
            <a:xfrm flipH="false" flipV="false" rot="0">
              <a:off x="0" y="0"/>
              <a:ext cx="1261207" cy="419100"/>
            </a:xfrm>
            <a:custGeom>
              <a:avLst/>
              <a:gdLst/>
              <a:ahLst/>
              <a:cxnLst/>
              <a:rect r="r" b="b" t="t" l="l"/>
              <a:pathLst>
                <a:path h="419100" w="1261207">
                  <a:moveTo>
                    <a:pt x="176824" y="0"/>
                  </a:moveTo>
                  <a:lnTo>
                    <a:pt x="1084383" y="0"/>
                  </a:lnTo>
                  <a:cubicBezTo>
                    <a:pt x="1182040" y="0"/>
                    <a:pt x="1261207" y="79167"/>
                    <a:pt x="1261207" y="176824"/>
                  </a:cubicBezTo>
                  <a:lnTo>
                    <a:pt x="1261207" y="242276"/>
                  </a:lnTo>
                  <a:cubicBezTo>
                    <a:pt x="1261207" y="289172"/>
                    <a:pt x="1242578" y="334148"/>
                    <a:pt x="1209417" y="367309"/>
                  </a:cubicBezTo>
                  <a:cubicBezTo>
                    <a:pt x="1176256" y="400470"/>
                    <a:pt x="1131280" y="419100"/>
                    <a:pt x="1084383" y="419100"/>
                  </a:cubicBezTo>
                  <a:lnTo>
                    <a:pt x="176824" y="419100"/>
                  </a:lnTo>
                  <a:cubicBezTo>
                    <a:pt x="129928" y="419100"/>
                    <a:pt x="84952" y="400470"/>
                    <a:pt x="51791" y="367309"/>
                  </a:cubicBezTo>
                  <a:cubicBezTo>
                    <a:pt x="18630" y="334148"/>
                    <a:pt x="0" y="289172"/>
                    <a:pt x="0" y="242276"/>
                  </a:cubicBezTo>
                  <a:lnTo>
                    <a:pt x="0" y="176824"/>
                  </a:lnTo>
                  <a:cubicBezTo>
                    <a:pt x="0" y="129928"/>
                    <a:pt x="18630" y="84952"/>
                    <a:pt x="51791" y="51791"/>
                  </a:cubicBezTo>
                  <a:cubicBezTo>
                    <a:pt x="84952" y="18630"/>
                    <a:pt x="129928" y="0"/>
                    <a:pt x="176824" y="0"/>
                  </a:cubicBezTo>
                  <a:close/>
                </a:path>
              </a:pathLst>
            </a:custGeom>
            <a:solidFill>
              <a:srgbClr val="E8E7E7"/>
            </a:solidFill>
            <a:ln w="38100" cap="rnd">
              <a:solidFill>
                <a:srgbClr val="000000"/>
              </a:solidFill>
              <a:prstDash val="solid"/>
              <a:round/>
            </a:ln>
          </p:spPr>
        </p:sp>
        <p:sp>
          <p:nvSpPr>
            <p:cNvPr name="TextBox 20" id="20"/>
            <p:cNvSpPr txBox="true"/>
            <p:nvPr/>
          </p:nvSpPr>
          <p:spPr>
            <a:xfrm>
              <a:off x="0" y="-9525"/>
              <a:ext cx="1261207"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 5  Slicer</a:t>
              </a:r>
            </a:p>
          </p:txBody>
        </p:sp>
      </p:grpSp>
      <p:grpSp>
        <p:nvGrpSpPr>
          <p:cNvPr name="Group 21" id="21"/>
          <p:cNvGrpSpPr/>
          <p:nvPr/>
        </p:nvGrpSpPr>
        <p:grpSpPr>
          <a:xfrm rot="0">
            <a:off x="5742984" y="7667619"/>
            <a:ext cx="6072255" cy="1329035"/>
            <a:chOff x="0" y="0"/>
            <a:chExt cx="3107554" cy="680151"/>
          </a:xfrm>
        </p:grpSpPr>
        <p:sp>
          <p:nvSpPr>
            <p:cNvPr name="Freeform 22" id="22"/>
            <p:cNvSpPr/>
            <p:nvPr/>
          </p:nvSpPr>
          <p:spPr>
            <a:xfrm flipH="false" flipV="false" rot="0">
              <a:off x="0" y="0"/>
              <a:ext cx="3107554" cy="680151"/>
            </a:xfrm>
            <a:custGeom>
              <a:avLst/>
              <a:gdLst/>
              <a:ahLst/>
              <a:cxnLst/>
              <a:rect r="r" b="b" t="t" l="l"/>
              <a:pathLst>
                <a:path h="680151" w="3107554">
                  <a:moveTo>
                    <a:pt x="60760" y="0"/>
                  </a:moveTo>
                  <a:lnTo>
                    <a:pt x="3046794" y="0"/>
                  </a:lnTo>
                  <a:cubicBezTo>
                    <a:pt x="3062909" y="0"/>
                    <a:pt x="3078363" y="6401"/>
                    <a:pt x="3089758" y="17796"/>
                  </a:cubicBezTo>
                  <a:cubicBezTo>
                    <a:pt x="3101153" y="29191"/>
                    <a:pt x="3107554" y="44646"/>
                    <a:pt x="3107554" y="60760"/>
                  </a:cubicBezTo>
                  <a:lnTo>
                    <a:pt x="3107554" y="619391"/>
                  </a:lnTo>
                  <a:cubicBezTo>
                    <a:pt x="3107554" y="635505"/>
                    <a:pt x="3101153" y="650960"/>
                    <a:pt x="3089758" y="662354"/>
                  </a:cubicBezTo>
                  <a:cubicBezTo>
                    <a:pt x="3078363" y="673749"/>
                    <a:pt x="3062909" y="680151"/>
                    <a:pt x="3046794" y="680151"/>
                  </a:cubicBezTo>
                  <a:lnTo>
                    <a:pt x="60760" y="680151"/>
                  </a:lnTo>
                  <a:cubicBezTo>
                    <a:pt x="27203" y="680151"/>
                    <a:pt x="0" y="652947"/>
                    <a:pt x="0" y="619391"/>
                  </a:cubicBezTo>
                  <a:lnTo>
                    <a:pt x="0" y="60760"/>
                  </a:lnTo>
                  <a:cubicBezTo>
                    <a:pt x="0" y="27203"/>
                    <a:pt x="27203" y="0"/>
                    <a:pt x="60760" y="0"/>
                  </a:cubicBezTo>
                  <a:close/>
                </a:path>
              </a:pathLst>
            </a:custGeom>
            <a:solidFill>
              <a:srgbClr val="E8E7E7"/>
            </a:solidFill>
            <a:ln w="38100" cap="rnd">
              <a:solidFill>
                <a:srgbClr val="000000"/>
              </a:solidFill>
              <a:prstDash val="solid"/>
              <a:round/>
            </a:ln>
          </p:spPr>
        </p:sp>
        <p:sp>
          <p:nvSpPr>
            <p:cNvPr name="TextBox 23" id="23"/>
            <p:cNvSpPr txBox="true"/>
            <p:nvPr/>
          </p:nvSpPr>
          <p:spPr>
            <a:xfrm>
              <a:off x="0" y="-9525"/>
              <a:ext cx="3107554" cy="689676"/>
            </a:xfrm>
            <a:prstGeom prst="rect">
              <a:avLst/>
            </a:prstGeom>
          </p:spPr>
          <p:txBody>
            <a:bodyPr anchor="ctr" rtlCol="false" tIns="50800" lIns="50800" bIns="50800" rIns="50800"/>
            <a:lstStyle/>
            <a:p>
              <a:pPr algn="just">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Bertujuan atau berfokus dalam mengidentifikasi faktor utama yang mempengaruhi Trip Price</a:t>
              </a:r>
            </a:p>
          </p:txBody>
        </p:sp>
      </p:grpSp>
      <p:sp>
        <p:nvSpPr>
          <p:cNvPr name="AutoShape 24" id="24"/>
          <p:cNvSpPr/>
          <p:nvPr/>
        </p:nvSpPr>
        <p:spPr>
          <a:xfrm>
            <a:off x="2182170" y="4490785"/>
            <a:ext cx="6596942" cy="3176834"/>
          </a:xfrm>
          <a:prstGeom prst="line">
            <a:avLst/>
          </a:prstGeom>
          <a:ln cap="flat" w="38100">
            <a:solidFill>
              <a:srgbClr val="000000"/>
            </a:solidFill>
            <a:prstDash val="solid"/>
            <a:headEnd type="none" len="sm" w="sm"/>
            <a:tailEnd type="none" len="sm" w="sm"/>
          </a:ln>
        </p:spPr>
      </p:sp>
      <p:sp>
        <p:nvSpPr>
          <p:cNvPr name="AutoShape 25" id="25"/>
          <p:cNvSpPr/>
          <p:nvPr/>
        </p:nvSpPr>
        <p:spPr>
          <a:xfrm>
            <a:off x="8779112" y="4490785"/>
            <a:ext cx="0" cy="3176834"/>
          </a:xfrm>
          <a:prstGeom prst="line">
            <a:avLst/>
          </a:prstGeom>
          <a:ln cap="flat" w="38100">
            <a:solidFill>
              <a:srgbClr val="000000"/>
            </a:solidFill>
            <a:prstDash val="solid"/>
            <a:headEnd type="none" len="sm" w="sm"/>
            <a:tailEnd type="none" len="sm" w="sm"/>
          </a:ln>
        </p:spPr>
      </p:sp>
      <p:sp>
        <p:nvSpPr>
          <p:cNvPr name="AutoShape 26" id="26"/>
          <p:cNvSpPr/>
          <p:nvPr/>
        </p:nvSpPr>
        <p:spPr>
          <a:xfrm flipV="true">
            <a:off x="8779112" y="4490785"/>
            <a:ext cx="6250845" cy="3176834"/>
          </a:xfrm>
          <a:prstGeom prst="line">
            <a:avLst/>
          </a:prstGeom>
          <a:ln cap="flat" w="38100">
            <a:solidFill>
              <a:srgbClr val="000000"/>
            </a:solidFill>
            <a:prstDash val="solid"/>
            <a:headEnd type="none" len="sm" w="sm"/>
            <a:tailEnd type="none" len="sm" w="sm"/>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458433" y="106912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6449526" y="1069125"/>
            <a:ext cx="5550413" cy="693358"/>
            <a:chOff x="0" y="0"/>
            <a:chExt cx="3354944" cy="419100"/>
          </a:xfrm>
        </p:grpSpPr>
        <p:sp>
          <p:nvSpPr>
            <p:cNvPr name="Freeform 5" id="5"/>
            <p:cNvSpPr/>
            <p:nvPr/>
          </p:nvSpPr>
          <p:spPr>
            <a:xfrm flipH="false" flipV="false" rot="0">
              <a:off x="0" y="0"/>
              <a:ext cx="3354944" cy="419100"/>
            </a:xfrm>
            <a:custGeom>
              <a:avLst/>
              <a:gdLst/>
              <a:ahLst/>
              <a:cxnLst/>
              <a:rect r="r" b="b" t="t" l="l"/>
              <a:pathLst>
                <a:path h="419100" w="3354944">
                  <a:moveTo>
                    <a:pt x="66473" y="0"/>
                  </a:moveTo>
                  <a:lnTo>
                    <a:pt x="3288472" y="0"/>
                  </a:lnTo>
                  <a:cubicBezTo>
                    <a:pt x="3325183" y="0"/>
                    <a:pt x="3354944" y="29761"/>
                    <a:pt x="3354944" y="66473"/>
                  </a:cubicBezTo>
                  <a:lnTo>
                    <a:pt x="3354944" y="352627"/>
                  </a:lnTo>
                  <a:cubicBezTo>
                    <a:pt x="3354944" y="389339"/>
                    <a:pt x="3325183" y="419100"/>
                    <a:pt x="3288472" y="419100"/>
                  </a:cubicBezTo>
                  <a:lnTo>
                    <a:pt x="66473" y="419100"/>
                  </a:lnTo>
                  <a:cubicBezTo>
                    <a:pt x="29761" y="419100"/>
                    <a:pt x="0" y="389339"/>
                    <a:pt x="0" y="352627"/>
                  </a:cubicBezTo>
                  <a:lnTo>
                    <a:pt x="0" y="66473"/>
                  </a:lnTo>
                  <a:cubicBezTo>
                    <a:pt x="0" y="29761"/>
                    <a:pt x="29761" y="0"/>
                    <a:pt x="66473"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3354944"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SEGMENT ANALYSIS</a:t>
              </a:r>
            </a:p>
          </p:txBody>
        </p:sp>
      </p:grpSp>
      <p:sp>
        <p:nvSpPr>
          <p:cNvPr name="Freeform 7" id="7"/>
          <p:cNvSpPr/>
          <p:nvPr/>
        </p:nvSpPr>
        <p:spPr>
          <a:xfrm flipH="false" flipV="false" rot="0">
            <a:off x="3354710" y="1781533"/>
            <a:ext cx="11931223" cy="8470273"/>
          </a:xfrm>
          <a:custGeom>
            <a:avLst/>
            <a:gdLst/>
            <a:ahLst/>
            <a:cxnLst/>
            <a:rect r="r" b="b" t="t" l="l"/>
            <a:pathLst>
              <a:path h="8470273" w="11931223">
                <a:moveTo>
                  <a:pt x="0" y="0"/>
                </a:moveTo>
                <a:lnTo>
                  <a:pt x="11931224" y="0"/>
                </a:lnTo>
                <a:lnTo>
                  <a:pt x="11931224" y="8470272"/>
                </a:lnTo>
                <a:lnTo>
                  <a:pt x="0" y="8470272"/>
                </a:lnTo>
                <a:lnTo>
                  <a:pt x="0" y="0"/>
                </a:lnTo>
                <a:close/>
              </a:path>
            </a:pathLst>
          </a:custGeom>
          <a:blipFill>
            <a:blip r:embed="rId3"/>
            <a:stretch>
              <a:fillRect l="-1742" t="-1414" r="0" b="-1414"/>
            </a:stretch>
          </a:blipFill>
        </p:spPr>
      </p:sp>
      <p:sp>
        <p:nvSpPr>
          <p:cNvPr name="TextBox 8" id="8"/>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9" id="9"/>
          <p:cNvSpPr txBox="true"/>
          <p:nvPr/>
        </p:nvSpPr>
        <p:spPr>
          <a:xfrm rot="0">
            <a:off x="6039277" y="222203"/>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458433" y="106912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5955113" y="1200519"/>
            <a:ext cx="5550413" cy="693358"/>
            <a:chOff x="0" y="0"/>
            <a:chExt cx="3354944" cy="419100"/>
          </a:xfrm>
        </p:grpSpPr>
        <p:sp>
          <p:nvSpPr>
            <p:cNvPr name="Freeform 5" id="5"/>
            <p:cNvSpPr/>
            <p:nvPr/>
          </p:nvSpPr>
          <p:spPr>
            <a:xfrm flipH="false" flipV="false" rot="0">
              <a:off x="0" y="0"/>
              <a:ext cx="3354944" cy="419100"/>
            </a:xfrm>
            <a:custGeom>
              <a:avLst/>
              <a:gdLst/>
              <a:ahLst/>
              <a:cxnLst/>
              <a:rect r="r" b="b" t="t" l="l"/>
              <a:pathLst>
                <a:path h="419100" w="3354944">
                  <a:moveTo>
                    <a:pt x="66473" y="0"/>
                  </a:moveTo>
                  <a:lnTo>
                    <a:pt x="3288472" y="0"/>
                  </a:lnTo>
                  <a:cubicBezTo>
                    <a:pt x="3325183" y="0"/>
                    <a:pt x="3354944" y="29761"/>
                    <a:pt x="3354944" y="66473"/>
                  </a:cubicBezTo>
                  <a:lnTo>
                    <a:pt x="3354944" y="352627"/>
                  </a:lnTo>
                  <a:cubicBezTo>
                    <a:pt x="3354944" y="389339"/>
                    <a:pt x="3325183" y="419100"/>
                    <a:pt x="3288472" y="419100"/>
                  </a:cubicBezTo>
                  <a:lnTo>
                    <a:pt x="66473" y="419100"/>
                  </a:lnTo>
                  <a:cubicBezTo>
                    <a:pt x="29761" y="419100"/>
                    <a:pt x="0" y="389339"/>
                    <a:pt x="0" y="352627"/>
                  </a:cubicBezTo>
                  <a:lnTo>
                    <a:pt x="0" y="66473"/>
                  </a:lnTo>
                  <a:cubicBezTo>
                    <a:pt x="0" y="29761"/>
                    <a:pt x="29761" y="0"/>
                    <a:pt x="66473"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3354944"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STRUKTUR DASHBOARD</a:t>
              </a:r>
            </a:p>
          </p:txBody>
        </p:sp>
      </p:grpSp>
      <p:sp>
        <p:nvSpPr>
          <p:cNvPr name="TextBox 7" id="7"/>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8" id="8"/>
          <p:cNvSpPr txBox="true"/>
          <p:nvPr/>
        </p:nvSpPr>
        <p:spPr>
          <a:xfrm rot="0">
            <a:off x="6039277" y="222203"/>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grpSp>
        <p:nvGrpSpPr>
          <p:cNvPr name="Group 9" id="9"/>
          <p:cNvGrpSpPr/>
          <p:nvPr/>
        </p:nvGrpSpPr>
        <p:grpSpPr>
          <a:xfrm rot="0">
            <a:off x="5955113" y="2214639"/>
            <a:ext cx="5550413" cy="693358"/>
            <a:chOff x="0" y="0"/>
            <a:chExt cx="3354944" cy="419100"/>
          </a:xfrm>
        </p:grpSpPr>
        <p:sp>
          <p:nvSpPr>
            <p:cNvPr name="Freeform 10" id="10"/>
            <p:cNvSpPr/>
            <p:nvPr/>
          </p:nvSpPr>
          <p:spPr>
            <a:xfrm flipH="false" flipV="false" rot="0">
              <a:off x="0" y="0"/>
              <a:ext cx="3354944" cy="419100"/>
            </a:xfrm>
            <a:custGeom>
              <a:avLst/>
              <a:gdLst/>
              <a:ahLst/>
              <a:cxnLst/>
              <a:rect r="r" b="b" t="t" l="l"/>
              <a:pathLst>
                <a:path h="419100" w="3354944">
                  <a:moveTo>
                    <a:pt x="66473" y="0"/>
                  </a:moveTo>
                  <a:lnTo>
                    <a:pt x="3288472" y="0"/>
                  </a:lnTo>
                  <a:cubicBezTo>
                    <a:pt x="3325183" y="0"/>
                    <a:pt x="3354944" y="29761"/>
                    <a:pt x="3354944" y="66473"/>
                  </a:cubicBezTo>
                  <a:lnTo>
                    <a:pt x="3354944" y="352627"/>
                  </a:lnTo>
                  <a:cubicBezTo>
                    <a:pt x="3354944" y="389339"/>
                    <a:pt x="3325183" y="419100"/>
                    <a:pt x="3288472" y="419100"/>
                  </a:cubicBezTo>
                  <a:lnTo>
                    <a:pt x="66473" y="419100"/>
                  </a:lnTo>
                  <a:cubicBezTo>
                    <a:pt x="29761" y="419100"/>
                    <a:pt x="0" y="389339"/>
                    <a:pt x="0" y="352627"/>
                  </a:cubicBezTo>
                  <a:lnTo>
                    <a:pt x="0" y="66473"/>
                  </a:lnTo>
                  <a:cubicBezTo>
                    <a:pt x="0" y="29761"/>
                    <a:pt x="29761" y="0"/>
                    <a:pt x="66473" y="0"/>
                  </a:cubicBezTo>
                  <a:close/>
                </a:path>
              </a:pathLst>
            </a:custGeom>
            <a:solidFill>
              <a:srgbClr val="E8E7E7"/>
            </a:solidFill>
            <a:ln w="38100" cap="rnd">
              <a:solidFill>
                <a:srgbClr val="000000"/>
              </a:solidFill>
              <a:prstDash val="solid"/>
              <a:round/>
            </a:ln>
          </p:spPr>
        </p:sp>
        <p:sp>
          <p:nvSpPr>
            <p:cNvPr name="TextBox 11" id="11"/>
            <p:cNvSpPr txBox="true"/>
            <p:nvPr/>
          </p:nvSpPr>
          <p:spPr>
            <a:xfrm>
              <a:off x="0" y="-9525"/>
              <a:ext cx="3354944"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SEGMENT ANALYSIS</a:t>
              </a:r>
            </a:p>
          </p:txBody>
        </p:sp>
      </p:grpSp>
      <p:grpSp>
        <p:nvGrpSpPr>
          <p:cNvPr name="Group 12" id="12"/>
          <p:cNvGrpSpPr/>
          <p:nvPr/>
        </p:nvGrpSpPr>
        <p:grpSpPr>
          <a:xfrm rot="0">
            <a:off x="889555" y="3797427"/>
            <a:ext cx="2585229" cy="693358"/>
            <a:chOff x="0" y="0"/>
            <a:chExt cx="1562640" cy="419100"/>
          </a:xfrm>
        </p:grpSpPr>
        <p:sp>
          <p:nvSpPr>
            <p:cNvPr name="Freeform 13" id="13"/>
            <p:cNvSpPr/>
            <p:nvPr/>
          </p:nvSpPr>
          <p:spPr>
            <a:xfrm flipH="false" flipV="false" rot="0">
              <a:off x="0" y="0"/>
              <a:ext cx="1562640" cy="419100"/>
            </a:xfrm>
            <a:custGeom>
              <a:avLst/>
              <a:gdLst/>
              <a:ahLst/>
              <a:cxnLst/>
              <a:rect r="r" b="b" t="t" l="l"/>
              <a:pathLst>
                <a:path h="419100" w="1562640">
                  <a:moveTo>
                    <a:pt x="142715" y="0"/>
                  </a:moveTo>
                  <a:lnTo>
                    <a:pt x="1419925" y="0"/>
                  </a:lnTo>
                  <a:cubicBezTo>
                    <a:pt x="1498744" y="0"/>
                    <a:pt x="1562640" y="63896"/>
                    <a:pt x="1562640" y="142715"/>
                  </a:cubicBezTo>
                  <a:lnTo>
                    <a:pt x="1562640" y="276385"/>
                  </a:lnTo>
                  <a:cubicBezTo>
                    <a:pt x="1562640" y="355204"/>
                    <a:pt x="1498744" y="419100"/>
                    <a:pt x="1419925" y="419100"/>
                  </a:cubicBezTo>
                  <a:lnTo>
                    <a:pt x="142715" y="419100"/>
                  </a:lnTo>
                  <a:cubicBezTo>
                    <a:pt x="63896" y="419100"/>
                    <a:pt x="0" y="355204"/>
                    <a:pt x="0" y="276385"/>
                  </a:cubicBezTo>
                  <a:lnTo>
                    <a:pt x="0" y="142715"/>
                  </a:lnTo>
                  <a:cubicBezTo>
                    <a:pt x="0" y="63896"/>
                    <a:pt x="63896" y="0"/>
                    <a:pt x="142715" y="0"/>
                  </a:cubicBezTo>
                  <a:close/>
                </a:path>
              </a:pathLst>
            </a:custGeom>
            <a:solidFill>
              <a:srgbClr val="E8E7E7"/>
            </a:solidFill>
            <a:ln w="38100" cap="rnd">
              <a:solidFill>
                <a:srgbClr val="000000"/>
              </a:solidFill>
              <a:prstDash val="solid"/>
              <a:round/>
            </a:ln>
          </p:spPr>
        </p:sp>
        <p:sp>
          <p:nvSpPr>
            <p:cNvPr name="TextBox 14" id="14"/>
            <p:cNvSpPr txBox="true"/>
            <p:nvPr/>
          </p:nvSpPr>
          <p:spPr>
            <a:xfrm>
              <a:off x="0" y="-9525"/>
              <a:ext cx="1562640"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 4 KPI Card</a:t>
              </a:r>
            </a:p>
          </p:txBody>
        </p:sp>
      </p:grpSp>
      <p:grpSp>
        <p:nvGrpSpPr>
          <p:cNvPr name="Group 15" id="15"/>
          <p:cNvGrpSpPr/>
          <p:nvPr/>
        </p:nvGrpSpPr>
        <p:grpSpPr>
          <a:xfrm rot="0">
            <a:off x="7506714" y="3797427"/>
            <a:ext cx="2544794" cy="693358"/>
            <a:chOff x="0" y="0"/>
            <a:chExt cx="1538200" cy="419100"/>
          </a:xfrm>
        </p:grpSpPr>
        <p:sp>
          <p:nvSpPr>
            <p:cNvPr name="Freeform 16" id="16"/>
            <p:cNvSpPr/>
            <p:nvPr/>
          </p:nvSpPr>
          <p:spPr>
            <a:xfrm flipH="false" flipV="false" rot="0">
              <a:off x="0" y="0"/>
              <a:ext cx="1538200" cy="419100"/>
            </a:xfrm>
            <a:custGeom>
              <a:avLst/>
              <a:gdLst/>
              <a:ahLst/>
              <a:cxnLst/>
              <a:rect r="r" b="b" t="t" l="l"/>
              <a:pathLst>
                <a:path h="419100" w="1538200">
                  <a:moveTo>
                    <a:pt x="144983" y="0"/>
                  </a:moveTo>
                  <a:lnTo>
                    <a:pt x="1393217" y="0"/>
                  </a:lnTo>
                  <a:cubicBezTo>
                    <a:pt x="1431669" y="0"/>
                    <a:pt x="1468546" y="15275"/>
                    <a:pt x="1495735" y="42464"/>
                  </a:cubicBezTo>
                  <a:cubicBezTo>
                    <a:pt x="1522925" y="69654"/>
                    <a:pt x="1538200" y="106531"/>
                    <a:pt x="1538200" y="144983"/>
                  </a:cubicBezTo>
                  <a:lnTo>
                    <a:pt x="1538200" y="274117"/>
                  </a:lnTo>
                  <a:cubicBezTo>
                    <a:pt x="1538200" y="312569"/>
                    <a:pt x="1522925" y="349446"/>
                    <a:pt x="1495735" y="376636"/>
                  </a:cubicBezTo>
                  <a:cubicBezTo>
                    <a:pt x="1468546" y="403825"/>
                    <a:pt x="1431669" y="419100"/>
                    <a:pt x="1393217" y="419100"/>
                  </a:cubicBezTo>
                  <a:lnTo>
                    <a:pt x="144983" y="419100"/>
                  </a:lnTo>
                  <a:cubicBezTo>
                    <a:pt x="106531" y="419100"/>
                    <a:pt x="69654" y="403825"/>
                    <a:pt x="42464" y="376636"/>
                  </a:cubicBezTo>
                  <a:cubicBezTo>
                    <a:pt x="15275" y="349446"/>
                    <a:pt x="0" y="312569"/>
                    <a:pt x="0" y="274117"/>
                  </a:cubicBezTo>
                  <a:lnTo>
                    <a:pt x="0" y="144983"/>
                  </a:lnTo>
                  <a:cubicBezTo>
                    <a:pt x="0" y="106531"/>
                    <a:pt x="15275" y="69654"/>
                    <a:pt x="42464" y="42464"/>
                  </a:cubicBezTo>
                  <a:cubicBezTo>
                    <a:pt x="69654" y="15275"/>
                    <a:pt x="106531" y="0"/>
                    <a:pt x="144983" y="0"/>
                  </a:cubicBezTo>
                  <a:close/>
                </a:path>
              </a:pathLst>
            </a:custGeom>
            <a:solidFill>
              <a:srgbClr val="E8E7E7"/>
            </a:solidFill>
            <a:ln w="38100" cap="rnd">
              <a:solidFill>
                <a:srgbClr val="000000"/>
              </a:solidFill>
              <a:prstDash val="solid"/>
              <a:round/>
            </a:ln>
          </p:spPr>
        </p:sp>
        <p:sp>
          <p:nvSpPr>
            <p:cNvPr name="TextBox 17" id="17"/>
            <p:cNvSpPr txBox="true"/>
            <p:nvPr/>
          </p:nvSpPr>
          <p:spPr>
            <a:xfrm>
              <a:off x="0" y="-9525"/>
              <a:ext cx="1538200"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 5  Visualisasi</a:t>
              </a:r>
            </a:p>
          </p:txBody>
        </p:sp>
      </p:grpSp>
      <p:grpSp>
        <p:nvGrpSpPr>
          <p:cNvPr name="Group 18" id="18"/>
          <p:cNvGrpSpPr/>
          <p:nvPr/>
        </p:nvGrpSpPr>
        <p:grpSpPr>
          <a:xfrm rot="0">
            <a:off x="13986688" y="3797427"/>
            <a:ext cx="2086539" cy="693358"/>
            <a:chOff x="0" y="0"/>
            <a:chExt cx="1261207" cy="419100"/>
          </a:xfrm>
        </p:grpSpPr>
        <p:sp>
          <p:nvSpPr>
            <p:cNvPr name="Freeform 19" id="19"/>
            <p:cNvSpPr/>
            <p:nvPr/>
          </p:nvSpPr>
          <p:spPr>
            <a:xfrm flipH="false" flipV="false" rot="0">
              <a:off x="0" y="0"/>
              <a:ext cx="1261207" cy="419100"/>
            </a:xfrm>
            <a:custGeom>
              <a:avLst/>
              <a:gdLst/>
              <a:ahLst/>
              <a:cxnLst/>
              <a:rect r="r" b="b" t="t" l="l"/>
              <a:pathLst>
                <a:path h="419100" w="1261207">
                  <a:moveTo>
                    <a:pt x="176824" y="0"/>
                  </a:moveTo>
                  <a:lnTo>
                    <a:pt x="1084383" y="0"/>
                  </a:lnTo>
                  <a:cubicBezTo>
                    <a:pt x="1182040" y="0"/>
                    <a:pt x="1261207" y="79167"/>
                    <a:pt x="1261207" y="176824"/>
                  </a:cubicBezTo>
                  <a:lnTo>
                    <a:pt x="1261207" y="242276"/>
                  </a:lnTo>
                  <a:cubicBezTo>
                    <a:pt x="1261207" y="289172"/>
                    <a:pt x="1242578" y="334148"/>
                    <a:pt x="1209417" y="367309"/>
                  </a:cubicBezTo>
                  <a:cubicBezTo>
                    <a:pt x="1176256" y="400470"/>
                    <a:pt x="1131280" y="419100"/>
                    <a:pt x="1084383" y="419100"/>
                  </a:cubicBezTo>
                  <a:lnTo>
                    <a:pt x="176824" y="419100"/>
                  </a:lnTo>
                  <a:cubicBezTo>
                    <a:pt x="129928" y="419100"/>
                    <a:pt x="84952" y="400470"/>
                    <a:pt x="51791" y="367309"/>
                  </a:cubicBezTo>
                  <a:cubicBezTo>
                    <a:pt x="18630" y="334148"/>
                    <a:pt x="0" y="289172"/>
                    <a:pt x="0" y="242276"/>
                  </a:cubicBezTo>
                  <a:lnTo>
                    <a:pt x="0" y="176824"/>
                  </a:lnTo>
                  <a:cubicBezTo>
                    <a:pt x="0" y="129928"/>
                    <a:pt x="18630" y="84952"/>
                    <a:pt x="51791" y="51791"/>
                  </a:cubicBezTo>
                  <a:cubicBezTo>
                    <a:pt x="84952" y="18630"/>
                    <a:pt x="129928" y="0"/>
                    <a:pt x="176824" y="0"/>
                  </a:cubicBezTo>
                  <a:close/>
                </a:path>
              </a:pathLst>
            </a:custGeom>
            <a:solidFill>
              <a:srgbClr val="E8E7E7"/>
            </a:solidFill>
            <a:ln w="38100" cap="rnd">
              <a:solidFill>
                <a:srgbClr val="000000"/>
              </a:solidFill>
              <a:prstDash val="solid"/>
              <a:round/>
            </a:ln>
          </p:spPr>
        </p:sp>
        <p:sp>
          <p:nvSpPr>
            <p:cNvPr name="TextBox 20" id="20"/>
            <p:cNvSpPr txBox="true"/>
            <p:nvPr/>
          </p:nvSpPr>
          <p:spPr>
            <a:xfrm>
              <a:off x="0" y="-9525"/>
              <a:ext cx="1261207"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 5  Slicer</a:t>
              </a:r>
            </a:p>
          </p:txBody>
        </p:sp>
      </p:grpSp>
      <p:grpSp>
        <p:nvGrpSpPr>
          <p:cNvPr name="Group 21" id="21"/>
          <p:cNvGrpSpPr/>
          <p:nvPr/>
        </p:nvGrpSpPr>
        <p:grpSpPr>
          <a:xfrm rot="0">
            <a:off x="5637661" y="7371101"/>
            <a:ext cx="6282901" cy="2062415"/>
            <a:chOff x="0" y="0"/>
            <a:chExt cx="4089218" cy="1342320"/>
          </a:xfrm>
        </p:grpSpPr>
        <p:sp>
          <p:nvSpPr>
            <p:cNvPr name="Freeform 22" id="22"/>
            <p:cNvSpPr/>
            <p:nvPr/>
          </p:nvSpPr>
          <p:spPr>
            <a:xfrm flipH="false" flipV="false" rot="0">
              <a:off x="0" y="0"/>
              <a:ext cx="4089218" cy="1342320"/>
            </a:xfrm>
            <a:custGeom>
              <a:avLst/>
              <a:gdLst/>
              <a:ahLst/>
              <a:cxnLst/>
              <a:rect r="r" b="b" t="t" l="l"/>
              <a:pathLst>
                <a:path h="1342320" w="4089218">
                  <a:moveTo>
                    <a:pt x="58723" y="0"/>
                  </a:moveTo>
                  <a:lnTo>
                    <a:pt x="4030495" y="0"/>
                  </a:lnTo>
                  <a:cubicBezTo>
                    <a:pt x="4046070" y="0"/>
                    <a:pt x="4061006" y="6187"/>
                    <a:pt x="4072019" y="17200"/>
                  </a:cubicBezTo>
                  <a:cubicBezTo>
                    <a:pt x="4083031" y="28212"/>
                    <a:pt x="4089218" y="43149"/>
                    <a:pt x="4089218" y="58723"/>
                  </a:cubicBezTo>
                  <a:lnTo>
                    <a:pt x="4089218" y="1283597"/>
                  </a:lnTo>
                  <a:cubicBezTo>
                    <a:pt x="4089218" y="1299171"/>
                    <a:pt x="4083031" y="1314108"/>
                    <a:pt x="4072019" y="1325120"/>
                  </a:cubicBezTo>
                  <a:cubicBezTo>
                    <a:pt x="4061006" y="1336133"/>
                    <a:pt x="4046070" y="1342320"/>
                    <a:pt x="4030495" y="1342320"/>
                  </a:cubicBezTo>
                  <a:lnTo>
                    <a:pt x="58723" y="1342320"/>
                  </a:lnTo>
                  <a:cubicBezTo>
                    <a:pt x="43149" y="1342320"/>
                    <a:pt x="28212" y="1336133"/>
                    <a:pt x="17200" y="1325120"/>
                  </a:cubicBezTo>
                  <a:cubicBezTo>
                    <a:pt x="6187" y="1314108"/>
                    <a:pt x="0" y="1299171"/>
                    <a:pt x="0" y="1283597"/>
                  </a:cubicBezTo>
                  <a:lnTo>
                    <a:pt x="0" y="58723"/>
                  </a:lnTo>
                  <a:cubicBezTo>
                    <a:pt x="0" y="43149"/>
                    <a:pt x="6187" y="28212"/>
                    <a:pt x="17200" y="17200"/>
                  </a:cubicBezTo>
                  <a:cubicBezTo>
                    <a:pt x="28212" y="6187"/>
                    <a:pt x="43149" y="0"/>
                    <a:pt x="58723" y="0"/>
                  </a:cubicBezTo>
                  <a:close/>
                </a:path>
              </a:pathLst>
            </a:custGeom>
            <a:solidFill>
              <a:srgbClr val="E8E7E7"/>
            </a:solidFill>
            <a:ln w="38100" cap="rnd">
              <a:solidFill>
                <a:srgbClr val="000000"/>
              </a:solidFill>
              <a:prstDash val="solid"/>
              <a:round/>
            </a:ln>
          </p:spPr>
        </p:sp>
        <p:sp>
          <p:nvSpPr>
            <p:cNvPr name="TextBox 23" id="23"/>
            <p:cNvSpPr txBox="true"/>
            <p:nvPr/>
          </p:nvSpPr>
          <p:spPr>
            <a:xfrm>
              <a:off x="0" y="-9525"/>
              <a:ext cx="4089218" cy="1351845"/>
            </a:xfrm>
            <a:prstGeom prst="rect">
              <a:avLst/>
            </a:prstGeom>
          </p:spPr>
          <p:txBody>
            <a:bodyPr anchor="ctr" rtlCol="false" tIns="50800" lIns="50800" bIns="50800" rIns="50800"/>
            <a:lstStyle/>
            <a:p>
              <a:pPr algn="just">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Bertujuan atau Berfokus dalam mengidentifikasi segmen atau kelompok mana yang profitable (berkontribusi banyak terhadap revenue)</a:t>
              </a:r>
            </a:p>
          </p:txBody>
        </p:sp>
      </p:grpSp>
      <p:sp>
        <p:nvSpPr>
          <p:cNvPr name="AutoShape 24" id="24"/>
          <p:cNvSpPr/>
          <p:nvPr/>
        </p:nvSpPr>
        <p:spPr>
          <a:xfrm>
            <a:off x="2182170" y="4490785"/>
            <a:ext cx="6596942" cy="2880315"/>
          </a:xfrm>
          <a:prstGeom prst="line">
            <a:avLst/>
          </a:prstGeom>
          <a:ln cap="flat" w="38100">
            <a:solidFill>
              <a:srgbClr val="000000"/>
            </a:solidFill>
            <a:prstDash val="solid"/>
            <a:headEnd type="none" len="sm" w="sm"/>
            <a:tailEnd type="none" len="sm" w="sm"/>
          </a:ln>
        </p:spPr>
      </p:sp>
      <p:sp>
        <p:nvSpPr>
          <p:cNvPr name="AutoShape 25" id="25"/>
          <p:cNvSpPr/>
          <p:nvPr/>
        </p:nvSpPr>
        <p:spPr>
          <a:xfrm>
            <a:off x="8779112" y="4490785"/>
            <a:ext cx="0" cy="2880315"/>
          </a:xfrm>
          <a:prstGeom prst="line">
            <a:avLst/>
          </a:prstGeom>
          <a:ln cap="flat" w="38100">
            <a:solidFill>
              <a:srgbClr val="000000"/>
            </a:solidFill>
            <a:prstDash val="solid"/>
            <a:headEnd type="none" len="sm" w="sm"/>
            <a:tailEnd type="none" len="sm" w="sm"/>
          </a:ln>
        </p:spPr>
      </p:sp>
      <p:sp>
        <p:nvSpPr>
          <p:cNvPr name="AutoShape 26" id="26"/>
          <p:cNvSpPr/>
          <p:nvPr/>
        </p:nvSpPr>
        <p:spPr>
          <a:xfrm flipV="true">
            <a:off x="8779112" y="4490785"/>
            <a:ext cx="6250845" cy="2880315"/>
          </a:xfrm>
          <a:prstGeom prst="line">
            <a:avLst/>
          </a:prstGeom>
          <a:ln cap="flat" w="38100">
            <a:solidFill>
              <a:srgbClr val="000000"/>
            </a:solidFill>
            <a:prstDash val="solid"/>
            <a:headEnd type="none" len="sm" w="sm"/>
            <a:tailEnd type="none" len="sm" w="sm"/>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458433" y="132783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6590485" y="1432610"/>
            <a:ext cx="5550413" cy="693358"/>
            <a:chOff x="0" y="0"/>
            <a:chExt cx="3354944" cy="419100"/>
          </a:xfrm>
        </p:grpSpPr>
        <p:sp>
          <p:nvSpPr>
            <p:cNvPr name="Freeform 5" id="5"/>
            <p:cNvSpPr/>
            <p:nvPr/>
          </p:nvSpPr>
          <p:spPr>
            <a:xfrm flipH="false" flipV="false" rot="0">
              <a:off x="0" y="0"/>
              <a:ext cx="3354944" cy="419100"/>
            </a:xfrm>
            <a:custGeom>
              <a:avLst/>
              <a:gdLst/>
              <a:ahLst/>
              <a:cxnLst/>
              <a:rect r="r" b="b" t="t" l="l"/>
              <a:pathLst>
                <a:path h="419100" w="3354944">
                  <a:moveTo>
                    <a:pt x="66473" y="0"/>
                  </a:moveTo>
                  <a:lnTo>
                    <a:pt x="3288472" y="0"/>
                  </a:lnTo>
                  <a:cubicBezTo>
                    <a:pt x="3325183" y="0"/>
                    <a:pt x="3354944" y="29761"/>
                    <a:pt x="3354944" y="66473"/>
                  </a:cubicBezTo>
                  <a:lnTo>
                    <a:pt x="3354944" y="352627"/>
                  </a:lnTo>
                  <a:cubicBezTo>
                    <a:pt x="3354944" y="389339"/>
                    <a:pt x="3325183" y="419100"/>
                    <a:pt x="3288472" y="419100"/>
                  </a:cubicBezTo>
                  <a:lnTo>
                    <a:pt x="66473" y="419100"/>
                  </a:lnTo>
                  <a:cubicBezTo>
                    <a:pt x="29761" y="419100"/>
                    <a:pt x="0" y="389339"/>
                    <a:pt x="0" y="352627"/>
                  </a:cubicBezTo>
                  <a:lnTo>
                    <a:pt x="0" y="66473"/>
                  </a:lnTo>
                  <a:cubicBezTo>
                    <a:pt x="0" y="29761"/>
                    <a:pt x="29761" y="0"/>
                    <a:pt x="66473"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3354944"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DATA STORYTELLING </a:t>
              </a:r>
            </a:p>
          </p:txBody>
        </p:sp>
      </p:grpSp>
      <p:sp>
        <p:nvSpPr>
          <p:cNvPr name="Freeform 7" id="7"/>
          <p:cNvSpPr/>
          <p:nvPr/>
        </p:nvSpPr>
        <p:spPr>
          <a:xfrm flipH="false" flipV="false" rot="0">
            <a:off x="3722375" y="2211693"/>
            <a:ext cx="11286633" cy="4430118"/>
          </a:xfrm>
          <a:custGeom>
            <a:avLst/>
            <a:gdLst/>
            <a:ahLst/>
            <a:cxnLst/>
            <a:rect r="r" b="b" t="t" l="l"/>
            <a:pathLst>
              <a:path h="4430118" w="11286633">
                <a:moveTo>
                  <a:pt x="0" y="0"/>
                </a:moveTo>
                <a:lnTo>
                  <a:pt x="11286633" y="0"/>
                </a:lnTo>
                <a:lnTo>
                  <a:pt x="11286633" y="4430118"/>
                </a:lnTo>
                <a:lnTo>
                  <a:pt x="0" y="4430118"/>
                </a:lnTo>
                <a:lnTo>
                  <a:pt x="0" y="0"/>
                </a:lnTo>
                <a:close/>
              </a:path>
            </a:pathLst>
          </a:custGeom>
          <a:blipFill>
            <a:blip r:embed="rId3"/>
            <a:stretch>
              <a:fillRect l="0" t="-954" r="0" b="-954"/>
            </a:stretch>
          </a:blipFill>
        </p:spPr>
      </p:sp>
      <p:sp>
        <p:nvSpPr>
          <p:cNvPr name="TextBox 8" id="8"/>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9" id="9"/>
          <p:cNvSpPr txBox="true"/>
          <p:nvPr/>
        </p:nvSpPr>
        <p:spPr>
          <a:xfrm rot="0">
            <a:off x="5931452" y="394671"/>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sp>
        <p:nvSpPr>
          <p:cNvPr name="TextBox 10" id="10"/>
          <p:cNvSpPr txBox="true"/>
          <p:nvPr/>
        </p:nvSpPr>
        <p:spPr>
          <a:xfrm rot="0">
            <a:off x="859910" y="6827956"/>
            <a:ext cx="15504932" cy="377825"/>
          </a:xfrm>
          <a:prstGeom prst="rect">
            <a:avLst/>
          </a:prstGeom>
        </p:spPr>
        <p:txBody>
          <a:bodyPr anchor="t" rtlCol="false" tIns="0" lIns="0" bIns="0" rIns="0">
            <a:spAutoFit/>
          </a:bodyPr>
          <a:lstStyle/>
          <a:p>
            <a:pPr algn="just">
              <a:lnSpc>
                <a:spcPts val="2499"/>
              </a:lnSpc>
              <a:spcBef>
                <a:spcPct val="0"/>
              </a:spcBef>
            </a:pPr>
            <a:r>
              <a:rPr lang="en-US" sz="2499" spc="-149">
                <a:solidFill>
                  <a:srgbClr val="1E1E1E"/>
                </a:solidFill>
                <a:latin typeface="Times New Roman MT Condensed"/>
                <a:ea typeface="Times New Roman MT Condensed"/>
                <a:cs typeface="Times New Roman MT Condensed"/>
                <a:sym typeface="Times New Roman MT Condensed"/>
              </a:rPr>
              <a:t>4 Visualisasi  di atas merupakan kumpulan visualisasi untuk menjawab </a:t>
            </a:r>
            <a:r>
              <a:rPr lang="en-US" sz="2499" i="true" spc="-149">
                <a:solidFill>
                  <a:srgbClr val="1E1E1E"/>
                </a:solidFill>
                <a:latin typeface="Times New Roman MT Condensed Italics"/>
                <a:ea typeface="Times New Roman MT Condensed Italics"/>
                <a:cs typeface="Times New Roman MT Condensed Italics"/>
                <a:sym typeface="Times New Roman MT Condensed Italics"/>
              </a:rPr>
              <a:t>Business Question no 1</a:t>
            </a:r>
            <a:r>
              <a:rPr lang="en-US" sz="2499" spc="-149">
                <a:solidFill>
                  <a:srgbClr val="1E1E1E"/>
                </a:solidFill>
                <a:latin typeface="Times New Roman MT Condensed"/>
                <a:ea typeface="Times New Roman MT Condensed"/>
                <a:cs typeface="Times New Roman MT Condensed"/>
                <a:sym typeface="Times New Roman MT Condensed"/>
              </a:rPr>
              <a:t> yaitu “ Faktor apa yang paling mempengaruhi variabel utama (Trip Price)</a:t>
            </a:r>
          </a:p>
        </p:txBody>
      </p:sp>
      <p:sp>
        <p:nvSpPr>
          <p:cNvPr name="TextBox 11" id="11"/>
          <p:cNvSpPr txBox="true"/>
          <p:nvPr/>
        </p:nvSpPr>
        <p:spPr>
          <a:xfrm rot="0">
            <a:off x="737026" y="7167681"/>
            <a:ext cx="16813948" cy="2759371"/>
          </a:xfrm>
          <a:prstGeom prst="rect">
            <a:avLst/>
          </a:prstGeom>
        </p:spPr>
        <p:txBody>
          <a:bodyPr anchor="t" rtlCol="false" tIns="0" lIns="0" bIns="0" rIns="0">
            <a:spAutoFit/>
          </a:bodyPr>
          <a:lstStyle/>
          <a:p>
            <a:pPr algn="just" marL="407054" indent="-203527" lvl="1">
              <a:lnSpc>
                <a:spcPts val="2469"/>
              </a:lnSpc>
              <a:buAutoNum type="arabicPeriod" startAt="1"/>
            </a:pPr>
            <a:r>
              <a:rPr lang="en-US" sz="1885" spc="-113">
                <a:solidFill>
                  <a:srgbClr val="1E1E1E"/>
                </a:solidFill>
                <a:latin typeface="Times New Roman"/>
                <a:ea typeface="Times New Roman"/>
                <a:cs typeface="Times New Roman"/>
                <a:sym typeface="Times New Roman"/>
              </a:rPr>
              <a:t> Pada tahap awal, dilakukan analisis hubungan langsung antara jarak perjalanan (Trip Distance) dan harga perjalanan (Trip Price). Visualisasi menunjukkan pola linear positif yang jelas, di mana semakin jauh jarak yang ditempuh, semakin tinggi  pula harga yang dibayarkan. Pola ini mengindikasikan bahwa jarak memiliki hubungan yang kuat terhadap pembentukan harga. </a:t>
            </a:r>
          </a:p>
          <a:p>
            <a:pPr algn="just">
              <a:lnSpc>
                <a:spcPts val="2469"/>
              </a:lnSpc>
            </a:pPr>
          </a:p>
          <a:p>
            <a:pPr algn="just" marL="407054" indent="-203527" lvl="1">
              <a:lnSpc>
                <a:spcPts val="2469"/>
              </a:lnSpc>
              <a:buAutoNum type="arabicPeriod" startAt="1"/>
            </a:pPr>
            <a:r>
              <a:rPr lang="en-US" sz="1885" spc="-113">
                <a:solidFill>
                  <a:srgbClr val="1E1E1E"/>
                </a:solidFill>
                <a:latin typeface="Times New Roman"/>
                <a:ea typeface="Times New Roman"/>
                <a:cs typeface="Times New Roman"/>
                <a:sym typeface="Times New Roman"/>
              </a:rPr>
              <a:t> </a:t>
            </a:r>
            <a:r>
              <a:rPr lang="en-US" sz="1885" spc="-113">
                <a:solidFill>
                  <a:srgbClr val="1E1E1E"/>
                </a:solidFill>
                <a:latin typeface="Times New Roman"/>
                <a:ea typeface="Times New Roman"/>
                <a:cs typeface="Times New Roman"/>
                <a:sym typeface="Times New Roman"/>
              </a:rPr>
              <a:t>Selanjutnya dilakukan uji pembanding dengan menganalisis hubungan antara durasi perjalanan (Trip Duration) dan harga. Hasil visualisasi menunjukkan hubungan yang tetap positif, namun dengan pola yang lebih menyebar dibandingkan jarak. Hal ini mengindikasikan bahwa meskipun durasi berpengaruh terhadap harga, tingkat pengaruhnya tidak sekuat jarak perjalanan.</a:t>
            </a:r>
          </a:p>
          <a:p>
            <a:pPr algn="just">
              <a:lnSpc>
                <a:spcPts val="2469"/>
              </a:lnSpc>
            </a:pPr>
          </a:p>
          <a:p>
            <a:pPr algn="just" marL="407054" indent="-203527" lvl="1">
              <a:lnSpc>
                <a:spcPts val="2469"/>
              </a:lnSpc>
              <a:buAutoNum type="arabicPeriod" startAt="1"/>
            </a:pPr>
            <a:r>
              <a:rPr lang="en-US" sz="1885" spc="-113">
                <a:solidFill>
                  <a:srgbClr val="1E1E1E"/>
                </a:solidFill>
                <a:latin typeface="Times New Roman"/>
                <a:ea typeface="Times New Roman"/>
                <a:cs typeface="Times New Roman"/>
                <a:sym typeface="Times New Roman"/>
              </a:rPr>
              <a:t> </a:t>
            </a:r>
            <a:r>
              <a:rPr lang="en-US" sz="1885" spc="-113">
                <a:solidFill>
                  <a:srgbClr val="1E1E1E"/>
                </a:solidFill>
                <a:latin typeface="Times New Roman"/>
                <a:ea typeface="Times New Roman"/>
                <a:cs typeface="Times New Roman"/>
                <a:sym typeface="Times New Roman"/>
              </a:rPr>
              <a:t>Untuk memastikan tidak ada variabel lain yang lebih dominan, dilakukan analisis segmentasi tambahan berdasarkan jumlah penumpang dan kategori kecepatan (Speed Category). Hasilnya menunjukkan bahwa perbedaan rata-rata harga antar jumlah penumpang relatif kecil. Variabel kecepatan memang menunjukkan variasi harga, namun pola tersebut tetap konsisten mengikuti pengaruh jarak perjalanan.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458433" y="132783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6590485" y="1432610"/>
            <a:ext cx="5550413" cy="693358"/>
            <a:chOff x="0" y="0"/>
            <a:chExt cx="3354944" cy="419100"/>
          </a:xfrm>
        </p:grpSpPr>
        <p:sp>
          <p:nvSpPr>
            <p:cNvPr name="Freeform 5" id="5"/>
            <p:cNvSpPr/>
            <p:nvPr/>
          </p:nvSpPr>
          <p:spPr>
            <a:xfrm flipH="false" flipV="false" rot="0">
              <a:off x="0" y="0"/>
              <a:ext cx="3354944" cy="419100"/>
            </a:xfrm>
            <a:custGeom>
              <a:avLst/>
              <a:gdLst/>
              <a:ahLst/>
              <a:cxnLst/>
              <a:rect r="r" b="b" t="t" l="l"/>
              <a:pathLst>
                <a:path h="419100" w="3354944">
                  <a:moveTo>
                    <a:pt x="66473" y="0"/>
                  </a:moveTo>
                  <a:lnTo>
                    <a:pt x="3288472" y="0"/>
                  </a:lnTo>
                  <a:cubicBezTo>
                    <a:pt x="3325183" y="0"/>
                    <a:pt x="3354944" y="29761"/>
                    <a:pt x="3354944" y="66473"/>
                  </a:cubicBezTo>
                  <a:lnTo>
                    <a:pt x="3354944" y="352627"/>
                  </a:lnTo>
                  <a:cubicBezTo>
                    <a:pt x="3354944" y="389339"/>
                    <a:pt x="3325183" y="419100"/>
                    <a:pt x="3288472" y="419100"/>
                  </a:cubicBezTo>
                  <a:lnTo>
                    <a:pt x="66473" y="419100"/>
                  </a:lnTo>
                  <a:cubicBezTo>
                    <a:pt x="29761" y="419100"/>
                    <a:pt x="0" y="389339"/>
                    <a:pt x="0" y="352627"/>
                  </a:cubicBezTo>
                  <a:lnTo>
                    <a:pt x="0" y="66473"/>
                  </a:lnTo>
                  <a:cubicBezTo>
                    <a:pt x="0" y="29761"/>
                    <a:pt x="29761" y="0"/>
                    <a:pt x="66473"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3354944"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DATA STORYTELLING </a:t>
              </a:r>
            </a:p>
          </p:txBody>
        </p:sp>
      </p:grpSp>
      <p:sp>
        <p:nvSpPr>
          <p:cNvPr name="Freeform 7" id="7"/>
          <p:cNvSpPr/>
          <p:nvPr/>
        </p:nvSpPr>
        <p:spPr>
          <a:xfrm flipH="false" flipV="false" rot="0">
            <a:off x="7182339" y="4670682"/>
            <a:ext cx="4958559" cy="2137976"/>
          </a:xfrm>
          <a:custGeom>
            <a:avLst/>
            <a:gdLst/>
            <a:ahLst/>
            <a:cxnLst/>
            <a:rect r="r" b="b" t="t" l="l"/>
            <a:pathLst>
              <a:path h="2137976" w="4958559">
                <a:moveTo>
                  <a:pt x="0" y="0"/>
                </a:moveTo>
                <a:lnTo>
                  <a:pt x="4958559" y="0"/>
                </a:lnTo>
                <a:lnTo>
                  <a:pt x="4958559" y="2137977"/>
                </a:lnTo>
                <a:lnTo>
                  <a:pt x="0" y="2137977"/>
                </a:lnTo>
                <a:lnTo>
                  <a:pt x="0" y="0"/>
                </a:lnTo>
                <a:close/>
              </a:path>
            </a:pathLst>
          </a:custGeom>
          <a:blipFill>
            <a:blip r:embed="rId3"/>
            <a:stretch>
              <a:fillRect l="0" t="0" r="0" b="0"/>
            </a:stretch>
          </a:blipFill>
        </p:spPr>
      </p:sp>
      <p:sp>
        <p:nvSpPr>
          <p:cNvPr name="Freeform 8" id="8"/>
          <p:cNvSpPr/>
          <p:nvPr/>
        </p:nvSpPr>
        <p:spPr>
          <a:xfrm flipH="false" flipV="false" rot="0">
            <a:off x="3616255" y="2230743"/>
            <a:ext cx="11301259" cy="2373264"/>
          </a:xfrm>
          <a:custGeom>
            <a:avLst/>
            <a:gdLst/>
            <a:ahLst/>
            <a:cxnLst/>
            <a:rect r="r" b="b" t="t" l="l"/>
            <a:pathLst>
              <a:path h="2373264" w="11301259">
                <a:moveTo>
                  <a:pt x="0" y="0"/>
                </a:moveTo>
                <a:lnTo>
                  <a:pt x="11301259" y="0"/>
                </a:lnTo>
                <a:lnTo>
                  <a:pt x="11301259" y="2373264"/>
                </a:lnTo>
                <a:lnTo>
                  <a:pt x="0" y="2373264"/>
                </a:lnTo>
                <a:lnTo>
                  <a:pt x="0" y="0"/>
                </a:lnTo>
                <a:close/>
              </a:path>
            </a:pathLst>
          </a:custGeom>
          <a:blipFill>
            <a:blip r:embed="rId4"/>
            <a:stretch>
              <a:fillRect l="0" t="0" r="0" b="0"/>
            </a:stretch>
          </a:blipFill>
        </p:spPr>
      </p:sp>
      <p:sp>
        <p:nvSpPr>
          <p:cNvPr name="TextBox 9" id="9"/>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10" id="10"/>
          <p:cNvSpPr txBox="true"/>
          <p:nvPr/>
        </p:nvSpPr>
        <p:spPr>
          <a:xfrm rot="0">
            <a:off x="5931452" y="394671"/>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sp>
        <p:nvSpPr>
          <p:cNvPr name="TextBox 11" id="11"/>
          <p:cNvSpPr txBox="true"/>
          <p:nvPr/>
        </p:nvSpPr>
        <p:spPr>
          <a:xfrm rot="0">
            <a:off x="859910" y="6909326"/>
            <a:ext cx="15504932" cy="377825"/>
          </a:xfrm>
          <a:prstGeom prst="rect">
            <a:avLst/>
          </a:prstGeom>
        </p:spPr>
        <p:txBody>
          <a:bodyPr anchor="t" rtlCol="false" tIns="0" lIns="0" bIns="0" rIns="0">
            <a:spAutoFit/>
          </a:bodyPr>
          <a:lstStyle/>
          <a:p>
            <a:pPr algn="just">
              <a:lnSpc>
                <a:spcPts val="2499"/>
              </a:lnSpc>
              <a:spcBef>
                <a:spcPct val="0"/>
              </a:spcBef>
            </a:pPr>
            <a:r>
              <a:rPr lang="en-US" sz="2499" spc="-149">
                <a:solidFill>
                  <a:srgbClr val="1E1E1E"/>
                </a:solidFill>
                <a:latin typeface="Times New Roman MT Condensed"/>
                <a:ea typeface="Times New Roman MT Condensed"/>
                <a:cs typeface="Times New Roman MT Condensed"/>
                <a:sym typeface="Times New Roman MT Condensed"/>
              </a:rPr>
              <a:t>3 Visualisasi  di atas merupakan kumpulan visualisasi untuk menjawab </a:t>
            </a:r>
            <a:r>
              <a:rPr lang="en-US" sz="2499" i="true" spc="-149">
                <a:solidFill>
                  <a:srgbClr val="1E1E1E"/>
                </a:solidFill>
                <a:latin typeface="Times New Roman MT Condensed Italics"/>
                <a:ea typeface="Times New Roman MT Condensed Italics"/>
                <a:cs typeface="Times New Roman MT Condensed Italics"/>
                <a:sym typeface="Times New Roman MT Condensed Italics"/>
              </a:rPr>
              <a:t>Business Question no 2</a:t>
            </a:r>
            <a:r>
              <a:rPr lang="en-US" sz="2499" spc="-149">
                <a:solidFill>
                  <a:srgbClr val="1E1E1E"/>
                </a:solidFill>
                <a:latin typeface="Times New Roman MT Condensed"/>
                <a:ea typeface="Times New Roman MT Condensed"/>
                <a:cs typeface="Times New Roman MT Condensed"/>
                <a:sym typeface="Times New Roman MT Condensed"/>
              </a:rPr>
              <a:t> yaitu “Bagaimana pengaruh faktor eksternal terhadap harga?”</a:t>
            </a:r>
          </a:p>
        </p:txBody>
      </p:sp>
      <p:sp>
        <p:nvSpPr>
          <p:cNvPr name="TextBox 12" id="12"/>
          <p:cNvSpPr txBox="true"/>
          <p:nvPr/>
        </p:nvSpPr>
        <p:spPr>
          <a:xfrm rot="0">
            <a:off x="859910" y="7296675"/>
            <a:ext cx="16813948" cy="2892784"/>
          </a:xfrm>
          <a:prstGeom prst="rect">
            <a:avLst/>
          </a:prstGeom>
        </p:spPr>
        <p:txBody>
          <a:bodyPr anchor="t" rtlCol="false" tIns="0" lIns="0" bIns="0" rIns="0">
            <a:spAutoFit/>
          </a:bodyPr>
          <a:lstStyle/>
          <a:p>
            <a:pPr algn="just" marL="407054" indent="-203527" lvl="1">
              <a:lnSpc>
                <a:spcPts val="2884"/>
              </a:lnSpc>
              <a:buAutoNum type="arabicPeriod" startAt="1"/>
            </a:pPr>
            <a:r>
              <a:rPr lang="en-US" sz="1885" spc="-113">
                <a:solidFill>
                  <a:srgbClr val="1E1E1E"/>
                </a:solidFill>
                <a:latin typeface="Times New Roman"/>
                <a:ea typeface="Times New Roman"/>
                <a:cs typeface="Times New Roman"/>
                <a:sym typeface="Times New Roman"/>
              </a:rPr>
              <a:t> Pada tahap awal, dilakukan analisis rata-rata harga perjalanan berdasarkan kondisi lalu lintas (Traffic Conditions). Visualisasi menunjukkan bahwa kategori High Traffic memiliki rata-rata harga yang lebih tinggi dibandingkan kategori lainnya. Hal ini mengindikasikan bahwa kondisi lalu lintas yang padat cenderung meningkatkan harga perjalanan.</a:t>
            </a:r>
            <a:r>
              <a:rPr lang="en-US" sz="1885" spc="-113">
                <a:solidFill>
                  <a:srgbClr val="1E1E1E"/>
                </a:solidFill>
                <a:latin typeface="Times New Roman"/>
                <a:ea typeface="Times New Roman"/>
                <a:cs typeface="Times New Roman"/>
                <a:sym typeface="Times New Roman"/>
              </a:rPr>
              <a:t> </a:t>
            </a:r>
          </a:p>
          <a:p>
            <a:pPr algn="just">
              <a:lnSpc>
                <a:spcPts val="2884"/>
              </a:lnSpc>
            </a:pPr>
          </a:p>
          <a:p>
            <a:pPr algn="just" marL="407054" indent="-203527" lvl="1">
              <a:lnSpc>
                <a:spcPts val="2884"/>
              </a:lnSpc>
              <a:buAutoNum type="arabicPeriod" startAt="1"/>
            </a:pPr>
            <a:r>
              <a:rPr lang="en-US" sz="1885" spc="-113">
                <a:solidFill>
                  <a:srgbClr val="1E1E1E"/>
                </a:solidFill>
                <a:latin typeface="Times New Roman"/>
                <a:ea typeface="Times New Roman"/>
                <a:cs typeface="Times New Roman"/>
                <a:sym typeface="Times New Roman"/>
              </a:rPr>
              <a:t> </a:t>
            </a:r>
            <a:r>
              <a:rPr lang="en-US" sz="1885" spc="-113">
                <a:solidFill>
                  <a:srgbClr val="1E1E1E"/>
                </a:solidFill>
                <a:latin typeface="Times New Roman"/>
                <a:ea typeface="Times New Roman"/>
                <a:cs typeface="Times New Roman"/>
                <a:sym typeface="Times New Roman"/>
              </a:rPr>
              <a:t>Selanjutnya, dilakukan analisis pembanding dengan melihat rata-rata harga berdasarkan waktu perjalanan (Time of Day). Hasil menunjukkan bahwa meskipun terdapat variasi harga antar waktu (Morning, Afternoon, Evening, Night), perbedaannya relatif tidak terlalu signifikan. Hal ini mengindikasikan bahwa waktu perjalanan bukan faktor dominan dalam menentukan harga.</a:t>
            </a:r>
            <a:r>
              <a:rPr lang="en-US" sz="1885" spc="-113">
                <a:solidFill>
                  <a:srgbClr val="1E1E1E"/>
                </a:solidFill>
                <a:latin typeface="Times New Roman"/>
                <a:ea typeface="Times New Roman"/>
                <a:cs typeface="Times New Roman"/>
                <a:sym typeface="Times New Roman"/>
              </a:rPr>
              <a:t> </a:t>
            </a:r>
          </a:p>
          <a:p>
            <a:pPr algn="just">
              <a:lnSpc>
                <a:spcPts val="2884"/>
              </a:lnSpc>
            </a:pPr>
          </a:p>
          <a:p>
            <a:pPr algn="just" marL="407054" indent="-203527" lvl="1">
              <a:lnSpc>
                <a:spcPts val="2884"/>
              </a:lnSpc>
              <a:buAutoNum type="arabicPeriod" startAt="1"/>
            </a:pPr>
            <a:r>
              <a:rPr lang="en-US" sz="1885" spc="-113">
                <a:solidFill>
                  <a:srgbClr val="1E1E1E"/>
                </a:solidFill>
                <a:latin typeface="Times New Roman"/>
                <a:ea typeface="Times New Roman"/>
                <a:cs typeface="Times New Roman"/>
                <a:sym typeface="Times New Roman"/>
              </a:rPr>
              <a:t> </a:t>
            </a:r>
            <a:r>
              <a:rPr lang="en-US" sz="1885" spc="-113">
                <a:solidFill>
                  <a:srgbClr val="1E1E1E"/>
                </a:solidFill>
                <a:latin typeface="Times New Roman"/>
                <a:ea typeface="Times New Roman"/>
                <a:cs typeface="Times New Roman"/>
                <a:sym typeface="Times New Roman"/>
              </a:rPr>
              <a:t>Untuk memperkuat analisis, dilakukan evaluasi tambahan berdasarkan kondisi cuaca (Weather). Visualisasi menunjukkan adanya sedikit variasi harga antar kondisi cuaca, namun perbedaan tersebut masih dalam rentang yang relatif moderat. Dengan demikian, cuaca memiliki pengaruh terhadap variasi harga, tetapi bukan sebagai faktor utama.</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458433" y="132783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6590485" y="1432610"/>
            <a:ext cx="5550413" cy="693358"/>
            <a:chOff x="0" y="0"/>
            <a:chExt cx="3354944" cy="419100"/>
          </a:xfrm>
        </p:grpSpPr>
        <p:sp>
          <p:nvSpPr>
            <p:cNvPr name="Freeform 5" id="5"/>
            <p:cNvSpPr/>
            <p:nvPr/>
          </p:nvSpPr>
          <p:spPr>
            <a:xfrm flipH="false" flipV="false" rot="0">
              <a:off x="0" y="0"/>
              <a:ext cx="3354944" cy="419100"/>
            </a:xfrm>
            <a:custGeom>
              <a:avLst/>
              <a:gdLst/>
              <a:ahLst/>
              <a:cxnLst/>
              <a:rect r="r" b="b" t="t" l="l"/>
              <a:pathLst>
                <a:path h="419100" w="3354944">
                  <a:moveTo>
                    <a:pt x="66473" y="0"/>
                  </a:moveTo>
                  <a:lnTo>
                    <a:pt x="3288472" y="0"/>
                  </a:lnTo>
                  <a:cubicBezTo>
                    <a:pt x="3325183" y="0"/>
                    <a:pt x="3354944" y="29761"/>
                    <a:pt x="3354944" y="66473"/>
                  </a:cubicBezTo>
                  <a:lnTo>
                    <a:pt x="3354944" y="352627"/>
                  </a:lnTo>
                  <a:cubicBezTo>
                    <a:pt x="3354944" y="389339"/>
                    <a:pt x="3325183" y="419100"/>
                    <a:pt x="3288472" y="419100"/>
                  </a:cubicBezTo>
                  <a:lnTo>
                    <a:pt x="66473" y="419100"/>
                  </a:lnTo>
                  <a:cubicBezTo>
                    <a:pt x="29761" y="419100"/>
                    <a:pt x="0" y="389339"/>
                    <a:pt x="0" y="352627"/>
                  </a:cubicBezTo>
                  <a:lnTo>
                    <a:pt x="0" y="66473"/>
                  </a:lnTo>
                  <a:cubicBezTo>
                    <a:pt x="0" y="29761"/>
                    <a:pt x="29761" y="0"/>
                    <a:pt x="66473"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3354944" cy="428625"/>
            </a:xfrm>
            <a:prstGeom prst="rect">
              <a:avLst/>
            </a:prstGeom>
          </p:spPr>
          <p:txBody>
            <a:bodyPr anchor="ctr" rtlCol="false" tIns="50800" lIns="50800" bIns="50800" rIns="50800"/>
            <a:lstStyle/>
            <a:p>
              <a:pPr algn="ctr">
                <a:lnSpc>
                  <a:spcPts val="3000"/>
                </a:lnSpc>
              </a:pPr>
              <a:r>
                <a:rPr lang="en-US" sz="3000" spc="-179">
                  <a:solidFill>
                    <a:srgbClr val="000000"/>
                  </a:solidFill>
                  <a:latin typeface="Times New Roman MT Condensed"/>
                  <a:ea typeface="Times New Roman MT Condensed"/>
                  <a:cs typeface="Times New Roman MT Condensed"/>
                  <a:sym typeface="Times New Roman MT Condensed"/>
                </a:rPr>
                <a:t>DATA STORYTELLING </a:t>
              </a:r>
            </a:p>
          </p:txBody>
        </p:sp>
      </p:grpSp>
      <p:sp>
        <p:nvSpPr>
          <p:cNvPr name="Freeform 7" id="7"/>
          <p:cNvSpPr/>
          <p:nvPr/>
        </p:nvSpPr>
        <p:spPr>
          <a:xfrm flipH="false" flipV="false" rot="0">
            <a:off x="2996120" y="3660933"/>
            <a:ext cx="6477396" cy="2587755"/>
          </a:xfrm>
          <a:custGeom>
            <a:avLst/>
            <a:gdLst/>
            <a:ahLst/>
            <a:cxnLst/>
            <a:rect r="r" b="b" t="t" l="l"/>
            <a:pathLst>
              <a:path h="2587755" w="6477396">
                <a:moveTo>
                  <a:pt x="0" y="0"/>
                </a:moveTo>
                <a:lnTo>
                  <a:pt x="6477396" y="0"/>
                </a:lnTo>
                <a:lnTo>
                  <a:pt x="6477396" y="2587755"/>
                </a:lnTo>
                <a:lnTo>
                  <a:pt x="0" y="2587755"/>
                </a:lnTo>
                <a:lnTo>
                  <a:pt x="0" y="0"/>
                </a:lnTo>
                <a:close/>
              </a:path>
            </a:pathLst>
          </a:custGeom>
          <a:blipFill>
            <a:blip r:embed="rId3"/>
            <a:stretch>
              <a:fillRect l="0" t="-2679" r="0" b="-2679"/>
            </a:stretch>
          </a:blipFill>
        </p:spPr>
      </p:sp>
      <p:sp>
        <p:nvSpPr>
          <p:cNvPr name="Freeform 8" id="8"/>
          <p:cNvSpPr/>
          <p:nvPr/>
        </p:nvSpPr>
        <p:spPr>
          <a:xfrm flipH="false" flipV="false" rot="0">
            <a:off x="6979541" y="2211693"/>
            <a:ext cx="2386150" cy="1363515"/>
          </a:xfrm>
          <a:custGeom>
            <a:avLst/>
            <a:gdLst/>
            <a:ahLst/>
            <a:cxnLst/>
            <a:rect r="r" b="b" t="t" l="l"/>
            <a:pathLst>
              <a:path h="1363515" w="2386150">
                <a:moveTo>
                  <a:pt x="0" y="0"/>
                </a:moveTo>
                <a:lnTo>
                  <a:pt x="2386150" y="0"/>
                </a:lnTo>
                <a:lnTo>
                  <a:pt x="2386150" y="1363515"/>
                </a:lnTo>
                <a:lnTo>
                  <a:pt x="0" y="1363515"/>
                </a:lnTo>
                <a:lnTo>
                  <a:pt x="0" y="0"/>
                </a:lnTo>
                <a:close/>
              </a:path>
            </a:pathLst>
          </a:custGeom>
          <a:blipFill>
            <a:blip r:embed="rId4"/>
            <a:stretch>
              <a:fillRect l="0" t="0" r="0" b="0"/>
            </a:stretch>
          </a:blipFill>
        </p:spPr>
      </p:sp>
      <p:sp>
        <p:nvSpPr>
          <p:cNvPr name="Freeform 9" id="9"/>
          <p:cNvSpPr/>
          <p:nvPr/>
        </p:nvSpPr>
        <p:spPr>
          <a:xfrm flipH="false" flipV="false" rot="0">
            <a:off x="9562500" y="2211693"/>
            <a:ext cx="2377817" cy="1363515"/>
          </a:xfrm>
          <a:custGeom>
            <a:avLst/>
            <a:gdLst/>
            <a:ahLst/>
            <a:cxnLst/>
            <a:rect r="r" b="b" t="t" l="l"/>
            <a:pathLst>
              <a:path h="1363515" w="2377817">
                <a:moveTo>
                  <a:pt x="0" y="0"/>
                </a:moveTo>
                <a:lnTo>
                  <a:pt x="2377817" y="0"/>
                </a:lnTo>
                <a:lnTo>
                  <a:pt x="2377817" y="1363515"/>
                </a:lnTo>
                <a:lnTo>
                  <a:pt x="0" y="1363515"/>
                </a:lnTo>
                <a:lnTo>
                  <a:pt x="0" y="0"/>
                </a:lnTo>
                <a:close/>
              </a:path>
            </a:pathLst>
          </a:custGeom>
          <a:blipFill>
            <a:blip r:embed="rId5"/>
            <a:stretch>
              <a:fillRect l="0" t="-2990" r="0" b="0"/>
            </a:stretch>
          </a:blipFill>
        </p:spPr>
      </p:sp>
      <p:sp>
        <p:nvSpPr>
          <p:cNvPr name="Freeform 10" id="10"/>
          <p:cNvSpPr/>
          <p:nvPr/>
        </p:nvSpPr>
        <p:spPr>
          <a:xfrm flipH="false" flipV="false" rot="0">
            <a:off x="9562500" y="3660933"/>
            <a:ext cx="7159924" cy="2587755"/>
          </a:xfrm>
          <a:custGeom>
            <a:avLst/>
            <a:gdLst/>
            <a:ahLst/>
            <a:cxnLst/>
            <a:rect r="r" b="b" t="t" l="l"/>
            <a:pathLst>
              <a:path h="2587755" w="7159924">
                <a:moveTo>
                  <a:pt x="0" y="0"/>
                </a:moveTo>
                <a:lnTo>
                  <a:pt x="7159924" y="0"/>
                </a:lnTo>
                <a:lnTo>
                  <a:pt x="7159924" y="2587755"/>
                </a:lnTo>
                <a:lnTo>
                  <a:pt x="0" y="2587755"/>
                </a:lnTo>
                <a:lnTo>
                  <a:pt x="0" y="0"/>
                </a:lnTo>
                <a:close/>
              </a:path>
            </a:pathLst>
          </a:custGeom>
          <a:blipFill>
            <a:blip r:embed="rId6"/>
            <a:stretch>
              <a:fillRect l="0" t="-2767" r="0" b="-5295"/>
            </a:stretch>
          </a:blipFill>
        </p:spPr>
      </p:sp>
      <p:sp>
        <p:nvSpPr>
          <p:cNvPr name="TextBox 11" id="11"/>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12" id="12"/>
          <p:cNvSpPr txBox="true"/>
          <p:nvPr/>
        </p:nvSpPr>
        <p:spPr>
          <a:xfrm rot="0">
            <a:off x="5931452" y="394671"/>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sp>
        <p:nvSpPr>
          <p:cNvPr name="TextBox 13" id="13"/>
          <p:cNvSpPr txBox="true"/>
          <p:nvPr/>
        </p:nvSpPr>
        <p:spPr>
          <a:xfrm rot="0">
            <a:off x="859910" y="6477288"/>
            <a:ext cx="15504932" cy="377825"/>
          </a:xfrm>
          <a:prstGeom prst="rect">
            <a:avLst/>
          </a:prstGeom>
        </p:spPr>
        <p:txBody>
          <a:bodyPr anchor="t" rtlCol="false" tIns="0" lIns="0" bIns="0" rIns="0">
            <a:spAutoFit/>
          </a:bodyPr>
          <a:lstStyle/>
          <a:p>
            <a:pPr algn="just">
              <a:lnSpc>
                <a:spcPts val="2499"/>
              </a:lnSpc>
              <a:spcBef>
                <a:spcPct val="0"/>
              </a:spcBef>
            </a:pPr>
            <a:r>
              <a:rPr lang="en-US" sz="2499" spc="-149">
                <a:solidFill>
                  <a:srgbClr val="1E1E1E"/>
                </a:solidFill>
                <a:latin typeface="Times New Roman MT Condensed"/>
                <a:ea typeface="Times New Roman MT Condensed"/>
                <a:cs typeface="Times New Roman MT Condensed"/>
                <a:sym typeface="Times New Roman MT Condensed"/>
              </a:rPr>
              <a:t>4 Visualisasi  di atas merupakan kumpulan visualisasi untuk menjawab </a:t>
            </a:r>
            <a:r>
              <a:rPr lang="en-US" sz="2499" i="true" spc="-149">
                <a:solidFill>
                  <a:srgbClr val="1E1E1E"/>
                </a:solidFill>
                <a:latin typeface="Times New Roman MT Condensed Italics"/>
                <a:ea typeface="Times New Roman MT Condensed Italics"/>
                <a:cs typeface="Times New Roman MT Condensed Italics"/>
                <a:sym typeface="Times New Roman MT Condensed Italics"/>
              </a:rPr>
              <a:t>Business Question no 3 </a:t>
            </a:r>
            <a:r>
              <a:rPr lang="en-US" sz="2499" spc="-149">
                <a:solidFill>
                  <a:srgbClr val="1E1E1E"/>
                </a:solidFill>
                <a:latin typeface="Times New Roman MT Condensed"/>
                <a:ea typeface="Times New Roman MT Condensed"/>
                <a:cs typeface="Times New Roman MT Condensed"/>
                <a:sym typeface="Times New Roman MT Condensed"/>
              </a:rPr>
              <a:t>yaitu  “Segmen mana yang berkontribusi terhadap revenue ?”</a:t>
            </a:r>
          </a:p>
        </p:txBody>
      </p:sp>
      <p:sp>
        <p:nvSpPr>
          <p:cNvPr name="TextBox 14" id="14"/>
          <p:cNvSpPr txBox="true"/>
          <p:nvPr/>
        </p:nvSpPr>
        <p:spPr>
          <a:xfrm rot="0">
            <a:off x="859910" y="6874163"/>
            <a:ext cx="16813948" cy="2971326"/>
          </a:xfrm>
          <a:prstGeom prst="rect">
            <a:avLst/>
          </a:prstGeom>
        </p:spPr>
        <p:txBody>
          <a:bodyPr anchor="t" rtlCol="false" tIns="0" lIns="0" bIns="0" rIns="0">
            <a:spAutoFit/>
          </a:bodyPr>
          <a:lstStyle/>
          <a:p>
            <a:pPr algn="just" marL="407054" indent="-203527" lvl="1">
              <a:lnSpc>
                <a:spcPts val="2941"/>
              </a:lnSpc>
              <a:buAutoNum type="arabicPeriod" startAt="1"/>
            </a:pPr>
            <a:r>
              <a:rPr lang="en-US" sz="1885" spc="-113">
                <a:solidFill>
                  <a:srgbClr val="1E1E1E"/>
                </a:solidFill>
                <a:latin typeface="Times New Roman"/>
                <a:ea typeface="Times New Roman"/>
                <a:cs typeface="Times New Roman"/>
                <a:sym typeface="Times New Roman"/>
              </a:rPr>
              <a:t> Analisis dimulai dengan melihat kontribusi revenue berdasarkan kategori jarak perjalanan (Distance Category). Visualisasi donut chart menunjukkan bahwa segmen Long Distance memberikan  kontribusi revenue terbesar dibandingkan kategori lainnya. Hal ini mengindikasikan bahwa sebagian besar pendapatan perusahaan berasal dari perjalanan jarak jauh.</a:t>
            </a:r>
          </a:p>
          <a:p>
            <a:pPr algn="just">
              <a:lnSpc>
                <a:spcPts val="2941"/>
              </a:lnSpc>
            </a:pPr>
          </a:p>
          <a:p>
            <a:pPr algn="just" marL="407054" indent="-203527" lvl="1">
              <a:lnSpc>
                <a:spcPts val="2941"/>
              </a:lnSpc>
              <a:buAutoNum type="arabicPeriod" startAt="1"/>
            </a:pPr>
            <a:r>
              <a:rPr lang="en-US" sz="1885" spc="-113">
                <a:solidFill>
                  <a:srgbClr val="1E1E1E"/>
                </a:solidFill>
                <a:latin typeface="Times New Roman"/>
                <a:ea typeface="Times New Roman"/>
                <a:cs typeface="Times New Roman"/>
                <a:sym typeface="Times New Roman"/>
              </a:rPr>
              <a:t> </a:t>
            </a:r>
            <a:r>
              <a:rPr lang="en-US" sz="1885" spc="-113">
                <a:solidFill>
                  <a:srgbClr val="1E1E1E"/>
                </a:solidFill>
                <a:latin typeface="Times New Roman"/>
                <a:ea typeface="Times New Roman"/>
                <a:cs typeface="Times New Roman"/>
                <a:sym typeface="Times New Roman"/>
              </a:rPr>
              <a:t>Selanjutnya, dilakukan evaluasi rata-rata harga perjalanan pada masing-masing kategori jarak. Hasil menunjukkan bahwa kategori Long dan Very Long memiliki rata-rata harga tertinggi. Ini   memperkuat temuan bahwa kontribusi revenue yang besar didorong oleh nilai transaksi yang lebih tinggi pada segmen tersebut.</a:t>
            </a:r>
          </a:p>
          <a:p>
            <a:pPr algn="just">
              <a:lnSpc>
                <a:spcPts val="2941"/>
              </a:lnSpc>
            </a:pPr>
          </a:p>
          <a:p>
            <a:pPr algn="just" marL="407054" indent="-203527" lvl="1">
              <a:lnSpc>
                <a:spcPts val="2941"/>
              </a:lnSpc>
              <a:buAutoNum type="arabicPeriod" startAt="1"/>
            </a:pPr>
            <a:r>
              <a:rPr lang="en-US" sz="1885" spc="-113">
                <a:solidFill>
                  <a:srgbClr val="1E1E1E"/>
                </a:solidFill>
                <a:latin typeface="Times New Roman"/>
                <a:ea typeface="Times New Roman"/>
                <a:cs typeface="Times New Roman"/>
                <a:sym typeface="Times New Roman"/>
              </a:rPr>
              <a:t> </a:t>
            </a:r>
            <a:r>
              <a:rPr lang="en-US" sz="1885" spc="-113">
                <a:solidFill>
                  <a:srgbClr val="1E1E1E"/>
                </a:solidFill>
                <a:latin typeface="Times New Roman"/>
                <a:ea typeface="Times New Roman"/>
                <a:cs typeface="Times New Roman"/>
                <a:sym typeface="Times New Roman"/>
              </a:rPr>
              <a:t>Untuk memberikan konteks tambahan, dianalisis juga distribusi revenue berdasarkan hari dalam seminggu. Meskipun terdapat variasi performa antar hari, pola kontribusi segmen jarak jauh tetap konsisten sebagai penyumbang utama revenue.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458433" y="1069125"/>
            <a:ext cx="19366330"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786253" y="2922999"/>
            <a:ext cx="2935660" cy="742074"/>
            <a:chOff x="0" y="0"/>
            <a:chExt cx="1774458" cy="448546"/>
          </a:xfrm>
        </p:grpSpPr>
        <p:sp>
          <p:nvSpPr>
            <p:cNvPr name="Freeform 5" id="5"/>
            <p:cNvSpPr/>
            <p:nvPr/>
          </p:nvSpPr>
          <p:spPr>
            <a:xfrm flipH="false" flipV="false" rot="0">
              <a:off x="0" y="0"/>
              <a:ext cx="1774458" cy="448546"/>
            </a:xfrm>
            <a:custGeom>
              <a:avLst/>
              <a:gdLst/>
              <a:ahLst/>
              <a:cxnLst/>
              <a:rect r="r" b="b" t="t" l="l"/>
              <a:pathLst>
                <a:path h="448546" w="1774458">
                  <a:moveTo>
                    <a:pt x="125679" y="0"/>
                  </a:moveTo>
                  <a:lnTo>
                    <a:pt x="1648779" y="0"/>
                  </a:lnTo>
                  <a:cubicBezTo>
                    <a:pt x="1718190" y="0"/>
                    <a:pt x="1774458" y="56268"/>
                    <a:pt x="1774458" y="125679"/>
                  </a:cubicBezTo>
                  <a:lnTo>
                    <a:pt x="1774458" y="322867"/>
                  </a:lnTo>
                  <a:cubicBezTo>
                    <a:pt x="1774458" y="356199"/>
                    <a:pt x="1761217" y="388166"/>
                    <a:pt x="1737647" y="411736"/>
                  </a:cubicBezTo>
                  <a:cubicBezTo>
                    <a:pt x="1714078" y="435305"/>
                    <a:pt x="1682111" y="448546"/>
                    <a:pt x="1648779" y="448546"/>
                  </a:cubicBezTo>
                  <a:lnTo>
                    <a:pt x="125679" y="448546"/>
                  </a:lnTo>
                  <a:cubicBezTo>
                    <a:pt x="56268" y="448546"/>
                    <a:pt x="0" y="392278"/>
                    <a:pt x="0" y="322867"/>
                  </a:cubicBezTo>
                  <a:lnTo>
                    <a:pt x="0" y="125679"/>
                  </a:lnTo>
                  <a:cubicBezTo>
                    <a:pt x="0" y="56268"/>
                    <a:pt x="56268" y="0"/>
                    <a:pt x="125679" y="0"/>
                  </a:cubicBezTo>
                  <a:close/>
                </a:path>
              </a:pathLst>
            </a:custGeom>
            <a:solidFill>
              <a:srgbClr val="E8E7E7"/>
            </a:solidFill>
            <a:ln w="38100" cap="rnd">
              <a:solidFill>
                <a:srgbClr val="000000"/>
              </a:solidFill>
              <a:prstDash val="solid"/>
              <a:round/>
            </a:ln>
          </p:spPr>
        </p:sp>
        <p:sp>
          <p:nvSpPr>
            <p:cNvPr name="TextBox 6" id="6"/>
            <p:cNvSpPr txBox="true"/>
            <p:nvPr/>
          </p:nvSpPr>
          <p:spPr>
            <a:xfrm>
              <a:off x="0" y="-9525"/>
              <a:ext cx="1774458" cy="458071"/>
            </a:xfrm>
            <a:prstGeom prst="rect">
              <a:avLst/>
            </a:prstGeom>
          </p:spPr>
          <p:txBody>
            <a:bodyPr anchor="ctr" rtlCol="false" tIns="50800" lIns="50800" bIns="50800" rIns="50800"/>
            <a:lstStyle/>
            <a:p>
              <a:pPr algn="ctr">
                <a:lnSpc>
                  <a:spcPts val="3300"/>
                </a:lnSpc>
              </a:pPr>
              <a:r>
                <a:rPr lang="en-US" sz="3300" spc="-198">
                  <a:solidFill>
                    <a:srgbClr val="000000"/>
                  </a:solidFill>
                  <a:latin typeface="Times New Roman MT Condensed"/>
                  <a:ea typeface="Times New Roman MT Condensed"/>
                  <a:cs typeface="Times New Roman MT Condensed"/>
                  <a:sym typeface="Times New Roman MT Condensed"/>
                </a:rPr>
                <a:t>INSIGHT UTAMA</a:t>
              </a:r>
            </a:p>
          </p:txBody>
        </p:sp>
      </p:grpSp>
      <p:sp>
        <p:nvSpPr>
          <p:cNvPr name="TextBox 7" id="7"/>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8" id="8"/>
          <p:cNvSpPr txBox="true"/>
          <p:nvPr/>
        </p:nvSpPr>
        <p:spPr>
          <a:xfrm rot="0">
            <a:off x="6039277" y="222203"/>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grpSp>
        <p:nvGrpSpPr>
          <p:cNvPr name="Group 9" id="9"/>
          <p:cNvGrpSpPr/>
          <p:nvPr/>
        </p:nvGrpSpPr>
        <p:grpSpPr>
          <a:xfrm rot="0">
            <a:off x="6615646" y="1529176"/>
            <a:ext cx="11340901" cy="3876942"/>
            <a:chOff x="0" y="0"/>
            <a:chExt cx="14121691" cy="4827568"/>
          </a:xfrm>
        </p:grpSpPr>
        <p:sp>
          <p:nvSpPr>
            <p:cNvPr name="Freeform 10" id="10"/>
            <p:cNvSpPr/>
            <p:nvPr/>
          </p:nvSpPr>
          <p:spPr>
            <a:xfrm flipH="false" flipV="false" rot="0">
              <a:off x="0" y="0"/>
              <a:ext cx="14121690" cy="4827569"/>
            </a:xfrm>
            <a:custGeom>
              <a:avLst/>
              <a:gdLst/>
              <a:ahLst/>
              <a:cxnLst/>
              <a:rect r="r" b="b" t="t" l="l"/>
              <a:pathLst>
                <a:path h="4827569" w="14121690">
                  <a:moveTo>
                    <a:pt x="32533" y="0"/>
                  </a:moveTo>
                  <a:lnTo>
                    <a:pt x="14089157" y="0"/>
                  </a:lnTo>
                  <a:cubicBezTo>
                    <a:pt x="14097786" y="0"/>
                    <a:pt x="14106060" y="3428"/>
                    <a:pt x="14112162" y="9529"/>
                  </a:cubicBezTo>
                  <a:cubicBezTo>
                    <a:pt x="14118262" y="15630"/>
                    <a:pt x="14121690" y="23905"/>
                    <a:pt x="14121690" y="32533"/>
                  </a:cubicBezTo>
                  <a:lnTo>
                    <a:pt x="14121690" y="4795036"/>
                  </a:lnTo>
                  <a:cubicBezTo>
                    <a:pt x="14121690" y="4813003"/>
                    <a:pt x="14107125" y="4827569"/>
                    <a:pt x="14089157" y="4827569"/>
                  </a:cubicBezTo>
                  <a:lnTo>
                    <a:pt x="32533" y="4827569"/>
                  </a:lnTo>
                  <a:cubicBezTo>
                    <a:pt x="14565" y="4827569"/>
                    <a:pt x="0" y="4813003"/>
                    <a:pt x="0" y="4795036"/>
                  </a:cubicBezTo>
                  <a:lnTo>
                    <a:pt x="0" y="32533"/>
                  </a:lnTo>
                  <a:cubicBezTo>
                    <a:pt x="0" y="14565"/>
                    <a:pt x="14565" y="0"/>
                    <a:pt x="32533" y="0"/>
                  </a:cubicBezTo>
                  <a:close/>
                </a:path>
              </a:pathLst>
            </a:custGeom>
            <a:solidFill>
              <a:srgbClr val="E8E7E7"/>
            </a:solidFill>
            <a:ln w="38100" cap="rnd">
              <a:solidFill>
                <a:srgbClr val="000000"/>
              </a:solidFill>
              <a:prstDash val="solid"/>
              <a:round/>
            </a:ln>
          </p:spPr>
        </p:sp>
        <p:sp>
          <p:nvSpPr>
            <p:cNvPr name="TextBox 11" id="11"/>
            <p:cNvSpPr txBox="true"/>
            <p:nvPr/>
          </p:nvSpPr>
          <p:spPr>
            <a:xfrm>
              <a:off x="0" y="-171450"/>
              <a:ext cx="14121691" cy="4999018"/>
            </a:xfrm>
            <a:prstGeom prst="rect">
              <a:avLst/>
            </a:prstGeom>
          </p:spPr>
          <p:txBody>
            <a:bodyPr anchor="ctr" rtlCol="false" tIns="50800" lIns="50800" bIns="50800" rIns="50800"/>
            <a:lstStyle/>
            <a:p>
              <a:pPr algn="l" marL="712470" indent="-356235" lvl="1">
                <a:lnSpc>
                  <a:spcPts val="5016"/>
                </a:lnSpc>
                <a:buFont typeface="Arial"/>
                <a:buChar char="•"/>
              </a:pPr>
              <a:r>
                <a:rPr lang="en-US" sz="3300" spc="-198">
                  <a:solidFill>
                    <a:srgbClr val="000000"/>
                  </a:solidFill>
                  <a:latin typeface="Times New Roman MT Condensed"/>
                  <a:ea typeface="Times New Roman MT Condensed"/>
                  <a:cs typeface="Times New Roman MT Condensed"/>
                  <a:sym typeface="Times New Roman MT Condensed"/>
                </a:rPr>
                <a:t>Jarak perjalanan merupakan penentu utama harga.</a:t>
              </a:r>
            </a:p>
            <a:p>
              <a:pPr algn="l" marL="712470" indent="-356235" lvl="1">
                <a:lnSpc>
                  <a:spcPts val="5016"/>
                </a:lnSpc>
                <a:buFont typeface="Arial"/>
                <a:buChar char="•"/>
              </a:pPr>
              <a:r>
                <a:rPr lang="en-US" sz="3300" spc="-198">
                  <a:solidFill>
                    <a:srgbClr val="000000"/>
                  </a:solidFill>
                  <a:latin typeface="Times New Roman MT Condensed"/>
                  <a:ea typeface="Times New Roman MT Condensed"/>
                  <a:cs typeface="Times New Roman MT Condensed"/>
                  <a:sym typeface="Times New Roman MT Condensed"/>
                </a:rPr>
                <a:t>Durasi dan faktor eksternal hanya memberikan pengaruh tambahan yang lebih kecil.</a:t>
              </a:r>
            </a:p>
            <a:p>
              <a:pPr algn="l" marL="712470" indent="-356235" lvl="1">
                <a:lnSpc>
                  <a:spcPts val="5016"/>
                </a:lnSpc>
                <a:buFont typeface="Arial"/>
                <a:buChar char="•"/>
              </a:pPr>
              <a:r>
                <a:rPr lang="en-US" sz="3300" spc="-198">
                  <a:solidFill>
                    <a:srgbClr val="000000"/>
                  </a:solidFill>
                  <a:latin typeface="Times New Roman MT Condensed"/>
                  <a:ea typeface="Times New Roman MT Condensed"/>
                  <a:cs typeface="Times New Roman MT Condensed"/>
                  <a:sym typeface="Times New Roman MT Condensed"/>
                </a:rPr>
                <a:t>Tidak ada variabel lain yang lebih dominan dibanding jarak.</a:t>
              </a:r>
            </a:p>
            <a:p>
              <a:pPr algn="l" marL="712470" indent="-356235" lvl="1">
                <a:lnSpc>
                  <a:spcPts val="5016"/>
                </a:lnSpc>
                <a:buFont typeface="Arial"/>
                <a:buChar char="•"/>
              </a:pPr>
              <a:r>
                <a:rPr lang="en-US" sz="3300" spc="-198">
                  <a:solidFill>
                    <a:srgbClr val="000000"/>
                  </a:solidFill>
                  <a:latin typeface="Times New Roman MT Condensed"/>
                  <a:ea typeface="Times New Roman MT Condensed"/>
                  <a:cs typeface="Times New Roman MT Condensed"/>
                  <a:sym typeface="Times New Roman MT Condensed"/>
                </a:rPr>
                <a:t>Segmen jarak jauh menghasilkan rata-rata harga tertinggi.</a:t>
              </a:r>
            </a:p>
            <a:p>
              <a:pPr algn="l" marL="712470" indent="-356235" lvl="1">
                <a:lnSpc>
                  <a:spcPts val="5016"/>
                </a:lnSpc>
                <a:buFont typeface="Arial"/>
                <a:buChar char="•"/>
              </a:pPr>
              <a:r>
                <a:rPr lang="en-US" sz="3300" spc="-198">
                  <a:solidFill>
                    <a:srgbClr val="000000"/>
                  </a:solidFill>
                  <a:latin typeface="Times New Roman MT Condensed"/>
                  <a:ea typeface="Times New Roman MT Condensed"/>
                  <a:cs typeface="Times New Roman MT Condensed"/>
                  <a:sym typeface="Times New Roman MT Condensed"/>
                </a:rPr>
                <a:t>Revenue perusahaan didominasi oleh perjalanan jarak jauh.</a:t>
              </a:r>
            </a:p>
            <a:p>
              <a:pPr algn="l">
                <a:lnSpc>
                  <a:spcPts val="5016"/>
                </a:lnSpc>
              </a:pPr>
            </a:p>
          </p:txBody>
        </p:sp>
      </p:grpSp>
      <p:grpSp>
        <p:nvGrpSpPr>
          <p:cNvPr name="Group 12" id="12"/>
          <p:cNvGrpSpPr/>
          <p:nvPr/>
        </p:nvGrpSpPr>
        <p:grpSpPr>
          <a:xfrm rot="0">
            <a:off x="786253" y="7331863"/>
            <a:ext cx="2935660" cy="742074"/>
            <a:chOff x="0" y="0"/>
            <a:chExt cx="1774458" cy="448546"/>
          </a:xfrm>
        </p:grpSpPr>
        <p:sp>
          <p:nvSpPr>
            <p:cNvPr name="Freeform 13" id="13"/>
            <p:cNvSpPr/>
            <p:nvPr/>
          </p:nvSpPr>
          <p:spPr>
            <a:xfrm flipH="false" flipV="false" rot="0">
              <a:off x="0" y="0"/>
              <a:ext cx="1774458" cy="448546"/>
            </a:xfrm>
            <a:custGeom>
              <a:avLst/>
              <a:gdLst/>
              <a:ahLst/>
              <a:cxnLst/>
              <a:rect r="r" b="b" t="t" l="l"/>
              <a:pathLst>
                <a:path h="448546" w="1774458">
                  <a:moveTo>
                    <a:pt x="125679" y="0"/>
                  </a:moveTo>
                  <a:lnTo>
                    <a:pt x="1648779" y="0"/>
                  </a:lnTo>
                  <a:cubicBezTo>
                    <a:pt x="1718190" y="0"/>
                    <a:pt x="1774458" y="56268"/>
                    <a:pt x="1774458" y="125679"/>
                  </a:cubicBezTo>
                  <a:lnTo>
                    <a:pt x="1774458" y="322867"/>
                  </a:lnTo>
                  <a:cubicBezTo>
                    <a:pt x="1774458" y="356199"/>
                    <a:pt x="1761217" y="388166"/>
                    <a:pt x="1737647" y="411736"/>
                  </a:cubicBezTo>
                  <a:cubicBezTo>
                    <a:pt x="1714078" y="435305"/>
                    <a:pt x="1682111" y="448546"/>
                    <a:pt x="1648779" y="448546"/>
                  </a:cubicBezTo>
                  <a:lnTo>
                    <a:pt x="125679" y="448546"/>
                  </a:lnTo>
                  <a:cubicBezTo>
                    <a:pt x="56268" y="448546"/>
                    <a:pt x="0" y="392278"/>
                    <a:pt x="0" y="322867"/>
                  </a:cubicBezTo>
                  <a:lnTo>
                    <a:pt x="0" y="125679"/>
                  </a:lnTo>
                  <a:cubicBezTo>
                    <a:pt x="0" y="56268"/>
                    <a:pt x="56268" y="0"/>
                    <a:pt x="125679" y="0"/>
                  </a:cubicBezTo>
                  <a:close/>
                </a:path>
              </a:pathLst>
            </a:custGeom>
            <a:solidFill>
              <a:srgbClr val="E8E7E7"/>
            </a:solidFill>
            <a:ln w="38100" cap="rnd">
              <a:solidFill>
                <a:srgbClr val="000000"/>
              </a:solidFill>
              <a:prstDash val="solid"/>
              <a:round/>
            </a:ln>
          </p:spPr>
        </p:sp>
        <p:sp>
          <p:nvSpPr>
            <p:cNvPr name="TextBox 14" id="14"/>
            <p:cNvSpPr txBox="true"/>
            <p:nvPr/>
          </p:nvSpPr>
          <p:spPr>
            <a:xfrm>
              <a:off x="0" y="-9525"/>
              <a:ext cx="1774458" cy="458071"/>
            </a:xfrm>
            <a:prstGeom prst="rect">
              <a:avLst/>
            </a:prstGeom>
          </p:spPr>
          <p:txBody>
            <a:bodyPr anchor="ctr" rtlCol="false" tIns="50800" lIns="50800" bIns="50800" rIns="50800"/>
            <a:lstStyle/>
            <a:p>
              <a:pPr algn="ctr">
                <a:lnSpc>
                  <a:spcPts val="3300"/>
                </a:lnSpc>
              </a:pPr>
              <a:r>
                <a:rPr lang="en-US" sz="3300" spc="-198">
                  <a:solidFill>
                    <a:srgbClr val="000000"/>
                  </a:solidFill>
                  <a:latin typeface="Times New Roman MT Condensed"/>
                  <a:ea typeface="Times New Roman MT Condensed"/>
                  <a:cs typeface="Times New Roman MT Condensed"/>
                  <a:sym typeface="Times New Roman MT Condensed"/>
                </a:rPr>
                <a:t>CONCLUSION</a:t>
              </a:r>
            </a:p>
          </p:txBody>
        </p:sp>
      </p:grpSp>
      <p:grpSp>
        <p:nvGrpSpPr>
          <p:cNvPr name="Group 15" id="15"/>
          <p:cNvGrpSpPr/>
          <p:nvPr/>
        </p:nvGrpSpPr>
        <p:grpSpPr>
          <a:xfrm rot="0">
            <a:off x="6615646" y="5637021"/>
            <a:ext cx="11340901" cy="4505592"/>
            <a:chOff x="0" y="0"/>
            <a:chExt cx="14121691" cy="5610363"/>
          </a:xfrm>
        </p:grpSpPr>
        <p:sp>
          <p:nvSpPr>
            <p:cNvPr name="Freeform 16" id="16"/>
            <p:cNvSpPr/>
            <p:nvPr/>
          </p:nvSpPr>
          <p:spPr>
            <a:xfrm flipH="false" flipV="false" rot="0">
              <a:off x="0" y="0"/>
              <a:ext cx="14121690" cy="5610363"/>
            </a:xfrm>
            <a:custGeom>
              <a:avLst/>
              <a:gdLst/>
              <a:ahLst/>
              <a:cxnLst/>
              <a:rect r="r" b="b" t="t" l="l"/>
              <a:pathLst>
                <a:path h="5610363" w="14121690">
                  <a:moveTo>
                    <a:pt x="32533" y="0"/>
                  </a:moveTo>
                  <a:lnTo>
                    <a:pt x="14089157" y="0"/>
                  </a:lnTo>
                  <a:cubicBezTo>
                    <a:pt x="14097786" y="0"/>
                    <a:pt x="14106060" y="3428"/>
                    <a:pt x="14112162" y="9529"/>
                  </a:cubicBezTo>
                  <a:cubicBezTo>
                    <a:pt x="14118262" y="15630"/>
                    <a:pt x="14121690" y="23905"/>
                    <a:pt x="14121690" y="32533"/>
                  </a:cubicBezTo>
                  <a:lnTo>
                    <a:pt x="14121690" y="5577830"/>
                  </a:lnTo>
                  <a:cubicBezTo>
                    <a:pt x="14121690" y="5586459"/>
                    <a:pt x="14118262" y="5594734"/>
                    <a:pt x="14112162" y="5600835"/>
                  </a:cubicBezTo>
                  <a:cubicBezTo>
                    <a:pt x="14106060" y="5606936"/>
                    <a:pt x="14097786" y="5610363"/>
                    <a:pt x="14089157" y="5610363"/>
                  </a:cubicBezTo>
                  <a:lnTo>
                    <a:pt x="32533" y="5610363"/>
                  </a:lnTo>
                  <a:cubicBezTo>
                    <a:pt x="14565" y="5610363"/>
                    <a:pt x="0" y="5595798"/>
                    <a:pt x="0" y="5577830"/>
                  </a:cubicBezTo>
                  <a:lnTo>
                    <a:pt x="0" y="32533"/>
                  </a:lnTo>
                  <a:cubicBezTo>
                    <a:pt x="0" y="14565"/>
                    <a:pt x="14565" y="0"/>
                    <a:pt x="32533" y="0"/>
                  </a:cubicBezTo>
                  <a:close/>
                </a:path>
              </a:pathLst>
            </a:custGeom>
            <a:solidFill>
              <a:srgbClr val="E8E7E7"/>
            </a:solidFill>
            <a:ln w="38100" cap="rnd">
              <a:solidFill>
                <a:srgbClr val="000000"/>
              </a:solidFill>
              <a:prstDash val="solid"/>
              <a:round/>
            </a:ln>
          </p:spPr>
        </p:sp>
        <p:sp>
          <p:nvSpPr>
            <p:cNvPr name="TextBox 17" id="17"/>
            <p:cNvSpPr txBox="true"/>
            <p:nvPr/>
          </p:nvSpPr>
          <p:spPr>
            <a:xfrm>
              <a:off x="0" y="-171450"/>
              <a:ext cx="14121691" cy="5781813"/>
            </a:xfrm>
            <a:prstGeom prst="rect">
              <a:avLst/>
            </a:prstGeom>
          </p:spPr>
          <p:txBody>
            <a:bodyPr anchor="ctr" rtlCol="false" tIns="50800" lIns="50800" bIns="50800" rIns="50800"/>
            <a:lstStyle/>
            <a:p>
              <a:pPr algn="l" marL="712470" indent="-356235" lvl="1">
                <a:lnSpc>
                  <a:spcPts val="5016"/>
                </a:lnSpc>
                <a:buFont typeface="Arial"/>
                <a:buChar char="•"/>
              </a:pPr>
              <a:r>
                <a:rPr lang="en-US" sz="3300" spc="-198">
                  <a:solidFill>
                    <a:srgbClr val="000000"/>
                  </a:solidFill>
                  <a:latin typeface="Times New Roman MT Condensed"/>
                  <a:ea typeface="Times New Roman MT Condensed"/>
                  <a:cs typeface="Times New Roman MT Condensed"/>
                  <a:sym typeface="Times New Roman MT Condensed"/>
                </a:rPr>
                <a:t>Harga perjalanan paling banyak dipengaruhi oleh jarak tempuh.</a:t>
              </a:r>
            </a:p>
            <a:p>
              <a:pPr algn="l" marL="712470" indent="-356235" lvl="1">
                <a:lnSpc>
                  <a:spcPts val="5016"/>
                </a:lnSpc>
                <a:buFont typeface="Arial"/>
                <a:buChar char="•"/>
              </a:pPr>
              <a:r>
                <a:rPr lang="en-US" sz="3300" spc="-198">
                  <a:solidFill>
                    <a:srgbClr val="000000"/>
                  </a:solidFill>
                  <a:latin typeface="Times New Roman MT Condensed"/>
                  <a:ea typeface="Times New Roman MT Condensed"/>
                  <a:cs typeface="Times New Roman MT Condensed"/>
                  <a:sym typeface="Times New Roman MT Condensed"/>
                </a:rPr>
                <a:t>Fakto</a:t>
              </a:r>
              <a:r>
                <a:rPr lang="en-US" sz="3300" spc="-198">
                  <a:solidFill>
                    <a:srgbClr val="000000"/>
                  </a:solidFill>
                  <a:latin typeface="Times New Roman MT Condensed"/>
                  <a:ea typeface="Times New Roman MT Condensed"/>
                  <a:cs typeface="Times New Roman MT Condensed"/>
                  <a:sym typeface="Times New Roman MT Condensed"/>
                </a:rPr>
                <a:t>r seperti lalu lintas, waktu, dan cuaca memang berpengaruh, tapi tidak sebesar jarak.</a:t>
              </a:r>
            </a:p>
            <a:p>
              <a:pPr algn="l" marL="712470" indent="-356235" lvl="1">
                <a:lnSpc>
                  <a:spcPts val="5016"/>
                </a:lnSpc>
                <a:buFont typeface="Arial"/>
                <a:buChar char="•"/>
              </a:pPr>
              <a:r>
                <a:rPr lang="en-US" sz="3300" spc="-198">
                  <a:solidFill>
                    <a:srgbClr val="000000"/>
                  </a:solidFill>
                  <a:latin typeface="Times New Roman MT Condensed"/>
                  <a:ea typeface="Times New Roman MT Condensed"/>
                  <a:cs typeface="Times New Roman MT Condensed"/>
                  <a:sym typeface="Times New Roman MT Condensed"/>
                </a:rPr>
                <a:t>Pen</a:t>
              </a:r>
              <a:r>
                <a:rPr lang="en-US" sz="3300" spc="-198">
                  <a:solidFill>
                    <a:srgbClr val="000000"/>
                  </a:solidFill>
                  <a:latin typeface="Times New Roman MT Condensed"/>
                  <a:ea typeface="Times New Roman MT Condensed"/>
                  <a:cs typeface="Times New Roman MT Condensed"/>
                  <a:sym typeface="Times New Roman MT Condensed"/>
                </a:rPr>
                <a:t>dapatan perusahaan paling banyak berasal dari perjalanan jarak jauh.</a:t>
              </a:r>
            </a:p>
            <a:p>
              <a:pPr algn="l" marL="712470" indent="-356235" lvl="1">
                <a:lnSpc>
                  <a:spcPts val="5016"/>
                </a:lnSpc>
                <a:buFont typeface="Arial"/>
                <a:buChar char="•"/>
              </a:pPr>
              <a:r>
                <a:rPr lang="en-US" sz="3300" spc="-198">
                  <a:solidFill>
                    <a:srgbClr val="000000"/>
                  </a:solidFill>
                  <a:latin typeface="Times New Roman MT Condensed"/>
                  <a:ea typeface="Times New Roman MT Condensed"/>
                  <a:cs typeface="Times New Roman MT Condensed"/>
                  <a:sym typeface="Times New Roman MT Condensed"/>
                </a:rPr>
                <a:t>Ada beberapa data yang masuk kategori “Unknown” karena sebelumnya terdapat nilai yang kosong (missing value).</a:t>
              </a:r>
            </a:p>
            <a:p>
              <a:pPr algn="l">
                <a:lnSpc>
                  <a:spcPts val="5016"/>
                </a:lnSpc>
              </a:pPr>
            </a:p>
          </p:txBody>
        </p:sp>
      </p:grpSp>
      <p:sp>
        <p:nvSpPr>
          <p:cNvPr name="AutoShape 18" id="18"/>
          <p:cNvSpPr/>
          <p:nvPr/>
        </p:nvSpPr>
        <p:spPr>
          <a:xfrm flipV="true">
            <a:off x="3721913" y="3269678"/>
            <a:ext cx="2893733" cy="24358"/>
          </a:xfrm>
          <a:prstGeom prst="line">
            <a:avLst/>
          </a:prstGeom>
          <a:ln cap="flat" w="38100">
            <a:solidFill>
              <a:srgbClr val="000000"/>
            </a:solidFill>
            <a:prstDash val="solid"/>
            <a:headEnd type="none" len="sm" w="sm"/>
            <a:tailEnd type="none" len="sm" w="sm"/>
          </a:ln>
        </p:spPr>
      </p:sp>
      <p:sp>
        <p:nvSpPr>
          <p:cNvPr name="AutoShape 19" id="19"/>
          <p:cNvSpPr/>
          <p:nvPr/>
        </p:nvSpPr>
        <p:spPr>
          <a:xfrm flipV="true">
            <a:off x="3721913" y="7678543"/>
            <a:ext cx="2893733" cy="24358"/>
          </a:xfrm>
          <a:prstGeom prst="line">
            <a:avLst/>
          </a:prstGeom>
          <a:ln cap="flat" w="38100">
            <a:solidFill>
              <a:srgbClr val="000000"/>
            </a:solidFill>
            <a:prstDash val="solid"/>
            <a:headEnd type="none" len="sm" w="sm"/>
            <a:tailEnd type="none" len="sm" w="sm"/>
          </a:ln>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51656" y="-5027"/>
            <a:ext cx="1808319" cy="1205546"/>
          </a:xfrm>
          <a:custGeom>
            <a:avLst/>
            <a:gdLst/>
            <a:ahLst/>
            <a:cxnLst/>
            <a:rect r="r" b="b" t="t" l="l"/>
            <a:pathLst>
              <a:path h="1205546" w="1808319">
                <a:moveTo>
                  <a:pt x="0" y="0"/>
                </a:moveTo>
                <a:lnTo>
                  <a:pt x="1808319" y="0"/>
                </a:lnTo>
                <a:lnTo>
                  <a:pt x="1808319" y="1205546"/>
                </a:lnTo>
                <a:lnTo>
                  <a:pt x="0" y="1205546"/>
                </a:lnTo>
                <a:lnTo>
                  <a:pt x="0" y="0"/>
                </a:lnTo>
                <a:close/>
              </a:path>
            </a:pathLst>
          </a:custGeom>
          <a:blipFill>
            <a:blip r:embed="rId2"/>
            <a:stretch>
              <a:fillRect l="0" t="0" r="0" b="0"/>
            </a:stretch>
          </a:blipFill>
        </p:spPr>
      </p:sp>
      <p:sp>
        <p:nvSpPr>
          <p:cNvPr name="AutoShape 3" id="3"/>
          <p:cNvSpPr/>
          <p:nvPr/>
        </p:nvSpPr>
        <p:spPr>
          <a:xfrm>
            <a:off x="-458433" y="1069125"/>
            <a:ext cx="19366330" cy="0"/>
          </a:xfrm>
          <a:prstGeom prst="line">
            <a:avLst/>
          </a:prstGeom>
          <a:ln cap="flat" w="38100">
            <a:solidFill>
              <a:srgbClr val="000000"/>
            </a:solidFill>
            <a:prstDash val="solid"/>
            <a:headEnd type="none" len="sm" w="sm"/>
            <a:tailEnd type="none" len="sm" w="sm"/>
          </a:ln>
        </p:spPr>
      </p:sp>
      <p:sp>
        <p:nvSpPr>
          <p:cNvPr name="TextBox 4" id="4"/>
          <p:cNvSpPr txBox="true"/>
          <p:nvPr/>
        </p:nvSpPr>
        <p:spPr>
          <a:xfrm rot="0">
            <a:off x="15573836" y="365078"/>
            <a:ext cx="2534585" cy="297311"/>
          </a:xfrm>
          <a:prstGeom prst="rect">
            <a:avLst/>
          </a:prstGeom>
        </p:spPr>
        <p:txBody>
          <a:bodyPr anchor="t" rtlCol="false" tIns="0" lIns="0" bIns="0" rIns="0">
            <a:spAutoFit/>
          </a:bodyPr>
          <a:lstStyle/>
          <a:p>
            <a:pPr algn="r">
              <a:lnSpc>
                <a:spcPts val="2293"/>
              </a:lnSpc>
            </a:pPr>
            <a:r>
              <a:rPr lang="en-US" sz="2293" spc="-137">
                <a:solidFill>
                  <a:srgbClr val="1E1E1E"/>
                </a:solidFill>
                <a:latin typeface="Montserrat"/>
                <a:ea typeface="Montserrat"/>
                <a:cs typeface="Montserrat"/>
                <a:sym typeface="Montserrat"/>
              </a:rPr>
              <a:t>19 February 2026</a:t>
            </a:r>
          </a:p>
        </p:txBody>
      </p:sp>
      <p:sp>
        <p:nvSpPr>
          <p:cNvPr name="TextBox 5" id="5"/>
          <p:cNvSpPr txBox="true"/>
          <p:nvPr/>
        </p:nvSpPr>
        <p:spPr>
          <a:xfrm rot="0">
            <a:off x="6039277" y="222203"/>
            <a:ext cx="6209445" cy="827872"/>
          </a:xfrm>
          <a:prstGeom prst="rect">
            <a:avLst/>
          </a:prstGeom>
        </p:spPr>
        <p:txBody>
          <a:bodyPr anchor="t" rtlCol="false" tIns="0" lIns="0" bIns="0" rIns="0">
            <a:spAutoFit/>
          </a:bodyPr>
          <a:lstStyle/>
          <a:p>
            <a:pPr algn="ctr">
              <a:lnSpc>
                <a:spcPts val="6763"/>
              </a:lnSpc>
            </a:pPr>
            <a:r>
              <a:rPr lang="en-US" sz="4831">
                <a:solidFill>
                  <a:srgbClr val="1E1E1E"/>
                </a:solidFill>
                <a:latin typeface="HK Modular"/>
                <a:ea typeface="HK Modular"/>
                <a:cs typeface="HK Modular"/>
                <a:sym typeface="HK Modular"/>
              </a:rPr>
              <a:t>MAIN PROJECT</a:t>
            </a:r>
          </a:p>
        </p:txBody>
      </p:sp>
      <p:grpSp>
        <p:nvGrpSpPr>
          <p:cNvPr name="Group 6" id="6"/>
          <p:cNvGrpSpPr/>
          <p:nvPr/>
        </p:nvGrpSpPr>
        <p:grpSpPr>
          <a:xfrm rot="0">
            <a:off x="151656" y="5328651"/>
            <a:ext cx="4987803" cy="1039495"/>
            <a:chOff x="0" y="0"/>
            <a:chExt cx="2102126" cy="438099"/>
          </a:xfrm>
        </p:grpSpPr>
        <p:sp>
          <p:nvSpPr>
            <p:cNvPr name="Freeform 7" id="7"/>
            <p:cNvSpPr/>
            <p:nvPr/>
          </p:nvSpPr>
          <p:spPr>
            <a:xfrm flipH="false" flipV="false" rot="0">
              <a:off x="0" y="0"/>
              <a:ext cx="2102126" cy="438099"/>
            </a:xfrm>
            <a:custGeom>
              <a:avLst/>
              <a:gdLst/>
              <a:ahLst/>
              <a:cxnLst/>
              <a:rect r="r" b="b" t="t" l="l"/>
              <a:pathLst>
                <a:path h="438099" w="2102126">
                  <a:moveTo>
                    <a:pt x="73971" y="0"/>
                  </a:moveTo>
                  <a:lnTo>
                    <a:pt x="2028155" y="0"/>
                  </a:lnTo>
                  <a:cubicBezTo>
                    <a:pt x="2069008" y="0"/>
                    <a:pt x="2102126" y="33118"/>
                    <a:pt x="2102126" y="73971"/>
                  </a:cubicBezTo>
                  <a:lnTo>
                    <a:pt x="2102126" y="364128"/>
                  </a:lnTo>
                  <a:cubicBezTo>
                    <a:pt x="2102126" y="383746"/>
                    <a:pt x="2094333" y="402561"/>
                    <a:pt x="2080461" y="416433"/>
                  </a:cubicBezTo>
                  <a:cubicBezTo>
                    <a:pt x="2066588" y="430305"/>
                    <a:pt x="2047774" y="438099"/>
                    <a:pt x="2028155" y="438099"/>
                  </a:cubicBezTo>
                  <a:lnTo>
                    <a:pt x="73971" y="438099"/>
                  </a:lnTo>
                  <a:cubicBezTo>
                    <a:pt x="54352" y="438099"/>
                    <a:pt x="35538" y="430305"/>
                    <a:pt x="21665" y="416433"/>
                  </a:cubicBezTo>
                  <a:cubicBezTo>
                    <a:pt x="7793" y="402561"/>
                    <a:pt x="0" y="383746"/>
                    <a:pt x="0" y="364128"/>
                  </a:cubicBezTo>
                  <a:lnTo>
                    <a:pt x="0" y="73971"/>
                  </a:lnTo>
                  <a:cubicBezTo>
                    <a:pt x="0" y="54352"/>
                    <a:pt x="7793" y="35538"/>
                    <a:pt x="21665" y="21665"/>
                  </a:cubicBezTo>
                  <a:cubicBezTo>
                    <a:pt x="35538" y="7793"/>
                    <a:pt x="54352" y="0"/>
                    <a:pt x="73971" y="0"/>
                  </a:cubicBezTo>
                  <a:close/>
                </a:path>
              </a:pathLst>
            </a:custGeom>
            <a:solidFill>
              <a:srgbClr val="E8E7E7"/>
            </a:solidFill>
            <a:ln w="38100" cap="rnd">
              <a:solidFill>
                <a:srgbClr val="000000"/>
              </a:solidFill>
              <a:prstDash val="solid"/>
              <a:round/>
            </a:ln>
          </p:spPr>
        </p:sp>
        <p:sp>
          <p:nvSpPr>
            <p:cNvPr name="TextBox 8" id="8"/>
            <p:cNvSpPr txBox="true"/>
            <p:nvPr/>
          </p:nvSpPr>
          <p:spPr>
            <a:xfrm>
              <a:off x="0" y="-9525"/>
              <a:ext cx="2102126" cy="447624"/>
            </a:xfrm>
            <a:prstGeom prst="rect">
              <a:avLst/>
            </a:prstGeom>
          </p:spPr>
          <p:txBody>
            <a:bodyPr anchor="ctr" rtlCol="false" tIns="50800" lIns="50800" bIns="50800" rIns="50800"/>
            <a:lstStyle/>
            <a:p>
              <a:pPr algn="ctr">
                <a:lnSpc>
                  <a:spcPts val="5000"/>
                </a:lnSpc>
              </a:pPr>
              <a:r>
                <a:rPr lang="en-US" sz="5000" spc="-300">
                  <a:solidFill>
                    <a:srgbClr val="000000"/>
                  </a:solidFill>
                  <a:latin typeface="Times New Roman MT Condensed"/>
                  <a:ea typeface="Times New Roman MT Condensed"/>
                  <a:cs typeface="Times New Roman MT Condensed"/>
                  <a:sym typeface="Times New Roman MT Condensed"/>
                </a:rPr>
                <a:t>RECOMMENDATION</a:t>
              </a:r>
            </a:p>
          </p:txBody>
        </p:sp>
      </p:grpSp>
      <p:grpSp>
        <p:nvGrpSpPr>
          <p:cNvPr name="Group 9" id="9"/>
          <p:cNvGrpSpPr/>
          <p:nvPr/>
        </p:nvGrpSpPr>
        <p:grpSpPr>
          <a:xfrm rot="0">
            <a:off x="6853838" y="1200519"/>
            <a:ext cx="11254583" cy="8941696"/>
            <a:chOff x="0" y="0"/>
            <a:chExt cx="16533151" cy="13135485"/>
          </a:xfrm>
        </p:grpSpPr>
        <p:sp>
          <p:nvSpPr>
            <p:cNvPr name="Freeform 10" id="10"/>
            <p:cNvSpPr/>
            <p:nvPr/>
          </p:nvSpPr>
          <p:spPr>
            <a:xfrm flipH="false" flipV="false" rot="0">
              <a:off x="0" y="0"/>
              <a:ext cx="16533152" cy="13135485"/>
            </a:xfrm>
            <a:custGeom>
              <a:avLst/>
              <a:gdLst/>
              <a:ahLst/>
              <a:cxnLst/>
              <a:rect r="r" b="b" t="t" l="l"/>
              <a:pathLst>
                <a:path h="13135485" w="16533152">
                  <a:moveTo>
                    <a:pt x="32782" y="0"/>
                  </a:moveTo>
                  <a:lnTo>
                    <a:pt x="16500370" y="0"/>
                  </a:lnTo>
                  <a:cubicBezTo>
                    <a:pt x="16509064" y="0"/>
                    <a:pt x="16517403" y="3454"/>
                    <a:pt x="16523551" y="9602"/>
                  </a:cubicBezTo>
                  <a:cubicBezTo>
                    <a:pt x="16529698" y="15750"/>
                    <a:pt x="16533152" y="24088"/>
                    <a:pt x="16533152" y="32782"/>
                  </a:cubicBezTo>
                  <a:lnTo>
                    <a:pt x="16533152" y="13102703"/>
                  </a:lnTo>
                  <a:cubicBezTo>
                    <a:pt x="16533152" y="13120808"/>
                    <a:pt x="16518475" y="13135485"/>
                    <a:pt x="16500370" y="13135485"/>
                  </a:cubicBezTo>
                  <a:lnTo>
                    <a:pt x="32782" y="13135485"/>
                  </a:lnTo>
                  <a:cubicBezTo>
                    <a:pt x="24088" y="13135485"/>
                    <a:pt x="15750" y="13132031"/>
                    <a:pt x="9602" y="13125884"/>
                  </a:cubicBezTo>
                  <a:cubicBezTo>
                    <a:pt x="3454" y="13119736"/>
                    <a:pt x="0" y="13111397"/>
                    <a:pt x="0" y="13102703"/>
                  </a:cubicBezTo>
                  <a:lnTo>
                    <a:pt x="0" y="32782"/>
                  </a:lnTo>
                  <a:cubicBezTo>
                    <a:pt x="0" y="14677"/>
                    <a:pt x="14677" y="0"/>
                    <a:pt x="32782" y="0"/>
                  </a:cubicBezTo>
                  <a:close/>
                </a:path>
              </a:pathLst>
            </a:custGeom>
            <a:solidFill>
              <a:srgbClr val="E8E7E7"/>
            </a:solidFill>
            <a:ln w="38100" cap="rnd">
              <a:solidFill>
                <a:srgbClr val="000000"/>
              </a:solidFill>
              <a:prstDash val="solid"/>
              <a:round/>
            </a:ln>
          </p:spPr>
        </p:sp>
        <p:sp>
          <p:nvSpPr>
            <p:cNvPr name="TextBox 11" id="11"/>
            <p:cNvSpPr txBox="true"/>
            <p:nvPr/>
          </p:nvSpPr>
          <p:spPr>
            <a:xfrm>
              <a:off x="0" y="-123825"/>
              <a:ext cx="16533151" cy="13259310"/>
            </a:xfrm>
            <a:prstGeom prst="rect">
              <a:avLst/>
            </a:prstGeom>
          </p:spPr>
          <p:txBody>
            <a:bodyPr anchor="ctr" rtlCol="false" tIns="50800" lIns="50800" bIns="50800" rIns="50800"/>
            <a:lstStyle/>
            <a:p>
              <a:pPr algn="just" marL="539748" indent="-269874" lvl="1">
                <a:lnSpc>
                  <a:spcPts val="3799"/>
                </a:lnSpc>
                <a:buAutoNum type="arabicPeriod" startAt="1"/>
              </a:pPr>
              <a:r>
                <a:rPr lang="en-US" b="true" sz="2499" spc="-149">
                  <a:solidFill>
                    <a:srgbClr val="000000"/>
                  </a:solidFill>
                  <a:latin typeface="Times New Roman MT Condensed Bold"/>
                  <a:ea typeface="Times New Roman MT Condensed Bold"/>
                  <a:cs typeface="Times New Roman MT Condensed Bold"/>
                  <a:sym typeface="Times New Roman MT Condensed Bold"/>
                </a:rPr>
                <a:t>Perlu Perbaikan Cara Input Data </a:t>
              </a:r>
            </a:p>
            <a:p>
              <a:pPr algn="just">
                <a:lnSpc>
                  <a:spcPts val="2736"/>
                </a:lnSpc>
              </a:pPr>
              <a:r>
                <a:rPr lang="en-US" sz="1800" spc="-107">
                  <a:solidFill>
                    <a:srgbClr val="000000"/>
                  </a:solidFill>
                  <a:latin typeface="Times New Roman MT Condensed"/>
                  <a:ea typeface="Times New Roman MT Condensed"/>
                  <a:cs typeface="Times New Roman MT Condensed"/>
                  <a:sym typeface="Times New Roman MT Condensed"/>
                </a:rPr>
                <a:t>             </a:t>
              </a:r>
              <a:r>
                <a:rPr lang="en-US" sz="1800" spc="-107">
                  <a:solidFill>
                    <a:srgbClr val="000000"/>
                  </a:solidFill>
                  <a:latin typeface="Times New Roman MT Condensed"/>
                  <a:ea typeface="Times New Roman MT Condensed"/>
                  <a:cs typeface="Times New Roman MT Condensed"/>
                  <a:sym typeface="Times New Roman MT Condensed"/>
                </a:rPr>
                <a:t>Adanya kategori “Unknown” bukan berarti pasti kesalahan orang yang     memasukkan data. Bisa jadi karena: </a:t>
              </a:r>
            </a:p>
            <a:p>
              <a:pPr algn="just" marL="388620" indent="-194310" lvl="1">
                <a:lnSpc>
                  <a:spcPts val="2736"/>
                </a:lnSpc>
                <a:buFont typeface="Arial"/>
                <a:buChar char="•"/>
              </a:pPr>
              <a:r>
                <a:rPr lang="en-US" sz="1800" spc="-107">
                  <a:solidFill>
                    <a:srgbClr val="000000"/>
                  </a:solidFill>
                  <a:latin typeface="Times New Roman MT Condensed"/>
                  <a:ea typeface="Times New Roman MT Condensed"/>
                  <a:cs typeface="Times New Roman MT Condensed"/>
                  <a:sym typeface="Times New Roman MT Condensed"/>
                </a:rPr>
                <a:t>Sistem tidak mewajibkan pengisian kolom tertentu. </a:t>
              </a:r>
            </a:p>
            <a:p>
              <a:pPr algn="just" marL="388620" indent="-194310" lvl="1">
                <a:lnSpc>
                  <a:spcPts val="2736"/>
                </a:lnSpc>
                <a:buFont typeface="Arial"/>
                <a:buChar char="•"/>
              </a:pPr>
              <a:r>
                <a:rPr lang="en-US" sz="1800" spc="-107">
                  <a:solidFill>
                    <a:srgbClr val="000000"/>
                  </a:solidFill>
                  <a:latin typeface="Times New Roman MT Condensed"/>
                  <a:ea typeface="Times New Roman MT Condensed"/>
                  <a:cs typeface="Times New Roman MT Condensed"/>
                  <a:sym typeface="Times New Roman MT Condensed"/>
                </a:rPr>
                <a:t>Kondisi di lapangan tidak sempat dicatat. </a:t>
              </a:r>
            </a:p>
            <a:p>
              <a:pPr algn="just" marL="388620" indent="-194310" lvl="1">
                <a:lnSpc>
                  <a:spcPts val="2736"/>
                </a:lnSpc>
                <a:buFont typeface="Arial"/>
                <a:buChar char="•"/>
              </a:pPr>
              <a:r>
                <a:rPr lang="en-US" sz="1800" spc="-107">
                  <a:solidFill>
                    <a:srgbClr val="000000"/>
                  </a:solidFill>
                  <a:latin typeface="Times New Roman MT Condensed"/>
                  <a:ea typeface="Times New Roman MT Condensed"/>
                  <a:cs typeface="Times New Roman MT Condensed"/>
                  <a:sym typeface="Times New Roman MT Condensed"/>
                </a:rPr>
                <a:t>Data berasal dari beberapa sumber yang belum sepenuhnya sinkron. Jadi bukan langsung menyalahkan human error, tapi lebih ke perbaikan sistem. </a:t>
              </a:r>
            </a:p>
            <a:p>
              <a:pPr algn="just">
                <a:lnSpc>
                  <a:spcPts val="3799"/>
                </a:lnSpc>
              </a:pPr>
            </a:p>
            <a:p>
              <a:pPr algn="just" marL="539748" indent="-269874" lvl="1">
                <a:lnSpc>
                  <a:spcPts val="3799"/>
                </a:lnSpc>
                <a:buAutoNum type="arabicPeriod" startAt="1"/>
              </a:pPr>
              <a:r>
                <a:rPr lang="en-US" b="true" sz="2499" spc="-149">
                  <a:solidFill>
                    <a:srgbClr val="000000"/>
                  </a:solidFill>
                  <a:latin typeface="Times New Roman MT Condensed Bold"/>
                  <a:ea typeface="Times New Roman MT Condensed Bold"/>
                  <a:cs typeface="Times New Roman MT Condensed Bold"/>
                  <a:sym typeface="Times New Roman MT Condensed Bold"/>
                </a:rPr>
                <a:t>Buat Kolom Penting Jadi Wajib Diisi</a:t>
              </a:r>
              <a:r>
                <a:rPr lang="en-US" sz="2499" spc="-149">
                  <a:solidFill>
                    <a:srgbClr val="000000"/>
                  </a:solidFill>
                  <a:latin typeface="Times New Roman MT Condensed"/>
                  <a:ea typeface="Times New Roman MT Condensed"/>
                  <a:cs typeface="Times New Roman MT Condensed"/>
                  <a:sym typeface="Times New Roman MT Condensed"/>
                </a:rPr>
                <a:t> </a:t>
              </a:r>
            </a:p>
            <a:p>
              <a:pPr algn="just">
                <a:lnSpc>
                  <a:spcPts val="2736"/>
                </a:lnSpc>
              </a:pPr>
              <a:r>
                <a:rPr lang="en-US" sz="1800" spc="-107">
                  <a:solidFill>
                    <a:srgbClr val="000000"/>
                  </a:solidFill>
                  <a:latin typeface="Times New Roman MT Condensed"/>
                  <a:ea typeface="Times New Roman MT Condensed"/>
                  <a:cs typeface="Times New Roman MT Condensed"/>
                  <a:sym typeface="Times New Roman MT Condensed"/>
                </a:rPr>
                <a:t>              </a:t>
              </a:r>
              <a:r>
                <a:rPr lang="en-US" sz="1800" spc="-107">
                  <a:solidFill>
                    <a:srgbClr val="000000"/>
                  </a:solidFill>
                  <a:latin typeface="Times New Roman MT Condensed"/>
                  <a:ea typeface="Times New Roman MT Condensed"/>
                  <a:cs typeface="Times New Roman MT Condensed"/>
                  <a:sym typeface="Times New Roman MT Condensed"/>
                </a:rPr>
                <a:t>Misalnya: </a:t>
              </a:r>
            </a:p>
            <a:p>
              <a:pPr algn="just" marL="388620" indent="-194310" lvl="1">
                <a:lnSpc>
                  <a:spcPts val="2736"/>
                </a:lnSpc>
                <a:buFont typeface="Arial"/>
                <a:buChar char="•"/>
              </a:pPr>
              <a:r>
                <a:rPr lang="en-US" sz="1800" spc="-107">
                  <a:solidFill>
                    <a:srgbClr val="000000"/>
                  </a:solidFill>
                  <a:latin typeface="Times New Roman MT Condensed"/>
                  <a:ea typeface="Times New Roman MT Condensed"/>
                  <a:cs typeface="Times New Roman MT Condensed"/>
                  <a:sym typeface="Times New Roman MT Condensed"/>
                </a:rPr>
                <a:t>Kondisi lalu lintas </a:t>
              </a:r>
            </a:p>
            <a:p>
              <a:pPr algn="just" marL="388620" indent="-194310" lvl="1">
                <a:lnSpc>
                  <a:spcPts val="2736"/>
                </a:lnSpc>
                <a:buFont typeface="Arial"/>
                <a:buChar char="•"/>
              </a:pPr>
              <a:r>
                <a:rPr lang="en-US" sz="1800" spc="-107">
                  <a:solidFill>
                    <a:srgbClr val="000000"/>
                  </a:solidFill>
                  <a:latin typeface="Times New Roman MT Condensed"/>
                  <a:ea typeface="Times New Roman MT Condensed"/>
                  <a:cs typeface="Times New Roman MT Condensed"/>
                  <a:sym typeface="Times New Roman MT Condensed"/>
                </a:rPr>
                <a:t>Cuaca </a:t>
              </a:r>
            </a:p>
            <a:p>
              <a:pPr algn="just" marL="388620" indent="-194310" lvl="1">
                <a:lnSpc>
                  <a:spcPts val="2736"/>
                </a:lnSpc>
                <a:buFont typeface="Arial"/>
                <a:buChar char="•"/>
              </a:pPr>
              <a:r>
                <a:rPr lang="en-US" sz="1800" spc="-107">
                  <a:solidFill>
                    <a:srgbClr val="000000"/>
                  </a:solidFill>
                  <a:latin typeface="Times New Roman MT Condensed"/>
                  <a:ea typeface="Times New Roman MT Condensed"/>
                  <a:cs typeface="Times New Roman MT Condensed"/>
                  <a:sym typeface="Times New Roman MT Condensed"/>
                </a:rPr>
                <a:t>Waktu perjalanan </a:t>
              </a:r>
            </a:p>
            <a:p>
              <a:pPr algn="just">
                <a:lnSpc>
                  <a:spcPts val="2736"/>
                </a:lnSpc>
              </a:pPr>
              <a:r>
                <a:rPr lang="en-US" sz="1800" spc="-107">
                  <a:solidFill>
                    <a:srgbClr val="000000"/>
                  </a:solidFill>
                  <a:latin typeface="Times New Roman MT Condensed"/>
                  <a:ea typeface="Times New Roman MT Condensed"/>
                  <a:cs typeface="Times New Roman MT Condensed"/>
                  <a:sym typeface="Times New Roman MT Condensed"/>
                </a:rPr>
                <a:t>         Supaya data kosong bisa diminimalkan. </a:t>
              </a:r>
            </a:p>
            <a:p>
              <a:pPr algn="just">
                <a:lnSpc>
                  <a:spcPts val="3799"/>
                </a:lnSpc>
              </a:pPr>
            </a:p>
            <a:p>
              <a:pPr algn="just" marL="539748" indent="-269874" lvl="1">
                <a:lnSpc>
                  <a:spcPts val="3799"/>
                </a:lnSpc>
                <a:buAutoNum type="arabicPeriod" startAt="1"/>
              </a:pPr>
              <a:r>
                <a:rPr lang="en-US" b="true" sz="2499" spc="-149">
                  <a:solidFill>
                    <a:srgbClr val="000000"/>
                  </a:solidFill>
                  <a:latin typeface="Times New Roman MT Condensed Bold"/>
                  <a:ea typeface="Times New Roman MT Condensed Bold"/>
                  <a:cs typeface="Times New Roman MT Condensed Bold"/>
                  <a:sym typeface="Times New Roman MT Condensed Bold"/>
                </a:rPr>
                <a:t>Pantau Data Kosong Secara Berkala </a:t>
              </a:r>
            </a:p>
            <a:p>
              <a:pPr algn="just">
                <a:lnSpc>
                  <a:spcPts val="2736"/>
                </a:lnSpc>
              </a:pPr>
              <a:r>
                <a:rPr lang="en-US" sz="1800" spc="-107">
                  <a:solidFill>
                    <a:srgbClr val="000000"/>
                  </a:solidFill>
                  <a:latin typeface="Times New Roman MT Condensed"/>
                  <a:ea typeface="Times New Roman MT Condensed"/>
                  <a:cs typeface="Times New Roman MT Condensed"/>
                  <a:sym typeface="Times New Roman MT Condensed"/>
                </a:rPr>
                <a:t>             </a:t>
              </a:r>
              <a:r>
                <a:rPr lang="en-US" sz="1800" spc="-107">
                  <a:solidFill>
                    <a:srgbClr val="000000"/>
                  </a:solidFill>
                  <a:latin typeface="Times New Roman MT Condensed"/>
                  <a:ea typeface="Times New Roman MT Condensed"/>
                  <a:cs typeface="Times New Roman MT Condensed"/>
                  <a:sym typeface="Times New Roman MT Condensed"/>
                </a:rPr>
                <a:t>Perusahaan bisa rutin mengecek: </a:t>
              </a:r>
            </a:p>
            <a:p>
              <a:pPr algn="just" marL="388620" indent="-194310" lvl="1">
                <a:lnSpc>
                  <a:spcPts val="2736"/>
                </a:lnSpc>
                <a:buFont typeface="Arial"/>
                <a:buChar char="•"/>
              </a:pPr>
              <a:r>
                <a:rPr lang="en-US" sz="1800" spc="-107">
                  <a:solidFill>
                    <a:srgbClr val="000000"/>
                  </a:solidFill>
                  <a:latin typeface="Times New Roman MT Condensed"/>
                  <a:ea typeface="Times New Roman MT Condensed"/>
                  <a:cs typeface="Times New Roman MT Condensed"/>
                  <a:sym typeface="Times New Roman MT Condensed"/>
                </a:rPr>
                <a:t>Berapa persen data yang kosong setiap minggu/bulan </a:t>
              </a:r>
            </a:p>
            <a:p>
              <a:pPr algn="just" marL="388620" indent="-194310" lvl="1">
                <a:lnSpc>
                  <a:spcPts val="2736"/>
                </a:lnSpc>
                <a:buFont typeface="Arial"/>
                <a:buChar char="•"/>
              </a:pPr>
              <a:r>
                <a:rPr lang="en-US" sz="1800" spc="-107">
                  <a:solidFill>
                    <a:srgbClr val="000000"/>
                  </a:solidFill>
                  <a:latin typeface="Times New Roman MT Condensed"/>
                  <a:ea typeface="Times New Roman MT Condensed"/>
                  <a:cs typeface="Times New Roman MT Condensed"/>
                  <a:sym typeface="Times New Roman MT Condensed"/>
                </a:rPr>
                <a:t>Apakah jumlahnya meningkat atau tidak </a:t>
              </a:r>
            </a:p>
            <a:p>
              <a:pPr algn="just">
                <a:lnSpc>
                  <a:spcPts val="2736"/>
                </a:lnSpc>
              </a:pPr>
              <a:r>
                <a:rPr lang="en-US" sz="1800" spc="-107">
                  <a:solidFill>
                    <a:srgbClr val="000000"/>
                  </a:solidFill>
                  <a:latin typeface="Times New Roman MT Condensed"/>
                  <a:ea typeface="Times New Roman MT Condensed"/>
                  <a:cs typeface="Times New Roman MT Condensed"/>
                  <a:sym typeface="Times New Roman MT Condensed"/>
                </a:rPr>
                <a:t>              Dengan begitu, kualitas data bisa tetap terjaga. </a:t>
              </a:r>
            </a:p>
            <a:p>
              <a:pPr algn="just">
                <a:lnSpc>
                  <a:spcPts val="3799"/>
                </a:lnSpc>
              </a:pPr>
            </a:p>
            <a:p>
              <a:pPr algn="just" marL="539748" indent="-269874" lvl="1">
                <a:lnSpc>
                  <a:spcPts val="3799"/>
                </a:lnSpc>
                <a:buAutoNum type="arabicPeriod" startAt="1"/>
              </a:pPr>
              <a:r>
                <a:rPr lang="en-US" b="true" sz="2499" spc="-149">
                  <a:solidFill>
                    <a:srgbClr val="000000"/>
                  </a:solidFill>
                  <a:latin typeface="Times New Roman MT Condensed Bold"/>
                  <a:ea typeface="Times New Roman MT Condensed Bold"/>
                  <a:cs typeface="Times New Roman MT Condensed Bold"/>
                  <a:sym typeface="Times New Roman MT Condensed Bold"/>
                </a:rPr>
                <a:t>Kembangkan Analisis ke Depan </a:t>
              </a:r>
            </a:p>
            <a:p>
              <a:pPr algn="just">
                <a:lnSpc>
                  <a:spcPts val="2736"/>
                </a:lnSpc>
              </a:pPr>
              <a:r>
                <a:rPr lang="en-US" sz="1800" spc="-107">
                  <a:solidFill>
                    <a:srgbClr val="000000"/>
                  </a:solidFill>
                  <a:latin typeface="Times New Roman MT Condensed"/>
                  <a:ea typeface="Times New Roman MT Condensed"/>
                  <a:cs typeface="Times New Roman MT Condensed"/>
                  <a:sym typeface="Times New Roman MT Condensed"/>
                </a:rPr>
                <a:t>              </a:t>
              </a:r>
              <a:r>
                <a:rPr lang="en-US" sz="1800" spc="-107">
                  <a:solidFill>
                    <a:srgbClr val="000000"/>
                  </a:solidFill>
                  <a:latin typeface="Times New Roman MT Condensed"/>
                  <a:ea typeface="Times New Roman MT Condensed"/>
                  <a:cs typeface="Times New Roman MT Condensed"/>
                  <a:sym typeface="Times New Roman MT Condensed"/>
                </a:rPr>
                <a:t>Karena jarak terbukti jadi faktor utama harga, perusahaan bisa: </a:t>
              </a:r>
            </a:p>
            <a:p>
              <a:pPr algn="just" marL="388620" indent="-194310" lvl="1">
                <a:lnSpc>
                  <a:spcPts val="2736"/>
                </a:lnSpc>
                <a:buFont typeface="Arial"/>
                <a:buChar char="•"/>
              </a:pPr>
              <a:r>
                <a:rPr lang="en-US" sz="1800" spc="-107">
                  <a:solidFill>
                    <a:srgbClr val="000000"/>
                  </a:solidFill>
                  <a:latin typeface="Times New Roman MT Condensed"/>
                  <a:ea typeface="Times New Roman MT Condensed"/>
                  <a:cs typeface="Times New Roman MT Condensed"/>
                  <a:sym typeface="Times New Roman MT Condensed"/>
                </a:rPr>
                <a:t>Mengembangkan strategi harga berdasarkan kategori jarak </a:t>
              </a:r>
            </a:p>
            <a:p>
              <a:pPr algn="just" marL="388620" indent="-194310" lvl="1">
                <a:lnSpc>
                  <a:spcPts val="2736"/>
                </a:lnSpc>
                <a:buFont typeface="Arial"/>
                <a:buChar char="•"/>
              </a:pPr>
              <a:r>
                <a:rPr lang="en-US" sz="1800" spc="-107">
                  <a:solidFill>
                    <a:srgbClr val="000000"/>
                  </a:solidFill>
                  <a:latin typeface="Times New Roman MT Condensed"/>
                  <a:ea typeface="Times New Roman MT Condensed"/>
                  <a:cs typeface="Times New Roman MT Condensed"/>
                  <a:sym typeface="Times New Roman MT Condensed"/>
                </a:rPr>
                <a:t>Memprediksi revenue berdasarkan pola perjalanan jarak jauh</a:t>
              </a:r>
            </a:p>
          </p:txBody>
        </p:sp>
      </p:grpSp>
      <p:sp>
        <p:nvSpPr>
          <p:cNvPr name="AutoShape 12" id="12"/>
          <p:cNvSpPr/>
          <p:nvPr/>
        </p:nvSpPr>
        <p:spPr>
          <a:xfrm>
            <a:off x="5139459" y="5848399"/>
            <a:ext cx="1714379"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TextBox 2" id="2"/>
          <p:cNvSpPr txBox="true"/>
          <p:nvPr/>
        </p:nvSpPr>
        <p:spPr>
          <a:xfrm rot="0">
            <a:off x="1028700" y="4057288"/>
            <a:ext cx="16230600" cy="3239223"/>
          </a:xfrm>
          <a:prstGeom prst="rect">
            <a:avLst/>
          </a:prstGeom>
        </p:spPr>
        <p:txBody>
          <a:bodyPr anchor="t" rtlCol="false" tIns="0" lIns="0" bIns="0" rIns="0">
            <a:spAutoFit/>
          </a:bodyPr>
          <a:lstStyle/>
          <a:p>
            <a:pPr algn="ctr">
              <a:lnSpc>
                <a:spcPts val="22609"/>
              </a:lnSpc>
            </a:pPr>
            <a:r>
              <a:rPr lang="en-US" b="true" sz="28262" spc="-2826">
                <a:solidFill>
                  <a:srgbClr val="1E1E1E"/>
                </a:solidFill>
                <a:latin typeface="Montserrat Ultra-Bold"/>
                <a:ea typeface="Montserrat Ultra-Bold"/>
                <a:cs typeface="Montserrat Ultra-Bold"/>
                <a:sym typeface="Montserrat Ultra-Bold"/>
              </a:rPr>
              <a:t>thank you</a:t>
            </a:r>
          </a:p>
        </p:txBody>
      </p:sp>
      <p:sp>
        <p:nvSpPr>
          <p:cNvPr name="TextBox 3" id="3"/>
          <p:cNvSpPr txBox="true"/>
          <p:nvPr/>
        </p:nvSpPr>
        <p:spPr>
          <a:xfrm rot="0">
            <a:off x="14889053" y="1066800"/>
            <a:ext cx="1768402" cy="202565"/>
          </a:xfrm>
          <a:prstGeom prst="rect">
            <a:avLst/>
          </a:prstGeom>
        </p:spPr>
        <p:txBody>
          <a:bodyPr anchor="t" rtlCol="false" tIns="0" lIns="0" bIns="0" rIns="0">
            <a:spAutoFit/>
          </a:bodyPr>
          <a:lstStyle/>
          <a:p>
            <a:pPr algn="r">
              <a:lnSpc>
                <a:spcPts val="1599"/>
              </a:lnSpc>
            </a:pPr>
            <a:r>
              <a:rPr lang="en-US" sz="1599" spc="-95">
                <a:solidFill>
                  <a:srgbClr val="1E1E1E"/>
                </a:solidFill>
                <a:latin typeface="Montserrat"/>
                <a:ea typeface="Montserrat"/>
                <a:cs typeface="Montserrat"/>
                <a:sym typeface="Montserrat"/>
              </a:rPr>
              <a:t>19 February 2026</a:t>
            </a:r>
          </a:p>
        </p:txBody>
      </p:sp>
      <p:sp>
        <p:nvSpPr>
          <p:cNvPr name="TextBox 4" id="4"/>
          <p:cNvSpPr txBox="true"/>
          <p:nvPr/>
        </p:nvSpPr>
        <p:spPr>
          <a:xfrm rot="-263831">
            <a:off x="4968988" y="7426744"/>
            <a:ext cx="8606382" cy="854345"/>
          </a:xfrm>
          <a:prstGeom prst="rect">
            <a:avLst/>
          </a:prstGeom>
        </p:spPr>
        <p:txBody>
          <a:bodyPr anchor="t" rtlCol="false" tIns="0" lIns="0" bIns="0" rIns="0">
            <a:spAutoFit/>
          </a:bodyPr>
          <a:lstStyle/>
          <a:p>
            <a:pPr algn="ctr">
              <a:lnSpc>
                <a:spcPts val="7085"/>
              </a:lnSpc>
            </a:pPr>
            <a:r>
              <a:rPr lang="en-US" sz="5061" spc="-101">
                <a:solidFill>
                  <a:srgbClr val="FF3131"/>
                </a:solidFill>
                <a:latin typeface="Amsterdam Four"/>
                <a:ea typeface="Amsterdam Four"/>
                <a:cs typeface="Amsterdam Four"/>
                <a:sym typeface="Amsterdam Four"/>
              </a:rPr>
              <a:t>Toriq Avilsyah</a:t>
            </a:r>
          </a:p>
        </p:txBody>
      </p:sp>
      <p:sp>
        <p:nvSpPr>
          <p:cNvPr name="Freeform 5" id="5"/>
          <p:cNvSpPr/>
          <p:nvPr/>
        </p:nvSpPr>
        <p:spPr>
          <a:xfrm flipH="false" flipV="false" rot="0">
            <a:off x="232525" y="152745"/>
            <a:ext cx="2365069" cy="1576712"/>
          </a:xfrm>
          <a:custGeom>
            <a:avLst/>
            <a:gdLst/>
            <a:ahLst/>
            <a:cxnLst/>
            <a:rect r="r" b="b" t="t" l="l"/>
            <a:pathLst>
              <a:path h="1576712" w="2365069">
                <a:moveTo>
                  <a:pt x="0" y="0"/>
                </a:moveTo>
                <a:lnTo>
                  <a:pt x="2365069" y="0"/>
                </a:lnTo>
                <a:lnTo>
                  <a:pt x="2365069" y="1576713"/>
                </a:lnTo>
                <a:lnTo>
                  <a:pt x="0" y="1576713"/>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DAHByhDQR0k</dc:identifier>
  <dcterms:modified xsi:type="dcterms:W3CDTF">2011-08-01T06:04:30Z</dcterms:modified>
  <cp:revision>1</cp:revision>
  <dc:title>Toriq Avilsyah</dc:title>
</cp:coreProperties>
</file>